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A_646401AC.xml" ContentType="application/vnd.ms-powerpoint.comments+xml"/>
  <Override PartName="/ppt/notesSlides/notesSlide12.xml" ContentType="application/vnd.openxmlformats-officedocument.presentationml.notesSlide+xml"/>
  <Override PartName="/ppt/comments/modernComment_130_FC381D78.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89" r:id="rId5"/>
    <p:sldMasterId id="2147483669" r:id="rId6"/>
    <p:sldMasterId id="2147483703" r:id="rId7"/>
    <p:sldMasterId id="2147483698" r:id="rId8"/>
  </p:sldMasterIdLst>
  <p:notesMasterIdLst>
    <p:notesMasterId r:id="rId46"/>
  </p:notesMasterIdLst>
  <p:handoutMasterIdLst>
    <p:handoutMasterId r:id="rId47"/>
  </p:handoutMasterIdLst>
  <p:sldIdLst>
    <p:sldId id="256" r:id="rId9"/>
    <p:sldId id="257" r:id="rId10"/>
    <p:sldId id="277" r:id="rId11"/>
    <p:sldId id="268" r:id="rId12"/>
    <p:sldId id="272" r:id="rId13"/>
    <p:sldId id="279" r:id="rId14"/>
    <p:sldId id="278" r:id="rId15"/>
    <p:sldId id="280" r:id="rId16"/>
    <p:sldId id="282" r:id="rId17"/>
    <p:sldId id="269" r:id="rId18"/>
    <p:sldId id="289" r:id="rId19"/>
    <p:sldId id="292" r:id="rId20"/>
    <p:sldId id="305" r:id="rId21"/>
    <p:sldId id="266" r:id="rId22"/>
    <p:sldId id="293" r:id="rId23"/>
    <p:sldId id="303" r:id="rId24"/>
    <p:sldId id="264" r:id="rId25"/>
    <p:sldId id="304" r:id="rId26"/>
    <p:sldId id="291" r:id="rId27"/>
    <p:sldId id="281" r:id="rId28"/>
    <p:sldId id="283" r:id="rId29"/>
    <p:sldId id="284" r:id="rId30"/>
    <p:sldId id="285" r:id="rId31"/>
    <p:sldId id="286" r:id="rId32"/>
    <p:sldId id="270" r:id="rId33"/>
    <p:sldId id="265" r:id="rId34"/>
    <p:sldId id="287" r:id="rId35"/>
    <p:sldId id="288" r:id="rId36"/>
    <p:sldId id="294" r:id="rId37"/>
    <p:sldId id="295" r:id="rId38"/>
    <p:sldId id="296" r:id="rId39"/>
    <p:sldId id="297" r:id="rId40"/>
    <p:sldId id="298" r:id="rId41"/>
    <p:sldId id="299" r:id="rId42"/>
    <p:sldId id="300" r:id="rId43"/>
    <p:sldId id="301" r:id="rId44"/>
    <p:sldId id="30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Please delete" id="{2485D893-B7B0-495E-8004-2B226474B6CF}">
          <p14:sldIdLst/>
        </p14:section>
        <p14:section name="Intro slides" id="{E8EEB9BD-EEC2-4688-94C3-281E01D9F93A}">
          <p14:sldIdLst>
            <p14:sldId id="256"/>
            <p14:sldId id="257"/>
            <p14:sldId id="277"/>
          </p14:sldIdLst>
        </p14:section>
        <p14:section name="Dividers" id="{B4ADA2F8-92E7-4F0D-A8F4-C7448836093B}">
          <p14:sldIdLst>
            <p14:sldId id="268"/>
            <p14:sldId id="272"/>
            <p14:sldId id="279"/>
            <p14:sldId id="278"/>
            <p14:sldId id="280"/>
            <p14:sldId id="282"/>
            <p14:sldId id="269"/>
          </p14:sldIdLst>
        </p14:section>
        <p14:section name="Activity Slides" id="{AD722414-B0E0-40D2-9CFA-2337B9B7EB56}">
          <p14:sldIdLst>
            <p14:sldId id="289"/>
            <p14:sldId id="292"/>
            <p14:sldId id="305"/>
            <p14:sldId id="266"/>
            <p14:sldId id="293"/>
            <p14:sldId id="303"/>
            <p14:sldId id="264"/>
          </p14:sldIdLst>
        </p14:section>
        <p14:section name="Content slides" id="{EE8CBB22-235B-4380-A703-C8280447809B}">
          <p14:sldIdLst/>
        </p14:section>
        <p14:section name="Conclusion" id="{F37069FA-1ADD-49E5-9A1B-EC73EB74546C}">
          <p14:sldIdLst>
            <p14:sldId id="304"/>
            <p14:sldId id="291"/>
            <p14:sldId id="281"/>
            <p14:sldId id="283"/>
            <p14:sldId id="284"/>
            <p14:sldId id="285"/>
            <p14:sldId id="286"/>
            <p14:sldId id="270"/>
            <p14:sldId id="265"/>
            <p14:sldId id="287"/>
            <p14:sldId id="288"/>
            <p14:sldId id="294"/>
            <p14:sldId id="295"/>
            <p14:sldId id="296"/>
            <p14:sldId id="297"/>
            <p14:sldId id="298"/>
            <p14:sldId id="299"/>
            <p14:sldId id="300"/>
            <p14:sldId id="301"/>
            <p14:sldId id="30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702F13-19CE-4AF9-6EA4-4086FA38F3B2}" name="Godfrey, Chris" initials="GC" userId="S::cgodfrey@qa.com::796b8459-5294-4fda-9745-86677bca4e79" providerId="AD"/>
  <p188:author id="{D3E9E718-78FF-98A5-08D0-F8B670FB9A9F}" name="Evans, Josie" initials="EJ" userId="S::jevans3@qa.com::aaea60dd-eaa6-4fde-a2ae-3576d6b832cc" providerId="AD"/>
  <p188:author id="{C391CF20-16E4-E68D-3E02-CBF064229C1F}" name="Feist, Ella" initials="EF" userId="S::EFeist@qa.com::992bbaf2-811d-42cb-a4d6-e7fc45e325e8" providerId="AD"/>
  <p188:author id="{570BB132-8CA4-A6AF-124E-2D03E90F3F46}" name="McGregor, Amy" initials="MA" userId="S::amcgregor@qa.com::2009e60c-196f-48a4-aecd-e109184c11e4" providerId="AD"/>
  <p188:author id="{0774C27A-31DB-5171-DCE6-BFC2768EA02B}" name="Godfrey, Chris" initials="CG" userId="S::CGodfrey@qa.com::796b8459-5294-4fda-9745-86677bca4e79" providerId="AD"/>
  <p188:author id="{EB3D3399-5014-DBB8-5022-6DE2F78B20A3}" name="Smith, Andy" initials="AS" userId="S::ASmith7@qa.com::cc1a6aaa-0ed5-4ed1-bf09-18e6d00004d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CBAB"/>
    <a:srgbClr val="000000"/>
    <a:srgbClr val="F2F2F2"/>
    <a:srgbClr val="FCAC69"/>
    <a:srgbClr val="2FB7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C9C93F-B1EA-4CE5-BA0E-CA7B6E9F87EB}" v="1" dt="2026-09-09T08:38:47.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92" autoAdjust="0"/>
  </p:normalViewPr>
  <p:slideViewPr>
    <p:cSldViewPr snapToGrid="0">
      <p:cViewPr varScale="1">
        <p:scale>
          <a:sx n="87" d="100"/>
          <a:sy n="87" d="100"/>
        </p:scale>
        <p:origin x="14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notesMaster" Target="notesMasters/notesMaster1.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viewProps" Target="viewProps.xml"/></Relationships>
</file>

<file path=ppt/comments/modernComment_10A_646401AC.xml><?xml version="1.0" encoding="utf-8"?>
<p188:cmLst xmlns:a="http://schemas.openxmlformats.org/drawingml/2006/main" xmlns:r="http://schemas.openxmlformats.org/officeDocument/2006/relationships" xmlns:p188="http://schemas.microsoft.com/office/powerpoint/2018/8/main">
  <p188:cm id="{B1E3FC88-F42D-40EF-BDF6-D824A1887F29}" authorId="{14A6B2E2-577F-2DC9-8598-664F7D3C9407}" created="2026-08-21T13:54:04.569">
    <pc:sldMkLst xmlns:pc="http://schemas.microsoft.com/office/powerpoint/2013/main/command">
      <pc:docMk/>
      <pc:sldMk cId="1684275628" sldId="266"/>
    </pc:sldMkLst>
    <p188:txBody>
      <a:bodyPr/>
      <a:lstStyle/>
      <a:p>
        <a:r>
          <a:rPr lang="en-GB"/>
          <a:t>[@Godfrey, Chris] Please could a standard poll graphic be made.</a:t>
        </a:r>
      </a:p>
    </p188:txBody>
  </p188:cm>
</p188:cmLst>
</file>

<file path=ppt/comments/modernComment_130_FC381D78.xml><?xml version="1.0" encoding="utf-8"?>
<p188:cmLst xmlns:a="http://schemas.openxmlformats.org/drawingml/2006/main" xmlns:r="http://schemas.openxmlformats.org/officeDocument/2006/relationships" xmlns:p188="http://schemas.microsoft.com/office/powerpoint/2018/8/main">
  <p188:cm id="{18BF692D-824A-4207-9A71-206434AD4CA7}" authorId="{14A6B2E2-577F-2DC9-8598-664F7D3C9407}" created="2026-08-21T13:54:17.773">
    <pc:sldMkLst xmlns:pc="http://schemas.microsoft.com/office/powerpoint/2013/main/command">
      <pc:docMk/>
      <pc:sldMk cId="2515806032" sldId="276"/>
    </pc:sldMkLst>
    <p188:txBody>
      <a:bodyPr/>
      <a:lstStyle/>
      <a:p>
        <a:r>
          <a:rPr lang="en-GB"/>
          <a:t>[@Godfrey, Chris] Please could a standard conclusion graphic be made.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1D5CD4-CDD8-2740-DA01-B81921C531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5521BCC-826D-D2F6-8688-1CAC3ADC59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DD8FD-7CCB-4D09-8821-E7A352F1ED5E}" type="datetimeFigureOut">
              <a:rPr lang="en-GB" smtClean="0"/>
              <a:t>06/10/2026</a:t>
            </a:fld>
            <a:endParaRPr lang="en-GB"/>
          </a:p>
        </p:txBody>
      </p:sp>
      <p:sp>
        <p:nvSpPr>
          <p:cNvPr id="4" name="Footer Placeholder 3">
            <a:extLst>
              <a:ext uri="{FF2B5EF4-FFF2-40B4-BE49-F238E27FC236}">
                <a16:creationId xmlns:a16="http://schemas.microsoft.com/office/drawing/2014/main" id="{26A85649-2876-6608-0A97-6F3D435774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B8E85BDC-13AF-8AD1-0038-E104CFAFF4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E79B2E-558C-4336-8900-D4979A59DF5F}" type="slidenum">
              <a:rPr lang="en-GB" smtClean="0"/>
              <a:t>‹#›</a:t>
            </a:fld>
            <a:endParaRPr lang="en-GB"/>
          </a:p>
        </p:txBody>
      </p:sp>
    </p:spTree>
    <p:extLst>
      <p:ext uri="{BB962C8B-B14F-4D97-AF65-F5344CB8AC3E}">
        <p14:creationId xmlns:p14="http://schemas.microsoft.com/office/powerpoint/2010/main" val="25169179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34919-71A8-49EB-84DB-F94A45F50445}"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9251E5-5449-4352-AB33-FB148C3076DC}" type="slidenum">
              <a:rPr lang="en-US" smtClean="0"/>
              <a:t>‹#›</a:t>
            </a:fld>
            <a:endParaRPr lang="en-US"/>
          </a:p>
        </p:txBody>
      </p:sp>
    </p:spTree>
    <p:extLst>
      <p:ext uri="{BB962C8B-B14F-4D97-AF65-F5344CB8AC3E}">
        <p14:creationId xmlns:p14="http://schemas.microsoft.com/office/powerpoint/2010/main" val="427767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ithub.com/en/copilot/how-tos/copilot-cli/customize-copilot/add-custom-instructions?utm_source=chatgpt.com"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docs.github.com/en/copilot/concepts/agents/copilot-cli/about-copilot-cli?utm_source=chatgpt.com" TargetMode="External"/><Relationship Id="rId4" Type="http://schemas.openxmlformats.org/officeDocument/2006/relationships/hyperlink" Target="https://docs.github.com/en/copilot/how-tos/copilot-cli/use-copilot-cli/allowing-tools?utm_source=chatgpt.com"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github.com/en/enterprise-cloud%40latest/copilot/concepts/agents/copilot-cli/context-management?utm_source=chatgpt.com"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docs.github.com/en/copilot/tutorials/optimize-ai-usage?utm_source=chatgpt.com"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t"/>
            <a:r>
              <a:rPr lang="en-GB" sz="1200" b="0" i="0" kern="1200" dirty="0">
                <a:solidFill>
                  <a:schemeClr val="tx1"/>
                </a:solidFill>
                <a:effectLst/>
                <a:latin typeface="+mn-lt"/>
                <a:ea typeface="+mn-ea"/>
                <a:cs typeface="+mn-cs"/>
              </a:rPr>
              <a:t>Welcome learners as they join.</a:t>
            </a:r>
          </a:p>
          <a:p>
            <a:pPr lvl="0" fontAlgn="t"/>
            <a:r>
              <a:rPr lang="en-GB" sz="1200" b="0" i="0" kern="1200" dirty="0">
                <a:solidFill>
                  <a:schemeClr val="tx1"/>
                </a:solidFill>
                <a:effectLst/>
                <a:latin typeface="+mn-lt"/>
                <a:ea typeface="+mn-ea"/>
                <a:cs typeface="+mn-cs"/>
              </a:rPr>
              <a:t>Explain that the course is about reducing avoidable AI consumption, not avoiding AI.</a:t>
            </a:r>
          </a:p>
          <a:p>
            <a:pPr lvl="0" fontAlgn="t"/>
            <a:r>
              <a:rPr lang="en-GB" sz="1200" b="0" i="0" kern="1200" dirty="0">
                <a:solidFill>
                  <a:schemeClr val="tx1"/>
                </a:solidFill>
                <a:effectLst/>
                <a:latin typeface="+mn-lt"/>
                <a:ea typeface="+mn-ea"/>
                <a:cs typeface="+mn-cs"/>
              </a:rPr>
              <a:t>Emphasize that the goal is to preserve useful output and developer productivity.</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1</a:t>
            </a:fld>
            <a:endParaRPr lang="en-US"/>
          </a:p>
        </p:txBody>
      </p:sp>
    </p:spTree>
    <p:extLst>
      <p:ext uri="{BB962C8B-B14F-4D97-AF65-F5344CB8AC3E}">
        <p14:creationId xmlns:p14="http://schemas.microsoft.com/office/powerpoint/2010/main" val="1990924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Explain that the live session combines demonstrations, polls, comparisons, and scenario decisions. The two independent labs then ask learners to compare their own context and files, rewrite a wasteful prompt, and decide whether an interaction is worth the spend</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2</a:t>
            </a:fld>
            <a:endParaRPr lang="en-US"/>
          </a:p>
        </p:txBody>
      </p:sp>
    </p:spTree>
    <p:extLst>
      <p:ext uri="{BB962C8B-B14F-4D97-AF65-F5344CB8AC3E}">
        <p14:creationId xmlns:p14="http://schemas.microsoft.com/office/powerpoint/2010/main" val="123318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t"/>
            <a:r>
              <a:rPr lang="en-GB" sz="1200" b="0" i="0" kern="1200" dirty="0">
                <a:solidFill>
                  <a:schemeClr val="tx1"/>
                </a:solidFill>
                <a:effectLst/>
                <a:latin typeface="+mn-lt"/>
                <a:ea typeface="+mn-ea"/>
                <a:cs typeface="+mn-cs"/>
              </a:rPr>
              <a:t>Explain that learners will first develop visibility, then make optimization decisions.</a:t>
            </a:r>
          </a:p>
          <a:p>
            <a:pPr lvl="0" fontAlgn="t"/>
            <a:r>
              <a:rPr lang="en-GB" sz="1200" b="0" i="0" kern="1200" dirty="0">
                <a:solidFill>
                  <a:schemeClr val="tx1"/>
                </a:solidFill>
                <a:effectLst/>
                <a:latin typeface="+mn-lt"/>
                <a:ea typeface="+mn-ea"/>
                <a:cs typeface="+mn-cs"/>
              </a:rPr>
              <a:t>Clarify that “optimize” does not always mean “use the shortest prompt.”</a:t>
            </a:r>
          </a:p>
          <a:p>
            <a:pPr lvl="0" fontAlgn="t"/>
            <a:r>
              <a:rPr lang="en-GB" sz="1200" b="0" i="0" kern="1200" dirty="0">
                <a:solidFill>
                  <a:schemeClr val="tx1"/>
                </a:solidFill>
                <a:effectLst/>
                <a:latin typeface="+mn-lt"/>
                <a:ea typeface="+mn-ea"/>
                <a:cs typeface="+mn-cs"/>
              </a:rPr>
              <a:t>Optimization means including the information needed for a useful answer and removing material that does not contribute to it.</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3</a:t>
            </a:fld>
            <a:endParaRPr lang="en-US"/>
          </a:p>
        </p:txBody>
      </p:sp>
    </p:spTree>
    <p:extLst>
      <p:ext uri="{BB962C8B-B14F-4D97-AF65-F5344CB8AC3E}">
        <p14:creationId xmlns:p14="http://schemas.microsoft.com/office/powerpoint/2010/main" val="3191816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typed prompt is only one part of input. Hidden context can be much larger: instructions, tool definitions, conversation history, and attached files. Published model prices generally make output more expensive per token than input. Copilot’s exact per-model billing table is not public, so use the product meters and billing page for actual consumption.</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5</a:t>
            </a:fld>
            <a:endParaRPr lang="en-US"/>
          </a:p>
        </p:txBody>
      </p:sp>
    </p:spTree>
    <p:extLst>
      <p:ext uri="{BB962C8B-B14F-4D97-AF65-F5344CB8AC3E}">
        <p14:creationId xmlns:p14="http://schemas.microsoft.com/office/powerpoint/2010/main" val="1201452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D78E-23CC-E15B-D43D-10ABD0D45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5D49C-8AC8-74CA-A6AB-FA65959A1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A54BB-3115-FE56-DC01-57A33D1F609D}"/>
              </a:ext>
            </a:extLst>
          </p:cNvPr>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Present these as decision points, not rigid rules. Tell learners that the course will demonstrate representative examples rather than exhaustively cover every possible optimization.</a:t>
            </a:r>
          </a:p>
          <a:p>
            <a:pPr fontAlgn="t"/>
            <a:r>
              <a:rPr lang="en-GB" sz="1200" b="0" i="0" kern="1200" dirty="0">
                <a:solidFill>
                  <a:schemeClr val="tx1"/>
                </a:solidFill>
                <a:effectLst/>
                <a:latin typeface="+mn-lt"/>
                <a:ea typeface="+mn-ea"/>
                <a:cs typeface="+mn-cs"/>
              </a:rPr>
              <a:t>This keeps the session aligned with the Micro vILT requirement to </a:t>
            </a:r>
            <a:r>
              <a:rPr lang="en-GB" sz="1200" b="0" i="0" kern="1200" dirty="0" err="1">
                <a:solidFill>
                  <a:schemeClr val="tx1"/>
                </a:solidFill>
                <a:effectLst/>
                <a:latin typeface="+mn-lt"/>
                <a:ea typeface="+mn-ea"/>
                <a:cs typeface="+mn-cs"/>
              </a:rPr>
              <a:t>favor</a:t>
            </a:r>
            <a:r>
              <a:rPr lang="en-GB" sz="1200" b="0" i="0" kern="1200" dirty="0">
                <a:solidFill>
                  <a:schemeClr val="tx1"/>
                </a:solidFill>
                <a:effectLst/>
                <a:latin typeface="+mn-lt"/>
                <a:ea typeface="+mn-ea"/>
                <a:cs typeface="+mn-cs"/>
              </a:rPr>
              <a:t> depth over breadth and use no more than two core concepts</a:t>
            </a:r>
          </a:p>
          <a:p>
            <a:endParaRPr lang="en-GB" dirty="0"/>
          </a:p>
          <a:p>
            <a:endParaRPr lang="en-GB" dirty="0"/>
          </a:p>
        </p:txBody>
      </p:sp>
      <p:sp>
        <p:nvSpPr>
          <p:cNvPr id="4" name="Slide Number Placeholder 3">
            <a:extLst>
              <a:ext uri="{FF2B5EF4-FFF2-40B4-BE49-F238E27FC236}">
                <a16:creationId xmlns:a16="http://schemas.microsoft.com/office/drawing/2014/main" id="{6159BB66-79B2-0234-E464-A3E538FC7308}"/>
              </a:ext>
            </a:extLst>
          </p:cNvPr>
          <p:cNvSpPr>
            <a:spLocks noGrp="1"/>
          </p:cNvSpPr>
          <p:nvPr>
            <p:ph type="sldNum" sz="quarter" idx="5"/>
          </p:nvPr>
        </p:nvSpPr>
        <p:spPr/>
        <p:txBody>
          <a:bodyPr/>
          <a:lstStyle/>
          <a:p>
            <a:fld id="{5F9251E5-5449-4352-AB33-FB148C3076DC}" type="slidenum">
              <a:rPr lang="en-US" smtClean="0"/>
              <a:t>6</a:t>
            </a:fld>
            <a:endParaRPr lang="en-US"/>
          </a:p>
        </p:txBody>
      </p:sp>
    </p:spTree>
    <p:extLst>
      <p:ext uri="{BB962C8B-B14F-4D97-AF65-F5344CB8AC3E}">
        <p14:creationId xmlns:p14="http://schemas.microsoft.com/office/powerpoint/2010/main" val="468864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GitHub Copilot normally helps us focus on the result: an explanation, some code, a test, or a change to a repository. That can make the amount of context behind the result difficult to see.</a:t>
            </a:r>
          </a:p>
          <a:p>
            <a:pPr fontAlgn="t"/>
            <a:r>
              <a:rPr lang="en-GB" sz="1200" b="0" i="0" kern="1200" dirty="0">
                <a:solidFill>
                  <a:schemeClr val="tx1"/>
                </a:solidFill>
                <a:effectLst/>
                <a:latin typeface="+mn-lt"/>
                <a:ea typeface="+mn-ea"/>
                <a:cs typeface="+mn-cs"/>
              </a:rPr>
              <a:t>In this course, we use Copilot CLI because it gives us visible session meters. /context helps us inspect what is currently in the window, including instructions, tools, MCP, and conversation history. /usage shows the tokens consumed by the session, including cache figures when the selected model reports them</a:t>
            </a:r>
          </a:p>
          <a:p>
            <a:endParaRPr lang="en-GB" dirty="0"/>
          </a:p>
          <a:p>
            <a:pPr fontAlgn="t"/>
            <a:r>
              <a:rPr lang="en-GB" sz="1200" b="0" i="0" kern="1200" dirty="0">
                <a:solidFill>
                  <a:schemeClr val="tx1"/>
                </a:solidFill>
                <a:effectLst/>
                <a:latin typeface="+mn-lt"/>
                <a:ea typeface="+mn-ea"/>
                <a:cs typeface="+mn-cs"/>
              </a:rPr>
              <a:t>Emphasize:</a:t>
            </a:r>
          </a:p>
          <a:p>
            <a:pPr lvl="0" fontAlgn="t"/>
            <a:r>
              <a:rPr lang="en-GB" sz="1200" b="0" i="0" kern="1200" dirty="0">
                <a:solidFill>
                  <a:schemeClr val="tx1"/>
                </a:solidFill>
                <a:effectLst/>
                <a:latin typeface="+mn-lt"/>
                <a:ea typeface="+mn-ea"/>
                <a:cs typeface="+mn-cs"/>
              </a:rPr>
              <a:t>The CLI is being used to expose evidence.</a:t>
            </a:r>
          </a:p>
          <a:p>
            <a:pPr lvl="0" fontAlgn="t"/>
            <a:r>
              <a:rPr lang="en-GB" sz="1200" b="0" i="0" kern="1200" dirty="0">
                <a:solidFill>
                  <a:schemeClr val="tx1"/>
                </a:solidFill>
                <a:effectLst/>
                <a:latin typeface="+mn-lt"/>
                <a:ea typeface="+mn-ea"/>
                <a:cs typeface="+mn-cs"/>
              </a:rPr>
              <a:t>Learners are not expected to memorize a large collection of commands.</a:t>
            </a:r>
          </a:p>
          <a:p>
            <a:pPr lvl="0" fontAlgn="t"/>
            <a:r>
              <a:rPr lang="en-GB" sz="1200" b="0" i="0" kern="1200" dirty="0">
                <a:solidFill>
                  <a:schemeClr val="tx1"/>
                </a:solidFill>
                <a:effectLst/>
                <a:latin typeface="+mn-lt"/>
                <a:ea typeface="+mn-ea"/>
                <a:cs typeface="+mn-cs"/>
              </a:rPr>
              <a:t>The two commands that matter most in this session are /context and /usage.</a:t>
            </a:r>
          </a:p>
          <a:p>
            <a:pPr lvl="0" fontAlgn="t"/>
            <a:r>
              <a:rPr lang="en-GB" sz="1200" b="0" i="0" kern="1200" dirty="0">
                <a:solidFill>
                  <a:schemeClr val="tx1"/>
                </a:solidFill>
                <a:effectLst/>
                <a:latin typeface="+mn-lt"/>
                <a:ea typeface="+mn-ea"/>
                <a:cs typeface="+mn-cs"/>
              </a:rPr>
              <a:t>The local estimator serves a different purpose: it lets learners compare files before sending them and potentially consuming a credit</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7</a:t>
            </a:fld>
            <a:endParaRPr lang="en-US"/>
          </a:p>
        </p:txBody>
      </p:sp>
    </p:spTree>
    <p:extLst>
      <p:ext uri="{BB962C8B-B14F-4D97-AF65-F5344CB8AC3E}">
        <p14:creationId xmlns:p14="http://schemas.microsoft.com/office/powerpoint/2010/main" val="3424913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185B-3956-C2D3-C961-4083CCFFB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1883F-D3B0-D1BE-7179-154C96461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D08CD-8202-9D8B-73A3-513EFBA4612F}"/>
              </a:ext>
            </a:extLst>
          </p:cNvPr>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Walk through the learning pattern:</a:t>
            </a:r>
          </a:p>
          <a:p>
            <a:pPr lvl="0" fontAlgn="t"/>
            <a:r>
              <a:rPr lang="en-GB" sz="1200" b="0" i="0" kern="1200" dirty="0">
                <a:solidFill>
                  <a:schemeClr val="tx1"/>
                </a:solidFill>
                <a:effectLst/>
                <a:latin typeface="+mn-lt"/>
                <a:ea typeface="+mn-ea"/>
                <a:cs typeface="+mn-cs"/>
              </a:rPr>
              <a:t>The trainer opens the prepared lab/app folder.</a:t>
            </a:r>
          </a:p>
          <a:p>
            <a:pPr lvl="0" fontAlgn="t"/>
            <a:r>
              <a:rPr lang="en-GB" sz="1200" b="0" i="0" kern="1200" dirty="0">
                <a:solidFill>
                  <a:schemeClr val="tx1"/>
                </a:solidFill>
                <a:effectLst/>
                <a:latin typeface="+mn-lt"/>
                <a:ea typeface="+mn-ea"/>
                <a:cs typeface="+mn-cs"/>
              </a:rPr>
              <a:t>The trainer inspects the starting context.</a:t>
            </a:r>
          </a:p>
          <a:p>
            <a:pPr lvl="0" fontAlgn="t"/>
            <a:r>
              <a:rPr lang="en-GB" sz="1200" b="0" i="0" kern="1200" dirty="0">
                <a:solidFill>
                  <a:schemeClr val="tx1"/>
                </a:solidFill>
                <a:effectLst/>
                <a:latin typeface="+mn-lt"/>
                <a:ea typeface="+mn-ea"/>
                <a:cs typeface="+mn-cs"/>
              </a:rPr>
              <a:t>The trainer completes a small development task.</a:t>
            </a:r>
          </a:p>
          <a:p>
            <a:pPr lvl="0" fontAlgn="t"/>
            <a:r>
              <a:rPr lang="en-GB" sz="1200" b="0" i="0" kern="1200" dirty="0">
                <a:solidFill>
                  <a:schemeClr val="tx1"/>
                </a:solidFill>
                <a:effectLst/>
                <a:latin typeface="+mn-lt"/>
                <a:ea typeface="+mn-ea"/>
                <a:cs typeface="+mn-cs"/>
              </a:rPr>
              <a:t>The trainer reviews usage.</a:t>
            </a:r>
          </a:p>
          <a:p>
            <a:pPr lvl="0" fontAlgn="t"/>
            <a:r>
              <a:rPr lang="en-GB" sz="1200" b="0" i="0" kern="1200" dirty="0">
                <a:solidFill>
                  <a:schemeClr val="tx1"/>
                </a:solidFill>
                <a:effectLst/>
                <a:latin typeface="+mn-lt"/>
                <a:ea typeface="+mn-ea"/>
                <a:cs typeface="+mn-cs"/>
              </a:rPr>
              <a:t>One variable is changed, such as output length, conversation history, instruction size, or operating mode.</a:t>
            </a:r>
          </a:p>
          <a:p>
            <a:pPr lvl="0" fontAlgn="t"/>
            <a:r>
              <a:rPr lang="en-GB" sz="1200" b="0" i="0" kern="1200" dirty="0">
                <a:solidFill>
                  <a:schemeClr val="tx1"/>
                </a:solidFill>
                <a:effectLst/>
                <a:latin typeface="+mn-lt"/>
                <a:ea typeface="+mn-ea"/>
                <a:cs typeface="+mn-cs"/>
              </a:rPr>
              <a:t>The result is compared.</a:t>
            </a:r>
          </a:p>
          <a:p>
            <a:pPr fontAlgn="t"/>
            <a:r>
              <a:rPr lang="en-GB" sz="1200" b="0" i="0" kern="1200" dirty="0">
                <a:solidFill>
                  <a:schemeClr val="tx1"/>
                </a:solidFill>
                <a:effectLst/>
                <a:latin typeface="+mn-lt"/>
                <a:ea typeface="+mn-ea"/>
                <a:cs typeface="+mn-cs"/>
              </a:rPr>
              <a:t>Explain that /help should be used where command names or </a:t>
            </a:r>
            <a:r>
              <a:rPr lang="en-GB" sz="1200" b="0" i="0" kern="1200" dirty="0" err="1">
                <a:solidFill>
                  <a:schemeClr val="tx1"/>
                </a:solidFill>
                <a:effectLst/>
                <a:latin typeface="+mn-lt"/>
                <a:ea typeface="+mn-ea"/>
                <a:cs typeface="+mn-cs"/>
              </a:rPr>
              <a:t>behavior</a:t>
            </a:r>
            <a:r>
              <a:rPr lang="en-GB" sz="1200" b="0" i="0" kern="1200" dirty="0">
                <a:solidFill>
                  <a:schemeClr val="tx1"/>
                </a:solidFill>
                <a:effectLst/>
                <a:latin typeface="+mn-lt"/>
                <a:ea typeface="+mn-ea"/>
                <a:cs typeface="+mn-cs"/>
              </a:rPr>
              <a:t> differ in the installed version. The course materials note that CLI slash-command names can change between versions.</a:t>
            </a:r>
          </a:p>
          <a:p>
            <a:endParaRPr lang="en-GB" dirty="0"/>
          </a:p>
        </p:txBody>
      </p:sp>
      <p:sp>
        <p:nvSpPr>
          <p:cNvPr id="4" name="Slide Number Placeholder 3">
            <a:extLst>
              <a:ext uri="{FF2B5EF4-FFF2-40B4-BE49-F238E27FC236}">
                <a16:creationId xmlns:a16="http://schemas.microsoft.com/office/drawing/2014/main" id="{BEF5A47A-93BC-9370-DD5E-541C7728A61E}"/>
              </a:ext>
            </a:extLst>
          </p:cNvPr>
          <p:cNvSpPr>
            <a:spLocks noGrp="1"/>
          </p:cNvSpPr>
          <p:nvPr>
            <p:ph type="sldNum" sz="quarter" idx="5"/>
          </p:nvPr>
        </p:nvSpPr>
        <p:spPr/>
        <p:txBody>
          <a:bodyPr/>
          <a:lstStyle/>
          <a:p>
            <a:fld id="{5F9251E5-5449-4352-AB33-FB148C3076DC}" type="slidenum">
              <a:rPr lang="en-US" smtClean="0"/>
              <a:t>8</a:t>
            </a:fld>
            <a:endParaRPr lang="en-US"/>
          </a:p>
        </p:txBody>
      </p:sp>
    </p:spTree>
    <p:extLst>
      <p:ext uri="{BB962C8B-B14F-4D97-AF65-F5344CB8AC3E}">
        <p14:creationId xmlns:p14="http://schemas.microsoft.com/office/powerpoint/2010/main" val="2374105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BB0F2-73F1-1A87-CA97-FDBA48975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02DF6-D5DA-7D50-15E5-1FD4AFA44D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C4976-C869-CDAB-2B73-F8D2D29A7D8D}"/>
              </a:ext>
            </a:extLst>
          </p:cNvPr>
          <p:cNvSpPr>
            <a:spLocks noGrp="1"/>
          </p:cNvSpPr>
          <p:nvPr>
            <p:ph type="body" idx="1"/>
          </p:nvPr>
        </p:nvSpPr>
        <p:spPr/>
        <p:txBody>
          <a:bodyPr/>
          <a:lstStyle/>
          <a:p>
            <a:r>
              <a:rPr lang="en-GB" dirty="0"/>
              <a:t>Do not type slash commands directly into PowerShell. </a:t>
            </a:r>
            <a:r>
              <a:rPr lang="en-GB" sz="1200" kern="1200" dirty="0">
                <a:solidFill>
                  <a:schemeClr val="tx1"/>
                </a:solidFill>
                <a:latin typeface="+mn-lt"/>
                <a:ea typeface="+mn-ea"/>
                <a:cs typeface="+mn-cs"/>
              </a:rPr>
              <a:t>/context</a:t>
            </a:r>
            <a:r>
              <a:rPr lang="en-GB" dirty="0"/>
              <a:t> is the live window reading. On this CLI, instruction tokens are included in System/Tools; </a:t>
            </a:r>
            <a:r>
              <a:rPr lang="en-GB" sz="1200" kern="1200" dirty="0">
                <a:solidFill>
                  <a:schemeClr val="tx1"/>
                </a:solidFill>
                <a:latin typeface="+mn-lt"/>
                <a:ea typeface="+mn-ea"/>
                <a:cs typeface="+mn-cs"/>
              </a:rPr>
              <a:t>/instructions</a:t>
            </a:r>
            <a:r>
              <a:rPr lang="en-GB" dirty="0"/>
              <a:t> shows which files supplied them. </a:t>
            </a:r>
            <a:r>
              <a:rPr lang="en-GB" sz="1200" kern="1200" dirty="0">
                <a:solidFill>
                  <a:schemeClr val="tx1"/>
                </a:solidFill>
                <a:latin typeface="+mn-lt"/>
                <a:ea typeface="+mn-ea"/>
                <a:cs typeface="+mn-cs"/>
              </a:rPr>
              <a:t>/usage</a:t>
            </a:r>
            <a:r>
              <a:rPr lang="en-GB" dirty="0"/>
              <a:t> accumulates during the session. The 30-credit limit is a soft pause and is the lowest value accepted by this CLI, not a promise that every session costs 30 credits.</a:t>
            </a:r>
          </a:p>
          <a:p>
            <a:r>
              <a:rPr lang="en-GB" dirty="0"/>
              <a:t>Do not explain every command now. Point out </a:t>
            </a:r>
            <a:r>
              <a:rPr lang="en-GB" sz="1200" kern="1200" dirty="0">
                <a:solidFill>
                  <a:schemeClr val="tx1"/>
                </a:solidFill>
                <a:latin typeface="+mn-lt"/>
                <a:ea typeface="+mn-ea"/>
                <a:cs typeface="+mn-cs"/>
              </a:rPr>
              <a:t>/context</a:t>
            </a:r>
            <a:r>
              <a:rPr lang="en-GB" dirty="0"/>
              <a:t>, </a:t>
            </a:r>
            <a:r>
              <a:rPr lang="en-GB" sz="1200" kern="1200" dirty="0">
                <a:solidFill>
                  <a:schemeClr val="tx1"/>
                </a:solidFill>
                <a:latin typeface="+mn-lt"/>
                <a:ea typeface="+mn-ea"/>
                <a:cs typeface="+mn-cs"/>
              </a:rPr>
              <a:t>/usage</a:t>
            </a:r>
            <a:r>
              <a:rPr lang="en-GB" dirty="0"/>
              <a:t>, and </a:t>
            </a:r>
            <a:r>
              <a:rPr lang="en-GB" sz="1200" kern="1200" dirty="0">
                <a:solidFill>
                  <a:schemeClr val="tx1"/>
                </a:solidFill>
                <a:latin typeface="+mn-lt"/>
                <a:ea typeface="+mn-ea"/>
                <a:cs typeface="+mn-cs"/>
              </a:rPr>
              <a:t>/instructions</a:t>
            </a:r>
            <a:r>
              <a:rPr lang="en-GB" dirty="0"/>
              <a:t>; the others appear when needed. Introduce the first live demonstration.</a:t>
            </a:r>
          </a:p>
          <a:p>
            <a:endParaRPr lang="en-GB" dirty="0"/>
          </a:p>
        </p:txBody>
      </p:sp>
      <p:sp>
        <p:nvSpPr>
          <p:cNvPr id="4" name="Slide Number Placeholder 3">
            <a:extLst>
              <a:ext uri="{FF2B5EF4-FFF2-40B4-BE49-F238E27FC236}">
                <a16:creationId xmlns:a16="http://schemas.microsoft.com/office/drawing/2014/main" id="{62A056D4-D08A-BCEE-1C9A-339C27EE9826}"/>
              </a:ext>
            </a:extLst>
          </p:cNvPr>
          <p:cNvSpPr>
            <a:spLocks noGrp="1"/>
          </p:cNvSpPr>
          <p:nvPr>
            <p:ph type="sldNum" sz="quarter" idx="5"/>
          </p:nvPr>
        </p:nvSpPr>
        <p:spPr/>
        <p:txBody>
          <a:bodyPr/>
          <a:lstStyle/>
          <a:p>
            <a:fld id="{5F9251E5-5449-4352-AB33-FB148C3076DC}" type="slidenum">
              <a:rPr lang="en-US" smtClean="0"/>
              <a:t>9</a:t>
            </a:fld>
            <a:endParaRPr lang="en-US"/>
          </a:p>
        </p:txBody>
      </p:sp>
    </p:spTree>
    <p:extLst>
      <p:ext uri="{BB962C8B-B14F-4D97-AF65-F5344CB8AC3E}">
        <p14:creationId xmlns:p14="http://schemas.microsoft.com/office/powerpoint/2010/main" val="3719110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97F21-9765-EB8C-985D-FD517E65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5D6F4-33B9-C486-AF58-D70254EF0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8C08C-A631-D1E8-0947-0A59CAE5859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01BACD5-8062-4A18-B275-0DAACFAEDBD4}"/>
              </a:ext>
            </a:extLst>
          </p:cNvPr>
          <p:cNvSpPr>
            <a:spLocks noGrp="1"/>
          </p:cNvSpPr>
          <p:nvPr>
            <p:ph type="sldNum" sz="quarter" idx="5"/>
          </p:nvPr>
        </p:nvSpPr>
        <p:spPr/>
        <p:txBody>
          <a:bodyPr/>
          <a:lstStyle/>
          <a:p>
            <a:fld id="{5F9251E5-5449-4352-AB33-FB148C3076DC}" type="slidenum">
              <a:rPr lang="en-US" smtClean="0"/>
              <a:t>12</a:t>
            </a:fld>
            <a:endParaRPr lang="en-US"/>
          </a:p>
        </p:txBody>
      </p:sp>
    </p:spTree>
    <p:extLst>
      <p:ext uri="{BB962C8B-B14F-4D97-AF65-F5344CB8AC3E}">
        <p14:creationId xmlns:p14="http://schemas.microsoft.com/office/powerpoint/2010/main" val="188780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B906-CE74-619F-A175-A5D08FB86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754B1-995F-7AC7-EDB5-CF0DB1CF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900B6-E0B2-4C57-5A70-BC1540625F7E}"/>
              </a:ext>
            </a:extLst>
          </p:cNvPr>
          <p:cNvSpPr>
            <a:spLocks noGrp="1"/>
          </p:cNvSpPr>
          <p:nvPr>
            <p:ph type="body" idx="1"/>
          </p:nvPr>
        </p:nvSpPr>
        <p:spPr/>
        <p:txBody>
          <a:bodyPr/>
          <a:lstStyle/>
          <a:p>
            <a:r>
              <a:rPr lang="en-GB" dirty="0"/>
              <a:t>In </a:t>
            </a:r>
            <a:r>
              <a:rPr lang="en-GB" b="1" dirty="0"/>
              <a:t>GitHub Copilot CLI</a:t>
            </a:r>
            <a:r>
              <a:rPr lang="en-GB" dirty="0"/>
              <a:t>, a </a:t>
            </a:r>
            <a:r>
              <a:rPr lang="en-GB" b="1" dirty="0"/>
              <a:t>“landmine”</a:t>
            </a:r>
            <a:r>
              <a:rPr lang="en-GB" dirty="0"/>
              <a:t> is best understood as an </a:t>
            </a:r>
            <a:r>
              <a:rPr lang="en-GB" b="1" dirty="0"/>
              <a:t>instruction, configuration, file, or environment condition that causes the agent to behave unexpectedly when it encounters it</a:t>
            </a:r>
            <a:r>
              <a:rPr lang="en-GB" dirty="0"/>
              <a:t>.</a:t>
            </a:r>
          </a:p>
          <a:p>
            <a:r>
              <a:rPr lang="en-GB" dirty="0"/>
              <a:t>It’s not an official Copilot CLI feature or GitHub term—I’d use it as a teaching metaphor.</a:t>
            </a:r>
          </a:p>
          <a:p>
            <a:r>
              <a:rPr lang="en-GB" dirty="0"/>
              <a:t>For example, imagine Copilot CLI is working autonomously through a repository. A landmine might be:</a:t>
            </a:r>
          </a:p>
          <a:p>
            <a:r>
              <a:rPr lang="en-GB" dirty="0"/>
              <a:t>Copilot discovers an </a:t>
            </a:r>
            <a:r>
              <a:rPr lang="en-GB" sz="1200" kern="1200" dirty="0">
                <a:solidFill>
                  <a:schemeClr val="tx1"/>
                </a:solidFill>
                <a:latin typeface="+mn-lt"/>
                <a:ea typeface="+mn-ea"/>
                <a:cs typeface="+mn-cs"/>
              </a:rPr>
              <a:t>AGENTS.md</a:t>
            </a:r>
            <a:r>
              <a:rPr lang="en-GB" dirty="0"/>
              <a:t> or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github</a:t>
            </a:r>
            <a:r>
              <a:rPr lang="en-GB" sz="1200" kern="1200" dirty="0">
                <a:solidFill>
                  <a:schemeClr val="tx1"/>
                </a:solidFill>
                <a:latin typeface="+mn-lt"/>
                <a:ea typeface="+mn-ea"/>
                <a:cs typeface="+mn-cs"/>
              </a:rPr>
              <a:t>/copilot-instructions.md</a:t>
            </a:r>
            <a:r>
              <a:rPr lang="en-GB" dirty="0"/>
              <a:t> containing instructions that conflict with what you expected it to do.</a:t>
            </a:r>
          </a:p>
          <a:p>
            <a:r>
              <a:rPr lang="en-GB" dirty="0"/>
              <a:t>Because Copilot CLI automatically discovers applicable instruction files and uses them as context, that instruction can change how it approaches the task. </a:t>
            </a:r>
            <a:r>
              <a:rPr lang="en-GB" dirty="0">
                <a:hlinkClick r:id="rId3"/>
              </a:rPr>
              <a:t>GitHub Docs</a:t>
            </a:r>
            <a:endParaRPr lang="en-GB" dirty="0"/>
          </a:p>
          <a:p>
            <a:r>
              <a:rPr lang="en-GB" dirty="0"/>
              <a:t>Another, more dangerous, example would be a repository script that looks innocuous but performs an unexpected destructive action when Copilot executes it. This is one reason Copilot CLI has explicit controls around shell commands, file writes, URLs, and tools. </a:t>
            </a:r>
            <a:r>
              <a:rPr lang="en-GB" dirty="0">
                <a:hlinkClick r:id="rId4"/>
              </a:rPr>
              <a:t>GitHub Docs</a:t>
            </a:r>
            <a:endParaRPr lang="en-GB" dirty="0"/>
          </a:p>
          <a:p>
            <a:r>
              <a:rPr lang="en-GB" dirty="0"/>
              <a:t>So for a course, I'd define it as:</a:t>
            </a:r>
          </a:p>
          <a:p>
            <a:r>
              <a:rPr lang="en-GB" b="1" dirty="0"/>
              <a:t>Landmine:</a:t>
            </a:r>
            <a:r>
              <a:rPr lang="en-GB" dirty="0"/>
              <a:t> Something already present in the environment that an AI coding agent may discover, trust, or execute during its work, causing unintended behaviour or consequences.</a:t>
            </a:r>
          </a:p>
          <a:p>
            <a:r>
              <a:rPr lang="en-GB" dirty="0"/>
              <a:t>A useful distinction is </a:t>
            </a:r>
            <a:r>
              <a:rPr lang="en-GB" b="1" dirty="0"/>
              <a:t>guardrail vs landmine</a:t>
            </a:r>
            <a:r>
              <a:rPr lang="en-GB" dirty="0"/>
              <a:t>:</a:t>
            </a:r>
          </a:p>
          <a:p>
            <a:r>
              <a:rPr lang="en-GB" b="1" dirty="0"/>
              <a:t>Guardrail</a:t>
            </a:r>
            <a:r>
              <a:rPr lang="en-GB" dirty="0"/>
              <a:t> → deliberately constrains what the agent </a:t>
            </a:r>
            <a:r>
              <a:rPr lang="en-GB" i="1" dirty="0"/>
              <a:t>can</a:t>
            </a:r>
            <a:r>
              <a:rPr lang="en-GB" dirty="0"/>
              <a:t> do.</a:t>
            </a:r>
            <a:br>
              <a:rPr lang="en-GB" dirty="0"/>
            </a:br>
            <a:r>
              <a:rPr lang="en-GB" b="1" dirty="0"/>
              <a:t>Landmine</a:t>
            </a:r>
            <a:r>
              <a:rPr lang="en-GB" dirty="0"/>
              <a:t> → something the agent </a:t>
            </a:r>
            <a:r>
              <a:rPr lang="en-GB" i="1" dirty="0"/>
              <a:t>encounters</a:t>
            </a:r>
            <a:r>
              <a:rPr lang="en-GB" dirty="0"/>
              <a:t> that can make it do something you didn't intend.</a:t>
            </a:r>
          </a:p>
          <a:p>
            <a:r>
              <a:rPr lang="en-GB" dirty="0"/>
              <a:t>This becomes particularly important with Copilot CLI because it is genuinely agentic: it can inspect a repository, edit files, execute shell commands and work through multiple steps rather than merely suggesting code. </a:t>
            </a:r>
            <a:r>
              <a:rPr lang="en-GB" dirty="0">
                <a:hlinkClick r:id="rId5"/>
              </a:rPr>
              <a:t>GitHub Docs</a:t>
            </a:r>
            <a:endParaRPr lang="en-GB" dirty="0"/>
          </a:p>
          <a:p>
            <a:endParaRPr lang="en-GB" dirty="0"/>
          </a:p>
        </p:txBody>
      </p:sp>
      <p:sp>
        <p:nvSpPr>
          <p:cNvPr id="4" name="Slide Number Placeholder 3">
            <a:extLst>
              <a:ext uri="{FF2B5EF4-FFF2-40B4-BE49-F238E27FC236}">
                <a16:creationId xmlns:a16="http://schemas.microsoft.com/office/drawing/2014/main" id="{69DE4CED-5DB8-D976-8428-5B498E023C49}"/>
              </a:ext>
            </a:extLst>
          </p:cNvPr>
          <p:cNvSpPr>
            <a:spLocks noGrp="1"/>
          </p:cNvSpPr>
          <p:nvPr>
            <p:ph type="sldNum" sz="quarter" idx="5"/>
          </p:nvPr>
        </p:nvSpPr>
        <p:spPr/>
        <p:txBody>
          <a:bodyPr/>
          <a:lstStyle/>
          <a:p>
            <a:fld id="{5F9251E5-5449-4352-AB33-FB148C3076DC}" type="slidenum">
              <a:rPr lang="en-US" smtClean="0"/>
              <a:t>13</a:t>
            </a:fld>
            <a:endParaRPr lang="en-US"/>
          </a:p>
        </p:txBody>
      </p:sp>
    </p:spTree>
    <p:extLst>
      <p:ext uri="{BB962C8B-B14F-4D97-AF65-F5344CB8AC3E}">
        <p14:creationId xmlns:p14="http://schemas.microsoft.com/office/powerpoint/2010/main" val="3324446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t"/>
            <a:r>
              <a:rPr lang="en-GB" sz="1200" b="0" i="0" kern="1200" dirty="0">
                <a:solidFill>
                  <a:schemeClr val="tx1"/>
                </a:solidFill>
                <a:effectLst/>
                <a:latin typeface="+mn-lt"/>
                <a:ea typeface="+mn-ea"/>
                <a:cs typeface="+mn-cs"/>
              </a:rPr>
              <a:t>Comment on the distribution, but do not treat the most popular answer as universally correct.</a:t>
            </a:r>
          </a:p>
          <a:p>
            <a:pPr lvl="0" fontAlgn="t"/>
            <a:r>
              <a:rPr lang="en-GB" sz="1200" b="0" i="0" kern="1200" dirty="0">
                <a:solidFill>
                  <a:schemeClr val="tx1"/>
                </a:solidFill>
                <a:effectLst/>
                <a:latin typeface="+mn-lt"/>
                <a:ea typeface="+mn-ea"/>
                <a:cs typeface="+mn-cs"/>
              </a:rPr>
              <a:t>Ask one follow-up in chat:</a:t>
            </a:r>
          </a:p>
          <a:p>
            <a:pPr fontAlgn="t"/>
            <a:r>
              <a:rPr lang="en-GB" sz="1200" b="0" i="0" kern="1200" dirty="0">
                <a:solidFill>
                  <a:schemeClr val="tx1"/>
                </a:solidFill>
                <a:effectLst/>
                <a:latin typeface="+mn-lt"/>
                <a:ea typeface="+mn-ea"/>
                <a:cs typeface="+mn-cs"/>
              </a:rPr>
              <a:t>What evidence would help you confirm your answer?</a:t>
            </a:r>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14</a:t>
            </a:fld>
            <a:endParaRPr lang="en-US"/>
          </a:p>
        </p:txBody>
      </p:sp>
    </p:spTree>
    <p:extLst>
      <p:ext uri="{BB962C8B-B14F-4D97-AF65-F5344CB8AC3E}">
        <p14:creationId xmlns:p14="http://schemas.microsoft.com/office/powerpoint/2010/main" val="2341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9F28-9D53-6CD6-F045-D01166DD4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D00B1-522D-98A8-6210-B2A74CDEE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EDDA04-0F43-86D7-3E58-051D99992346}"/>
              </a:ext>
            </a:extLst>
          </p:cNvPr>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A learner has completed the exercise successfully if they can explain:</a:t>
            </a:r>
          </a:p>
          <a:p>
            <a:pPr lvl="0" fontAlgn="t"/>
            <a:r>
              <a:rPr lang="en-GB" sz="1200" b="0" i="0" kern="1200" dirty="0">
                <a:solidFill>
                  <a:schemeClr val="tx1"/>
                </a:solidFill>
                <a:effectLst/>
                <a:latin typeface="+mn-lt"/>
                <a:ea typeface="+mn-ea"/>
                <a:cs typeface="+mn-cs"/>
              </a:rPr>
              <a:t>What unnecessary context exists.</a:t>
            </a:r>
          </a:p>
          <a:p>
            <a:pPr lvl="0" fontAlgn="t"/>
            <a:r>
              <a:rPr lang="en-GB" sz="1200" b="0" i="0" kern="1200" dirty="0">
                <a:solidFill>
                  <a:schemeClr val="tx1"/>
                </a:solidFill>
                <a:effectLst/>
                <a:latin typeface="+mn-lt"/>
                <a:ea typeface="+mn-ea"/>
                <a:cs typeface="+mn-cs"/>
              </a:rPr>
              <a:t>What they would change.</a:t>
            </a:r>
          </a:p>
          <a:p>
            <a:pPr lvl="0" fontAlgn="t"/>
            <a:r>
              <a:rPr lang="en-GB" sz="1200" b="0" i="0" kern="1200" dirty="0">
                <a:solidFill>
                  <a:schemeClr val="tx1"/>
                </a:solidFill>
                <a:effectLst/>
                <a:latin typeface="+mn-lt"/>
                <a:ea typeface="+mn-ea"/>
                <a:cs typeface="+mn-cs"/>
              </a:rPr>
              <a:t>Why that change helps.</a:t>
            </a:r>
          </a:p>
          <a:p>
            <a:pPr lvl="0" fontAlgn="t"/>
            <a:r>
              <a:rPr lang="en-GB" sz="1200" b="0" i="0" kern="1200" dirty="0">
                <a:solidFill>
                  <a:schemeClr val="tx1"/>
                </a:solidFill>
                <a:effectLst/>
                <a:latin typeface="+mn-lt"/>
                <a:ea typeface="+mn-ea"/>
                <a:cs typeface="+mn-cs"/>
              </a:rPr>
              <a:t>How they would still preserve the quality of the result.</a:t>
            </a:r>
          </a:p>
          <a:p>
            <a:endParaRPr lang="en-GB" dirty="0"/>
          </a:p>
        </p:txBody>
      </p:sp>
      <p:sp>
        <p:nvSpPr>
          <p:cNvPr id="4" name="Slide Number Placeholder 3">
            <a:extLst>
              <a:ext uri="{FF2B5EF4-FFF2-40B4-BE49-F238E27FC236}">
                <a16:creationId xmlns:a16="http://schemas.microsoft.com/office/drawing/2014/main" id="{E858F633-FC3B-512A-BC6C-A33AAB6E78B3}"/>
              </a:ext>
            </a:extLst>
          </p:cNvPr>
          <p:cNvSpPr>
            <a:spLocks noGrp="1"/>
          </p:cNvSpPr>
          <p:nvPr>
            <p:ph type="sldNum" sz="quarter" idx="5"/>
          </p:nvPr>
        </p:nvSpPr>
        <p:spPr/>
        <p:txBody>
          <a:bodyPr/>
          <a:lstStyle/>
          <a:p>
            <a:fld id="{5F9251E5-5449-4352-AB33-FB148C3076DC}" type="slidenum">
              <a:rPr lang="en-US" smtClean="0"/>
              <a:t>16</a:t>
            </a:fld>
            <a:endParaRPr lang="en-US"/>
          </a:p>
        </p:txBody>
      </p:sp>
    </p:spTree>
    <p:extLst>
      <p:ext uri="{BB962C8B-B14F-4D97-AF65-F5344CB8AC3E}">
        <p14:creationId xmlns:p14="http://schemas.microsoft.com/office/powerpoint/2010/main" val="244220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B1510-69F8-CB02-AF78-47FEAC4E6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C35ED-F537-5270-BE3B-5719DA37B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33562-DB8B-5E62-75E0-372D678475B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9DB76DB-32D2-C933-1CDC-C62A486ABCAD}"/>
              </a:ext>
            </a:extLst>
          </p:cNvPr>
          <p:cNvSpPr>
            <a:spLocks noGrp="1"/>
          </p:cNvSpPr>
          <p:nvPr>
            <p:ph type="sldNum" sz="quarter" idx="5"/>
          </p:nvPr>
        </p:nvSpPr>
        <p:spPr/>
        <p:txBody>
          <a:bodyPr/>
          <a:lstStyle/>
          <a:p>
            <a:fld id="{5F9251E5-5449-4352-AB33-FB148C3076DC}" type="slidenum">
              <a:rPr lang="en-US" smtClean="0"/>
              <a:t>20</a:t>
            </a:fld>
            <a:endParaRPr lang="en-US"/>
          </a:p>
        </p:txBody>
      </p:sp>
    </p:spTree>
    <p:extLst>
      <p:ext uri="{BB962C8B-B14F-4D97-AF65-F5344CB8AC3E}">
        <p14:creationId xmlns:p14="http://schemas.microsoft.com/office/powerpoint/2010/main" val="3280762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EA0BE-D2E0-E42C-C689-2A77C3BC9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7A008-79D4-A8DE-1C0E-6D7E07FE4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7C0E5-5EF0-F8B7-5D04-6C35E1E2647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3EC340D-BAF9-D493-49AB-5DA24EA724CE}"/>
              </a:ext>
            </a:extLst>
          </p:cNvPr>
          <p:cNvSpPr>
            <a:spLocks noGrp="1"/>
          </p:cNvSpPr>
          <p:nvPr>
            <p:ph type="sldNum" sz="quarter" idx="5"/>
          </p:nvPr>
        </p:nvSpPr>
        <p:spPr/>
        <p:txBody>
          <a:bodyPr/>
          <a:lstStyle/>
          <a:p>
            <a:fld id="{5F9251E5-5449-4352-AB33-FB148C3076DC}" type="slidenum">
              <a:rPr lang="en-US" smtClean="0"/>
              <a:t>21</a:t>
            </a:fld>
            <a:endParaRPr lang="en-US"/>
          </a:p>
        </p:txBody>
      </p:sp>
    </p:spTree>
    <p:extLst>
      <p:ext uri="{BB962C8B-B14F-4D97-AF65-F5344CB8AC3E}">
        <p14:creationId xmlns:p14="http://schemas.microsoft.com/office/powerpoint/2010/main" val="701406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DE72B-E9E9-8914-D1D0-AA6D5A864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12D1A-9194-F7BE-B2FC-C411652EE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7052A-7034-6B9C-F002-9AE4D9CEF8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D177334-5B1F-C8BA-72A6-1ED71E1B3BC9}"/>
              </a:ext>
            </a:extLst>
          </p:cNvPr>
          <p:cNvSpPr>
            <a:spLocks noGrp="1"/>
          </p:cNvSpPr>
          <p:nvPr>
            <p:ph type="sldNum" sz="quarter" idx="5"/>
          </p:nvPr>
        </p:nvSpPr>
        <p:spPr/>
        <p:txBody>
          <a:bodyPr/>
          <a:lstStyle/>
          <a:p>
            <a:fld id="{5F9251E5-5449-4352-AB33-FB148C3076DC}" type="slidenum">
              <a:rPr lang="en-US" smtClean="0"/>
              <a:t>22</a:t>
            </a:fld>
            <a:endParaRPr lang="en-US"/>
          </a:p>
        </p:txBody>
      </p:sp>
    </p:spTree>
    <p:extLst>
      <p:ext uri="{BB962C8B-B14F-4D97-AF65-F5344CB8AC3E}">
        <p14:creationId xmlns:p14="http://schemas.microsoft.com/office/powerpoint/2010/main" val="2597263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EDFEF-253F-0D2D-483D-5967A80D0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5F7F3-BBAD-4059-7397-C5797A803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31FCB-7888-4181-1894-4426C4ED851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476BD96-4E12-220F-B7C2-1A19E027EDF6}"/>
              </a:ext>
            </a:extLst>
          </p:cNvPr>
          <p:cNvSpPr>
            <a:spLocks noGrp="1"/>
          </p:cNvSpPr>
          <p:nvPr>
            <p:ph type="sldNum" sz="quarter" idx="5"/>
          </p:nvPr>
        </p:nvSpPr>
        <p:spPr/>
        <p:txBody>
          <a:bodyPr/>
          <a:lstStyle/>
          <a:p>
            <a:fld id="{5F9251E5-5449-4352-AB33-FB148C3076DC}" type="slidenum">
              <a:rPr lang="en-US" smtClean="0"/>
              <a:t>23</a:t>
            </a:fld>
            <a:endParaRPr lang="en-US"/>
          </a:p>
        </p:txBody>
      </p:sp>
    </p:spTree>
    <p:extLst>
      <p:ext uri="{BB962C8B-B14F-4D97-AF65-F5344CB8AC3E}">
        <p14:creationId xmlns:p14="http://schemas.microsoft.com/office/powerpoint/2010/main" val="2861806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0EC72-42E6-64ED-66B2-9D568B8A0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5CFA3-ACE0-22D8-56BB-272B18B03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23899-A0B8-52BA-ED1B-52AF1AD27A7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7342CF-D298-8666-5CEB-357143C401AA}"/>
              </a:ext>
            </a:extLst>
          </p:cNvPr>
          <p:cNvSpPr>
            <a:spLocks noGrp="1"/>
          </p:cNvSpPr>
          <p:nvPr>
            <p:ph type="sldNum" sz="quarter" idx="5"/>
          </p:nvPr>
        </p:nvSpPr>
        <p:spPr/>
        <p:txBody>
          <a:bodyPr/>
          <a:lstStyle/>
          <a:p>
            <a:fld id="{5F9251E5-5449-4352-AB33-FB148C3076DC}" type="slidenum">
              <a:rPr lang="en-US" smtClean="0"/>
              <a:t>24</a:t>
            </a:fld>
            <a:endParaRPr lang="en-US"/>
          </a:p>
        </p:txBody>
      </p:sp>
    </p:spTree>
    <p:extLst>
      <p:ext uri="{BB962C8B-B14F-4D97-AF65-F5344CB8AC3E}">
        <p14:creationId xmlns:p14="http://schemas.microsoft.com/office/powerpoint/2010/main" val="4236670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Point at </a:t>
            </a:r>
            <a:r>
              <a:rPr lang="en-GB" b="1" dirty="0"/>
              <a:t>System/Tools</a:t>
            </a:r>
            <a:r>
              <a:rPr lang="en-GB" dirty="0"/>
              <a:t>. Compare it with the number from the four-line file. On the rehearsal machine the line moved from about 7.8k to about 9.8k, a gap of about 2,000 tokens. The display rounds to one decimal place, so it will not match the 2,410-token file estimate exactly. The first-line token total should rise by the same gap. This CLI does not print a Custom Instructions row. System/Tools also includes the built-in prompt and tool definitions, so the comparison is the change, not the absolute number. Then run </a:t>
            </a:r>
            <a:r>
              <a:rPr lang="en-GB" sz="1200" kern="1200" dirty="0">
                <a:solidFill>
                  <a:schemeClr val="tx1"/>
                </a:solidFill>
                <a:latin typeface="+mn-lt"/>
                <a:ea typeface="+mn-ea"/>
                <a:cs typeface="+mn-cs"/>
              </a:rPr>
              <a:t>/instructions</a:t>
            </a:r>
            <a:r>
              <a:rPr lang="en-GB" dirty="0"/>
              <a:t>. That screen lists the loaded files. An empty list means they were not discovered: </a:t>
            </a:r>
            <a:r>
              <a:rPr lang="en-GB" sz="1200" kern="1200" dirty="0">
                <a:solidFill>
                  <a:schemeClr val="tx1"/>
                </a:solidFill>
                <a:latin typeface="+mn-lt"/>
                <a:ea typeface="+mn-ea"/>
                <a:cs typeface="+mn-cs"/>
              </a:rPr>
              <a:t>lab/app</a:t>
            </a:r>
            <a:r>
              <a:rPr lang="en-GB" dirty="0"/>
              <a:t> must be a Git repository, and Copilot must be restarted from that folder.</a:t>
            </a:r>
          </a:p>
          <a:p>
            <a:endParaRPr lang="en-GB" dirty="0"/>
          </a:p>
          <a:p>
            <a:endParaRPr lang="en-GB" dirty="0"/>
          </a:p>
        </p:txBody>
      </p:sp>
      <p:sp>
        <p:nvSpPr>
          <p:cNvPr id="4" name="Slide Number Placeholder 3"/>
          <p:cNvSpPr>
            <a:spLocks noGrp="1"/>
          </p:cNvSpPr>
          <p:nvPr>
            <p:ph type="sldNum" sz="quarter" idx="5"/>
          </p:nvPr>
        </p:nvSpPr>
        <p:spPr/>
        <p:txBody>
          <a:bodyPr/>
          <a:lstStyle/>
          <a:p>
            <a:fld id="{5F9251E5-5449-4352-AB33-FB148C3076DC}" type="slidenum">
              <a:rPr lang="en-US" smtClean="0"/>
              <a:t>31</a:t>
            </a:fld>
            <a:endParaRPr lang="en-US"/>
          </a:p>
        </p:txBody>
      </p:sp>
    </p:spTree>
    <p:extLst>
      <p:ext uri="{BB962C8B-B14F-4D97-AF65-F5344CB8AC3E}">
        <p14:creationId xmlns:p14="http://schemas.microsoft.com/office/powerpoint/2010/main" val="291984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C372-78F4-463B-B3FD-A71905A05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15573-F3AC-6EC5-FA22-A73377390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F2C57-B63F-D733-E4F7-06198DCBD0F2}"/>
              </a:ext>
            </a:extLst>
          </p:cNvPr>
          <p:cNvSpPr>
            <a:spLocks noGrp="1"/>
          </p:cNvSpPr>
          <p:nvPr>
            <p:ph type="body" idx="1"/>
          </p:nvPr>
        </p:nvSpPr>
        <p:spPr/>
        <p:txBody>
          <a:bodyPr/>
          <a:lstStyle/>
          <a:p>
            <a:endParaRPr lang="en-GB" dirty="0"/>
          </a:p>
          <a:p>
            <a:endParaRPr lang="en-GB" dirty="0"/>
          </a:p>
        </p:txBody>
      </p:sp>
      <p:sp>
        <p:nvSpPr>
          <p:cNvPr id="4" name="Slide Number Placeholder 3">
            <a:extLst>
              <a:ext uri="{FF2B5EF4-FFF2-40B4-BE49-F238E27FC236}">
                <a16:creationId xmlns:a16="http://schemas.microsoft.com/office/drawing/2014/main" id="{20E2151D-3F83-C81C-38C6-4AFF3926CE8F}"/>
              </a:ext>
            </a:extLst>
          </p:cNvPr>
          <p:cNvSpPr>
            <a:spLocks noGrp="1"/>
          </p:cNvSpPr>
          <p:nvPr>
            <p:ph type="sldNum" sz="quarter" idx="5"/>
          </p:nvPr>
        </p:nvSpPr>
        <p:spPr/>
        <p:txBody>
          <a:bodyPr/>
          <a:lstStyle/>
          <a:p>
            <a:fld id="{5F9251E5-5449-4352-AB33-FB148C3076DC}" type="slidenum">
              <a:rPr lang="en-US" smtClean="0"/>
              <a:t>32</a:t>
            </a:fld>
            <a:endParaRPr lang="en-US"/>
          </a:p>
        </p:txBody>
      </p:sp>
    </p:spTree>
    <p:extLst>
      <p:ext uri="{BB962C8B-B14F-4D97-AF65-F5344CB8AC3E}">
        <p14:creationId xmlns:p14="http://schemas.microsoft.com/office/powerpoint/2010/main" val="3598746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BA815-94C0-E199-ACB1-237FBAB46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C119B-BBB0-D756-17AC-3274276BC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F9232-9BCB-F512-B48F-E4FE75DA7347}"/>
              </a:ext>
            </a:extLst>
          </p:cNvPr>
          <p:cNvSpPr>
            <a:spLocks noGrp="1"/>
          </p:cNvSpPr>
          <p:nvPr>
            <p:ph type="body" idx="1"/>
          </p:nvPr>
        </p:nvSpPr>
        <p:spPr/>
        <p:txBody>
          <a:bodyPr/>
          <a:lstStyle/>
          <a:p>
            <a:endParaRPr lang="en-GB" dirty="0"/>
          </a:p>
          <a:p>
            <a:endParaRPr lang="en-GB" dirty="0"/>
          </a:p>
        </p:txBody>
      </p:sp>
      <p:sp>
        <p:nvSpPr>
          <p:cNvPr id="4" name="Slide Number Placeholder 3">
            <a:extLst>
              <a:ext uri="{FF2B5EF4-FFF2-40B4-BE49-F238E27FC236}">
                <a16:creationId xmlns:a16="http://schemas.microsoft.com/office/drawing/2014/main" id="{692650AA-AA9D-1EFC-6B3A-E50F4B4D508E}"/>
              </a:ext>
            </a:extLst>
          </p:cNvPr>
          <p:cNvSpPr>
            <a:spLocks noGrp="1"/>
          </p:cNvSpPr>
          <p:nvPr>
            <p:ph type="sldNum" sz="quarter" idx="5"/>
          </p:nvPr>
        </p:nvSpPr>
        <p:spPr/>
        <p:txBody>
          <a:bodyPr/>
          <a:lstStyle/>
          <a:p>
            <a:fld id="{5F9251E5-5449-4352-AB33-FB148C3076DC}" type="slidenum">
              <a:rPr lang="en-US" smtClean="0"/>
              <a:t>33</a:t>
            </a:fld>
            <a:endParaRPr lang="en-US"/>
          </a:p>
        </p:txBody>
      </p:sp>
    </p:spTree>
    <p:extLst>
      <p:ext uri="{BB962C8B-B14F-4D97-AF65-F5344CB8AC3E}">
        <p14:creationId xmlns:p14="http://schemas.microsoft.com/office/powerpoint/2010/main" val="545482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288B5-6F17-AE76-6CA3-5C3451CD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05C5C-208B-672C-644F-A44BDF42D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A88A8-574F-A827-4681-A4F4DA72A25F}"/>
              </a:ext>
            </a:extLst>
          </p:cNvPr>
          <p:cNvSpPr>
            <a:spLocks noGrp="1"/>
          </p:cNvSpPr>
          <p:nvPr>
            <p:ph type="body" idx="1"/>
          </p:nvPr>
        </p:nvSpPr>
        <p:spPr/>
        <p:txBody>
          <a:bodyPr/>
          <a:lstStyle/>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New problem, new chat. Same problem but a long useful thread, compact it.</a:t>
            </a:r>
          </a:p>
          <a:p>
            <a:endParaRPr lang="en-GB" dirty="0"/>
          </a:p>
        </p:txBody>
      </p:sp>
      <p:sp>
        <p:nvSpPr>
          <p:cNvPr id="4" name="Slide Number Placeholder 3">
            <a:extLst>
              <a:ext uri="{FF2B5EF4-FFF2-40B4-BE49-F238E27FC236}">
                <a16:creationId xmlns:a16="http://schemas.microsoft.com/office/drawing/2014/main" id="{94D071C1-319D-313B-57AF-44CFD89EEBF3}"/>
              </a:ext>
            </a:extLst>
          </p:cNvPr>
          <p:cNvSpPr>
            <a:spLocks noGrp="1"/>
          </p:cNvSpPr>
          <p:nvPr>
            <p:ph type="sldNum" sz="quarter" idx="5"/>
          </p:nvPr>
        </p:nvSpPr>
        <p:spPr/>
        <p:txBody>
          <a:bodyPr/>
          <a:lstStyle/>
          <a:p>
            <a:fld id="{5F9251E5-5449-4352-AB33-FB148C3076DC}" type="slidenum">
              <a:rPr lang="en-US" smtClean="0"/>
              <a:t>34</a:t>
            </a:fld>
            <a:endParaRPr lang="en-US"/>
          </a:p>
        </p:txBody>
      </p:sp>
    </p:spTree>
    <p:extLst>
      <p:ext uri="{BB962C8B-B14F-4D97-AF65-F5344CB8AC3E}">
        <p14:creationId xmlns:p14="http://schemas.microsoft.com/office/powerpoint/2010/main" val="2003232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4F4B7-A360-A5A0-0B45-44F0973B9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6038F-EBE1-1664-1CA9-1E78DD6B5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C06B6-7282-5D2A-B23C-EEDE5B00CEF0}"/>
              </a:ext>
            </a:extLst>
          </p:cNvPr>
          <p:cNvSpPr>
            <a:spLocks noGrp="1"/>
          </p:cNvSpPr>
          <p:nvPr>
            <p:ph type="body" idx="1"/>
          </p:nvPr>
        </p:nvSpPr>
        <p:spPr/>
        <p:txBody>
          <a:bodyPr/>
          <a:lstStyle/>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New problem, new chat. Same problem but a long useful thread, compact it.</a:t>
            </a:r>
          </a:p>
          <a:p>
            <a:r>
              <a:rPr lang="en-GB" sz="1200" kern="1200" dirty="0">
                <a:solidFill>
                  <a:schemeClr val="tx1"/>
                </a:solidFill>
                <a:latin typeface="+mn-lt"/>
                <a:ea typeface="+mn-ea"/>
                <a:cs typeface="+mn-cs"/>
              </a:rPr>
              <a:t>/compact</a:t>
            </a:r>
            <a:r>
              <a:rPr lang="en-GB" dirty="0"/>
              <a:t> is useful in </a:t>
            </a:r>
            <a:r>
              <a:rPr lang="en-GB" b="1" dirty="0"/>
              <a:t>Copilot CLI because it lets you keep the useful understanding from a long working session without carrying all of the conversation history around in the context window</a:t>
            </a:r>
            <a:r>
              <a:rPr lang="en-GB" dirty="0"/>
              <a:t>.</a:t>
            </a:r>
          </a:p>
          <a:p>
            <a:r>
              <a:rPr lang="en-GB" dirty="0"/>
              <a:t>Every prompt, Copilot response and tool result consumes context. </a:t>
            </a:r>
            <a:r>
              <a:rPr lang="en-GB" sz="1200" kern="1200" dirty="0">
                <a:solidFill>
                  <a:schemeClr val="tx1"/>
                </a:solidFill>
                <a:latin typeface="+mn-lt"/>
                <a:ea typeface="+mn-ea"/>
                <a:cs typeface="+mn-cs"/>
              </a:rPr>
              <a:t>/compact</a:t>
            </a:r>
            <a:r>
              <a:rPr lang="en-GB" dirty="0"/>
              <a:t> takes that accumulated conversation and replaces it with a much smaller structured summary containing things such as the goal, work completed, important technical details, files involved and next steps.</a:t>
            </a:r>
          </a:p>
          <a:p>
            <a:endParaRPr lang="en-GB" dirty="0"/>
          </a:p>
          <a:p>
            <a:r>
              <a:rPr lang="en-GB" dirty="0"/>
              <a:t>The original conversation is replaced in the active context by that condensed representation, freeing most of those tokens while preserving continuity. GitHub specifically recommends manually compacting when you're </a:t>
            </a:r>
            <a:r>
              <a:rPr lang="en-GB" b="1" dirty="0"/>
              <a:t>starting a new phase of work but want to continue the same overall task</a:t>
            </a:r>
          </a:p>
          <a:p>
            <a:endParaRPr lang="en-GB" b="1" dirty="0"/>
          </a:p>
          <a:p>
            <a:r>
              <a:rPr lang="en-GB" dirty="0"/>
              <a:t>Copilot uses the compacted summary as its conversation history. You don't have to explicitly reference the compact again.</a:t>
            </a:r>
          </a:p>
          <a:p>
            <a:r>
              <a:rPr lang="en-GB" dirty="0"/>
              <a:t>There is one important limitation: </a:t>
            </a:r>
            <a:r>
              <a:rPr lang="en-GB" b="1" dirty="0"/>
              <a:t>compaction is lossy</a:t>
            </a:r>
            <a:r>
              <a:rPr lang="en-GB" dirty="0"/>
              <a:t>. Exact command outputs, wording and minor decisions may disappear. GitHub therefore creates a </a:t>
            </a:r>
            <a:r>
              <a:rPr lang="en-GB" b="1" dirty="0"/>
              <a:t>checkpoint</a:t>
            </a:r>
            <a:r>
              <a:rPr lang="en-GB" dirty="0"/>
              <a:t> whenever compaction happens. You can inspect them later with:</a:t>
            </a:r>
          </a:p>
          <a:p>
            <a:r>
              <a:rPr lang="en-GB" dirty="0"/>
              <a:t>/session checkpoints 2</a:t>
            </a:r>
          </a:p>
          <a:p>
            <a:endParaRPr lang="en-GB" dirty="0"/>
          </a:p>
          <a:p>
            <a:r>
              <a:rPr lang="en-GB" dirty="0"/>
              <a:t>That lets you see what was preserved in a previous compaction. </a:t>
            </a:r>
            <a:r>
              <a:rPr lang="en-GB" dirty="0">
                <a:hlinkClick r:id="rId3"/>
              </a:rPr>
              <a:t>GitHub Docs</a:t>
            </a:r>
            <a:endParaRPr lang="en-GB" dirty="0"/>
          </a:p>
          <a:p>
            <a:r>
              <a:rPr lang="en-GB" dirty="0"/>
              <a:t>For your </a:t>
            </a:r>
            <a:r>
              <a:rPr lang="en-GB" b="1" dirty="0"/>
              <a:t>token-optimisation course</a:t>
            </a:r>
            <a:r>
              <a:rPr lang="en-GB" dirty="0"/>
              <a:t>, I'd teach the workflow as:</a:t>
            </a:r>
          </a:p>
          <a:p>
            <a:r>
              <a:rPr lang="en-GB" sz="1200" b="1" kern="1200" dirty="0">
                <a:solidFill>
                  <a:schemeClr val="tx1"/>
                </a:solidFill>
                <a:latin typeface="+mn-lt"/>
                <a:ea typeface="+mn-ea"/>
                <a:cs typeface="+mn-cs"/>
              </a:rPr>
              <a:t>/context</a:t>
            </a:r>
            <a:r>
              <a:rPr lang="en-GB" b="1" dirty="0"/>
              <a:t> → inspect token pressure → </a:t>
            </a:r>
            <a:r>
              <a:rPr lang="en-GB" sz="1200" b="1" kern="1200" dirty="0">
                <a:solidFill>
                  <a:schemeClr val="tx1"/>
                </a:solidFill>
                <a:latin typeface="+mn-lt"/>
                <a:ea typeface="+mn-ea"/>
                <a:cs typeface="+mn-cs"/>
              </a:rPr>
              <a:t>/compact &lt;what matters&gt;</a:t>
            </a:r>
            <a:r>
              <a:rPr lang="en-GB" b="1" dirty="0"/>
              <a:t> → continue working</a:t>
            </a:r>
            <a:endParaRPr lang="en-GB" dirty="0"/>
          </a:p>
          <a:p>
            <a:r>
              <a:rPr lang="en-GB" dirty="0"/>
              <a:t>And contrast that with </a:t>
            </a:r>
            <a:r>
              <a:rPr lang="en-GB" sz="1200" kern="1200" dirty="0">
                <a:solidFill>
                  <a:schemeClr val="tx1"/>
                </a:solidFill>
                <a:latin typeface="+mn-lt"/>
                <a:ea typeface="+mn-ea"/>
                <a:cs typeface="+mn-cs"/>
              </a:rPr>
              <a:t>/new</a:t>
            </a:r>
            <a:r>
              <a:rPr lang="en-GB" dirty="0"/>
              <a:t>: use </a:t>
            </a:r>
            <a:r>
              <a:rPr lang="en-GB" sz="1200" b="1" kern="1200" dirty="0">
                <a:solidFill>
                  <a:schemeClr val="tx1"/>
                </a:solidFill>
                <a:latin typeface="+mn-lt"/>
                <a:ea typeface="+mn-ea"/>
                <a:cs typeface="+mn-cs"/>
              </a:rPr>
              <a:t>/compact</a:t>
            </a:r>
            <a:r>
              <a:rPr lang="en-GB" b="1" dirty="0"/>
              <a:t> when you're continuing the same problem; </a:t>
            </a:r>
            <a:r>
              <a:rPr lang="en-GB" sz="1200" b="1" kern="1200" dirty="0">
                <a:solidFill>
                  <a:schemeClr val="tx1"/>
                </a:solidFill>
                <a:latin typeface="+mn-lt"/>
                <a:ea typeface="+mn-ea"/>
                <a:cs typeface="+mn-cs"/>
              </a:rPr>
              <a:t>/new</a:t>
            </a:r>
            <a:r>
              <a:rPr lang="en-GB" b="1" dirty="0"/>
              <a:t> when you're changing to an unrelated problem.</a:t>
            </a:r>
            <a:r>
              <a:rPr lang="en-GB" dirty="0"/>
              <a:t> GitHub explicitly recommends this distinction as a way of keeping AI usage efficient. </a:t>
            </a:r>
            <a:r>
              <a:rPr lang="en-GB" dirty="0">
                <a:hlinkClick r:id="rId4"/>
              </a:rPr>
              <a:t>GitHub Docs</a:t>
            </a:r>
            <a:endParaRPr lang="en-GB" dirty="0"/>
          </a:p>
          <a:p>
            <a:r>
              <a:rPr lang="en-GB" dirty="0"/>
              <a:t>One subtle point worth teaching: Copilot CLI will also </a:t>
            </a:r>
            <a:r>
              <a:rPr lang="en-GB" b="1" dirty="0"/>
              <a:t>automatically compact</a:t>
            </a:r>
            <a:r>
              <a:rPr lang="en-GB" dirty="0"/>
              <a:t> as the context gets full (normally beginning around 80%), so manual </a:t>
            </a:r>
            <a:r>
              <a:rPr lang="en-GB" sz="1200" kern="1200" dirty="0">
                <a:solidFill>
                  <a:schemeClr val="tx1"/>
                </a:solidFill>
                <a:latin typeface="+mn-lt"/>
                <a:ea typeface="+mn-ea"/>
                <a:cs typeface="+mn-cs"/>
              </a:rPr>
              <a:t>/compact</a:t>
            </a:r>
            <a:r>
              <a:rPr lang="en-GB" dirty="0"/>
              <a:t> is really about taking control of </a:t>
            </a:r>
            <a:r>
              <a:rPr lang="en-GB" i="1" dirty="0"/>
              <a:t>when</a:t>
            </a:r>
            <a:r>
              <a:rPr lang="en-GB" dirty="0"/>
              <a:t> it happens and </a:t>
            </a:r>
            <a:r>
              <a:rPr lang="en-GB" i="1" dirty="0"/>
              <a:t>what the summary focuses on</a:t>
            </a:r>
            <a:r>
              <a:rPr lang="en-GB" dirty="0"/>
              <a:t>.</a:t>
            </a:r>
          </a:p>
          <a:p>
            <a:endParaRPr lang="en-GB" dirty="0"/>
          </a:p>
        </p:txBody>
      </p:sp>
      <p:sp>
        <p:nvSpPr>
          <p:cNvPr id="4" name="Slide Number Placeholder 3">
            <a:extLst>
              <a:ext uri="{FF2B5EF4-FFF2-40B4-BE49-F238E27FC236}">
                <a16:creationId xmlns:a16="http://schemas.microsoft.com/office/drawing/2014/main" id="{836551CC-7E7C-C640-CC7B-2BEFB1F7D03A}"/>
              </a:ext>
            </a:extLst>
          </p:cNvPr>
          <p:cNvSpPr>
            <a:spLocks noGrp="1"/>
          </p:cNvSpPr>
          <p:nvPr>
            <p:ph type="sldNum" sz="quarter" idx="5"/>
          </p:nvPr>
        </p:nvSpPr>
        <p:spPr/>
        <p:txBody>
          <a:bodyPr/>
          <a:lstStyle/>
          <a:p>
            <a:fld id="{5F9251E5-5449-4352-AB33-FB148C3076DC}" type="slidenum">
              <a:rPr lang="en-US" smtClean="0"/>
              <a:t>35</a:t>
            </a:fld>
            <a:endParaRPr lang="en-US"/>
          </a:p>
        </p:txBody>
      </p:sp>
    </p:spTree>
    <p:extLst>
      <p:ext uri="{BB962C8B-B14F-4D97-AF65-F5344CB8AC3E}">
        <p14:creationId xmlns:p14="http://schemas.microsoft.com/office/powerpoint/2010/main" val="1321145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FBDA-B5B4-9815-CA19-AA2FFC25A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21318-F852-AC54-D441-A754465B5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F28D2-58E9-A0F0-1B1F-2AB470FD065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F2970B6-ABC4-0053-2253-54055DFDC705}"/>
              </a:ext>
            </a:extLst>
          </p:cNvPr>
          <p:cNvSpPr>
            <a:spLocks noGrp="1"/>
          </p:cNvSpPr>
          <p:nvPr>
            <p:ph type="sldNum" sz="quarter" idx="5"/>
          </p:nvPr>
        </p:nvSpPr>
        <p:spPr/>
        <p:txBody>
          <a:bodyPr/>
          <a:lstStyle/>
          <a:p>
            <a:fld id="{5F9251E5-5449-4352-AB33-FB148C3076DC}" type="slidenum">
              <a:rPr lang="en-US" smtClean="0"/>
              <a:t>36</a:t>
            </a:fld>
            <a:endParaRPr lang="en-US"/>
          </a:p>
        </p:txBody>
      </p:sp>
    </p:spTree>
    <p:extLst>
      <p:ext uri="{BB962C8B-B14F-4D97-AF65-F5344CB8AC3E}">
        <p14:creationId xmlns:p14="http://schemas.microsoft.com/office/powerpoint/2010/main" val="3111616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78F1-42D3-1D18-38B5-09AC0BBEA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9D7B1-5932-2BF9-7D35-4A34DA4C1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E4319-32F8-232A-7ADB-A69130CFAC3E}"/>
              </a:ext>
            </a:extLst>
          </p:cNvPr>
          <p:cNvSpPr>
            <a:spLocks noGrp="1"/>
          </p:cNvSpPr>
          <p:nvPr>
            <p:ph type="body" idx="1"/>
          </p:nvPr>
        </p:nvSpPr>
        <p:spPr/>
        <p:txBody>
          <a:bodyPr/>
          <a:lstStyle/>
          <a:p>
            <a:r>
              <a:rPr lang="en-GB" b="1" dirty="0"/>
              <a:t>Normal prompt = talk to the agent about the work.</a:t>
            </a:r>
            <a:br>
              <a:rPr lang="en-GB" dirty="0"/>
            </a:br>
            <a:r>
              <a:rPr lang="en-GB" sz="1200" b="1" kern="1200" dirty="0">
                <a:solidFill>
                  <a:schemeClr val="tx1"/>
                </a:solidFill>
                <a:latin typeface="+mn-lt"/>
                <a:ea typeface="+mn-ea"/>
                <a:cs typeface="+mn-cs"/>
              </a:rPr>
              <a:t>/ask</a:t>
            </a:r>
            <a:r>
              <a:rPr lang="en-GB" b="1" dirty="0"/>
              <a:t> = ask the agent a temporary question about the work</a:t>
            </a:r>
            <a:endParaRPr lang="en-GB" dirty="0"/>
          </a:p>
        </p:txBody>
      </p:sp>
      <p:sp>
        <p:nvSpPr>
          <p:cNvPr id="4" name="Slide Number Placeholder 3">
            <a:extLst>
              <a:ext uri="{FF2B5EF4-FFF2-40B4-BE49-F238E27FC236}">
                <a16:creationId xmlns:a16="http://schemas.microsoft.com/office/drawing/2014/main" id="{9AC197B8-8E97-D6BA-AC20-DD8EF8FB3E92}"/>
              </a:ext>
            </a:extLst>
          </p:cNvPr>
          <p:cNvSpPr>
            <a:spLocks noGrp="1"/>
          </p:cNvSpPr>
          <p:nvPr>
            <p:ph type="sldNum" sz="quarter" idx="5"/>
          </p:nvPr>
        </p:nvSpPr>
        <p:spPr/>
        <p:txBody>
          <a:bodyPr/>
          <a:lstStyle/>
          <a:p>
            <a:fld id="{5F9251E5-5449-4352-AB33-FB148C3076DC}" type="slidenum">
              <a:rPr lang="en-US" smtClean="0"/>
              <a:t>37</a:t>
            </a:fld>
            <a:endParaRPr lang="en-US"/>
          </a:p>
        </p:txBody>
      </p:sp>
    </p:spTree>
    <p:extLst>
      <p:ext uri="{BB962C8B-B14F-4D97-AF65-F5344CB8AC3E}">
        <p14:creationId xmlns:p14="http://schemas.microsoft.com/office/powerpoint/2010/main" val="3288793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emf"/><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_Title">
    <p:bg>
      <p:bgPr>
        <a:solidFill>
          <a:srgbClr val="69CBAB"/>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2FA58460-C76B-A437-504C-725AD8711519}"/>
              </a:ext>
            </a:extLst>
          </p:cNvPr>
          <p:cNvSpPr>
            <a:spLocks noGrp="1"/>
          </p:cNvSpPr>
          <p:nvPr>
            <p:ph type="subTitle" idx="1" hasCustomPrompt="1"/>
          </p:nvPr>
        </p:nvSpPr>
        <p:spPr>
          <a:xfrm>
            <a:off x="335684" y="1717635"/>
            <a:ext cx="5387454" cy="1087197"/>
          </a:xfrm>
          <a:ln>
            <a:noFill/>
          </a:ln>
        </p:spPr>
        <p:txBody>
          <a:bodyPr anchor="b"/>
          <a:lstStyle>
            <a:lvl1pPr marL="0" indent="0" algn="l">
              <a:buNone/>
              <a:defRPr sz="3600" b="0" i="0">
                <a:latin typeface="Figtree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course title</a:t>
            </a:r>
            <a:endParaRPr lang="en-US"/>
          </a:p>
        </p:txBody>
      </p:sp>
      <p:pic>
        <p:nvPicPr>
          <p:cNvPr id="16" name="Graphic 15">
            <a:extLst>
              <a:ext uri="{FF2B5EF4-FFF2-40B4-BE49-F238E27FC236}">
                <a16:creationId xmlns:a16="http://schemas.microsoft.com/office/drawing/2014/main" id="{106C3B18-152D-CA00-09A5-86311253F0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84" y="1117458"/>
            <a:ext cx="1447396" cy="475155"/>
          </a:xfrm>
          <a:prstGeom prst="rect">
            <a:avLst/>
          </a:prstGeom>
        </p:spPr>
      </p:pic>
      <p:cxnSp>
        <p:nvCxnSpPr>
          <p:cNvPr id="11" name="Straight Connector 10">
            <a:extLst>
              <a:ext uri="{FF2B5EF4-FFF2-40B4-BE49-F238E27FC236}">
                <a16:creationId xmlns:a16="http://schemas.microsoft.com/office/drawing/2014/main" id="{2EC66082-7C6B-6722-763E-4D0D081325DA}"/>
              </a:ext>
            </a:extLst>
          </p:cNvPr>
          <p:cNvCxnSpPr>
            <a:cxnSpLocks/>
          </p:cNvCxnSpPr>
          <p:nvPr userDrawn="1"/>
        </p:nvCxnSpPr>
        <p:spPr>
          <a:xfrm>
            <a:off x="335684" y="3007369"/>
            <a:ext cx="1245576" cy="0"/>
          </a:xfrm>
          <a:prstGeom prst="line">
            <a:avLst/>
          </a:prstGeom>
        </p:spPr>
        <p:style>
          <a:lnRef idx="2">
            <a:schemeClr val="dk1"/>
          </a:lnRef>
          <a:fillRef idx="0">
            <a:schemeClr val="dk1"/>
          </a:fillRef>
          <a:effectRef idx="1">
            <a:schemeClr val="dk1"/>
          </a:effectRef>
          <a:fontRef idx="minor">
            <a:schemeClr val="tx1"/>
          </a:fontRef>
        </p:style>
      </p:cxnSp>
      <p:sp>
        <p:nvSpPr>
          <p:cNvPr id="2" name="Content Placeholder 2">
            <a:extLst>
              <a:ext uri="{FF2B5EF4-FFF2-40B4-BE49-F238E27FC236}">
                <a16:creationId xmlns:a16="http://schemas.microsoft.com/office/drawing/2014/main" id="{3709A18E-3BBF-9367-81C5-9C53331592DF}"/>
              </a:ext>
            </a:extLst>
          </p:cNvPr>
          <p:cNvSpPr>
            <a:spLocks noGrp="1"/>
          </p:cNvSpPr>
          <p:nvPr>
            <p:ph idx="10" hasCustomPrompt="1"/>
          </p:nvPr>
        </p:nvSpPr>
        <p:spPr>
          <a:xfrm>
            <a:off x="363352" y="3209907"/>
            <a:ext cx="5254582" cy="1222437"/>
          </a:xfrm>
        </p:spPr>
        <p:txBody>
          <a:bodyPr>
            <a:normAutofit/>
          </a:bodyPr>
          <a:lstStyle>
            <a:lvl1pPr algn="l">
              <a:buNone/>
              <a:defRPr sz="2400"/>
            </a:lvl1pPr>
            <a:lvl2pPr algn="l">
              <a:defRPr/>
            </a:lvl2pPr>
            <a:lvl3pPr algn="l">
              <a:defRPr/>
            </a:lvl3pPr>
            <a:lvl4pPr algn="l">
              <a:defRPr/>
            </a:lvl4pPr>
            <a:lvl5pPr algn="l">
              <a:defRPr/>
            </a:lvl5pPr>
          </a:lstStyle>
          <a:p>
            <a:pPr lvl="0"/>
            <a:r>
              <a:rPr lang="en-GB"/>
              <a:t>Subtitle</a:t>
            </a:r>
            <a:endParaRPr lang="en-US"/>
          </a:p>
        </p:txBody>
      </p:sp>
    </p:spTree>
    <p:extLst>
      <p:ext uri="{BB962C8B-B14F-4D97-AF65-F5344CB8AC3E}">
        <p14:creationId xmlns:p14="http://schemas.microsoft.com/office/powerpoint/2010/main" val="1443319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_What we'll cover">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What we’ll cover</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Font typeface="Arial" panose="020B0604020202020204" pitchFamily="34" charset="0"/>
              <a:buChar char="•"/>
              <a:defRPr sz="1800"/>
            </a:lvl1pPr>
          </a:lstStyle>
          <a:p>
            <a:pPr lvl="0"/>
            <a:r>
              <a:rPr lang="en-US"/>
              <a:t> Topics and exercises</a:t>
            </a:r>
          </a:p>
        </p:txBody>
      </p:sp>
      <p:pic>
        <p:nvPicPr>
          <p:cNvPr id="5" name="Online Image Placeholder 17">
            <a:extLst>
              <a:ext uri="{FF2B5EF4-FFF2-40B4-BE49-F238E27FC236}">
                <a16:creationId xmlns:a16="http://schemas.microsoft.com/office/drawing/2014/main" id="{9179AD93-59D5-352C-3C15-57DE1CCF67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969494" y="919745"/>
            <a:ext cx="6130309" cy="5441807"/>
          </a:xfrm>
          <a:prstGeom prst="rect">
            <a:avLst/>
          </a:prstGeom>
        </p:spPr>
      </p:pic>
      <p:sp>
        <p:nvSpPr>
          <p:cNvPr id="3" name="Slide Number Placeholder 5">
            <a:extLst>
              <a:ext uri="{FF2B5EF4-FFF2-40B4-BE49-F238E27FC236}">
                <a16:creationId xmlns:a16="http://schemas.microsoft.com/office/drawing/2014/main" id="{AE400E4E-162C-25E7-A048-00DC51E32D69}"/>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54148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_LOs">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0" y="748131"/>
            <a:ext cx="5554841" cy="707886"/>
          </a:xfrm>
          <a:prstGeom prst="rect">
            <a:avLst/>
          </a:prstGeom>
          <a:noFill/>
        </p:spPr>
        <p:txBody>
          <a:bodyPr wrap="square">
            <a:spAutoFit/>
          </a:bodyPr>
          <a:lstStyle/>
          <a:p>
            <a:r>
              <a:rPr lang="en-GB" sz="4000" b="1">
                <a:latin typeface="Figtree" pitchFamily="2" charset="0"/>
              </a:rPr>
              <a:t>Learning outcomes</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2109277"/>
            <a:ext cx="5407025" cy="4440845"/>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a:lvl1pPr>
          </a:lstStyle>
          <a:p>
            <a:pPr lvl="0"/>
            <a:r>
              <a:rPr lang="en-GB"/>
              <a:t>Design each course around learners achieving three learning outcomes: one quick foundational outcome that's checks their knowledge and two action-focused outcomes that checks their skills.</a:t>
            </a:r>
            <a:br>
              <a:rPr lang="en-GB"/>
            </a:br>
            <a:r>
              <a:rPr lang="en-US"/>
              <a:t>1. </a:t>
            </a:r>
            <a:r>
              <a:rPr lang="en-GB"/>
              <a:t>Foundational learning outcome: Focus on the Remember and Understand levels of Bloom's Taxonomy.</a:t>
            </a:r>
            <a:br>
              <a:rPr lang="en-US"/>
            </a:br>
            <a:r>
              <a:rPr lang="en-US"/>
              <a:t>2. </a:t>
            </a:r>
            <a:r>
              <a:rPr lang="en-GB"/>
              <a:t>Action outcome: Aim for the Apply level (or above) of Bloom's Taxonomy.</a:t>
            </a:r>
            <a:br>
              <a:rPr lang="en-US"/>
            </a:br>
            <a:r>
              <a:rPr lang="en-US"/>
              <a:t>3. </a:t>
            </a:r>
            <a:r>
              <a:rPr lang="en-GB"/>
              <a:t>Action outcome: Aim for the Apply level (or above) of Bloom's Taxonomy.</a:t>
            </a:r>
            <a:br>
              <a:rPr lang="en-US"/>
            </a:br>
            <a:br>
              <a:rPr lang="en-US"/>
            </a:br>
            <a:r>
              <a:rPr lang="en-US"/>
              <a:t>See the next slide for an example.</a:t>
            </a:r>
            <a:br>
              <a:rPr lang="en-US"/>
            </a:br>
            <a:endParaRPr lang="en-US"/>
          </a:p>
        </p:txBody>
      </p:sp>
      <p:sp>
        <p:nvSpPr>
          <p:cNvPr id="2" name="TextBox 1">
            <a:extLst>
              <a:ext uri="{FF2B5EF4-FFF2-40B4-BE49-F238E27FC236}">
                <a16:creationId xmlns:a16="http://schemas.microsoft.com/office/drawing/2014/main" id="{2846708B-1BF6-7DD7-3085-604EEF91901E}"/>
              </a:ext>
            </a:extLst>
          </p:cNvPr>
          <p:cNvSpPr txBox="1"/>
          <p:nvPr userDrawn="1"/>
        </p:nvSpPr>
        <p:spPr>
          <a:xfrm>
            <a:off x="229270" y="1597981"/>
            <a:ext cx="5452439" cy="369332"/>
          </a:xfrm>
          <a:prstGeom prst="rect">
            <a:avLst/>
          </a:prstGeom>
          <a:noFill/>
        </p:spPr>
        <p:txBody>
          <a:bodyPr wrap="square" rtlCol="0">
            <a:spAutoFit/>
          </a:bodyPr>
          <a:lstStyle/>
          <a:p>
            <a:r>
              <a:rPr lang="en-GB">
                <a:latin typeface="Figtree" pitchFamily="2" charset="0"/>
              </a:rPr>
              <a:t>By the end of this course, you’ll be able to:</a:t>
            </a:r>
          </a:p>
        </p:txBody>
      </p:sp>
      <p:pic>
        <p:nvPicPr>
          <p:cNvPr id="4" name="Online Image Placeholder 8">
            <a:extLst>
              <a:ext uri="{FF2B5EF4-FFF2-40B4-BE49-F238E27FC236}">
                <a16:creationId xmlns:a16="http://schemas.microsoft.com/office/drawing/2014/main" id="{D95FA17F-BAD4-3F28-F950-1C4A3FC50C46}"/>
              </a:ext>
            </a:extLst>
          </p:cNvPr>
          <p:cNvPicPr>
            <a:picLocks noChangeAspect="1"/>
          </p:cNvPicPr>
          <p:nvPr userDrawn="1"/>
        </p:nvPicPr>
        <p:blipFill>
          <a:blip r:embed="rId2"/>
          <a:srcRect l="8121" t="15633" r="15770" b="15805"/>
          <a:stretch>
            <a:fillRect/>
          </a:stretch>
        </p:blipFill>
        <p:spPr>
          <a:xfrm>
            <a:off x="6096000" y="743417"/>
            <a:ext cx="5884863" cy="5301317"/>
          </a:xfrm>
          <a:prstGeom prst="rect">
            <a:avLst/>
          </a:prstGeom>
        </p:spPr>
      </p:pic>
      <p:sp>
        <p:nvSpPr>
          <p:cNvPr id="5" name="Slide Number Placeholder 5">
            <a:extLst>
              <a:ext uri="{FF2B5EF4-FFF2-40B4-BE49-F238E27FC236}">
                <a16:creationId xmlns:a16="http://schemas.microsoft.com/office/drawing/2014/main" id="{7A5282A9-BD79-C6B6-C676-BF9B362389AC}"/>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3749306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69CBAB"/>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4B8FC4-1023-D759-E1C5-8C1FA11740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5" name="Online Image Placeholder 9">
            <a:extLst>
              <a:ext uri="{FF2B5EF4-FFF2-40B4-BE49-F238E27FC236}">
                <a16:creationId xmlns:a16="http://schemas.microsoft.com/office/drawing/2014/main" id="{665546B8-B747-F08D-2BFE-C7069EC047AE}"/>
              </a:ext>
            </a:extLst>
          </p:cNvPr>
          <p:cNvSpPr>
            <a:spLocks noGrp="1"/>
          </p:cNvSpPr>
          <p:nvPr>
            <p:ph type="clipArt" sz="quarter" idx="10"/>
          </p:nvPr>
        </p:nvSpPr>
        <p:spPr>
          <a:xfrm>
            <a:off x="5673725" y="176213"/>
            <a:ext cx="6307138" cy="6435725"/>
          </a:xfrm>
        </p:spPr>
        <p:txBody>
          <a:bodyPr/>
          <a:lstStyle/>
          <a:p>
            <a:endParaRPr lang="en-US"/>
          </a:p>
        </p:txBody>
      </p:sp>
      <p:sp>
        <p:nvSpPr>
          <p:cNvPr id="7" name="Title 1">
            <a:extLst>
              <a:ext uri="{FF2B5EF4-FFF2-40B4-BE49-F238E27FC236}">
                <a16:creationId xmlns:a16="http://schemas.microsoft.com/office/drawing/2014/main" id="{AC122343-2FE5-7E5F-09A7-3303A774DC2E}"/>
              </a:ext>
            </a:extLst>
          </p:cNvPr>
          <p:cNvSpPr>
            <a:spLocks noGrp="1"/>
          </p:cNvSpPr>
          <p:nvPr>
            <p:ph type="title" hasCustomPrompt="1"/>
          </p:nvPr>
        </p:nvSpPr>
        <p:spPr>
          <a:xfrm>
            <a:off x="208007" y="2103437"/>
            <a:ext cx="5254582" cy="1325563"/>
          </a:xfrm>
        </p:spPr>
        <p:txBody>
          <a:bodyPr/>
          <a:lstStyle>
            <a:lvl1pPr>
              <a:defRPr sz="4000"/>
            </a:lvl1pPr>
          </a:lstStyle>
          <a:p>
            <a:r>
              <a:rPr lang="en-GB"/>
              <a:t>Section title</a:t>
            </a:r>
            <a:endParaRPr lang="en-US"/>
          </a:p>
        </p:txBody>
      </p:sp>
      <p:sp>
        <p:nvSpPr>
          <p:cNvPr id="14" name="Content Placeholder 2">
            <a:extLst>
              <a:ext uri="{FF2B5EF4-FFF2-40B4-BE49-F238E27FC236}">
                <a16:creationId xmlns:a16="http://schemas.microsoft.com/office/drawing/2014/main" id="{6B289781-2699-C87F-B9F4-D2F6A79F54B1}"/>
              </a:ext>
            </a:extLst>
          </p:cNvPr>
          <p:cNvSpPr>
            <a:spLocks noGrp="1"/>
          </p:cNvSpPr>
          <p:nvPr>
            <p:ph idx="1" hasCustomPrompt="1"/>
          </p:nvPr>
        </p:nvSpPr>
        <p:spPr>
          <a:xfrm>
            <a:off x="208007" y="3605213"/>
            <a:ext cx="5254582" cy="1222437"/>
          </a:xfrm>
        </p:spPr>
        <p:txBody>
          <a:bodyPr>
            <a:normAutofit/>
          </a:bodyPr>
          <a:lstStyle>
            <a:lvl1pPr algn="l">
              <a:buNone/>
              <a:defRPr sz="2400"/>
            </a:lvl1pPr>
            <a:lvl2pPr algn="l">
              <a:defRPr/>
            </a:lvl2pPr>
            <a:lvl3pPr algn="l">
              <a:defRPr/>
            </a:lvl3pPr>
            <a:lvl4pPr algn="l">
              <a:defRPr/>
            </a:lvl4pPr>
            <a:lvl5pPr algn="l">
              <a:defRPr/>
            </a:lvl5pPr>
          </a:lstStyle>
          <a:p>
            <a:pPr lvl="0"/>
            <a:r>
              <a:rPr lang="en-GB"/>
              <a:t>Subtitle</a:t>
            </a:r>
            <a:endParaRPr lang="en-US"/>
          </a:p>
        </p:txBody>
      </p:sp>
      <p:sp>
        <p:nvSpPr>
          <p:cNvPr id="4" name="Slide Number Placeholder 5">
            <a:extLst>
              <a:ext uri="{FF2B5EF4-FFF2-40B4-BE49-F238E27FC236}">
                <a16:creationId xmlns:a16="http://schemas.microsoft.com/office/drawing/2014/main" id="{4A1C3704-C370-94B1-87AD-4CA9D90F1AAB}"/>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1557960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2FB7DA"/>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B51FDFF-B312-B3C3-E8E5-E76085EE1F5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0" name="Online Image Placeholder 9">
            <a:extLst>
              <a:ext uri="{FF2B5EF4-FFF2-40B4-BE49-F238E27FC236}">
                <a16:creationId xmlns:a16="http://schemas.microsoft.com/office/drawing/2014/main" id="{8FE7F122-4F5B-F3E2-A504-271D0D42A37D}"/>
              </a:ext>
            </a:extLst>
          </p:cNvPr>
          <p:cNvSpPr>
            <a:spLocks noGrp="1"/>
          </p:cNvSpPr>
          <p:nvPr>
            <p:ph type="clipArt" sz="quarter" idx="10"/>
          </p:nvPr>
        </p:nvSpPr>
        <p:spPr>
          <a:xfrm>
            <a:off x="5673725" y="176213"/>
            <a:ext cx="6307138" cy="6435725"/>
          </a:xfrm>
        </p:spPr>
        <p:txBody>
          <a:bodyPr/>
          <a:lstStyle/>
          <a:p>
            <a:endParaRPr lang="en-US"/>
          </a:p>
        </p:txBody>
      </p:sp>
      <p:sp>
        <p:nvSpPr>
          <p:cNvPr id="12" name="Title 1">
            <a:extLst>
              <a:ext uri="{FF2B5EF4-FFF2-40B4-BE49-F238E27FC236}">
                <a16:creationId xmlns:a16="http://schemas.microsoft.com/office/drawing/2014/main" id="{FB87BDDF-2AD3-E3EC-1647-BCA80564AD3B}"/>
              </a:ext>
            </a:extLst>
          </p:cNvPr>
          <p:cNvSpPr>
            <a:spLocks noGrp="1"/>
          </p:cNvSpPr>
          <p:nvPr>
            <p:ph type="title" hasCustomPrompt="1"/>
          </p:nvPr>
        </p:nvSpPr>
        <p:spPr>
          <a:xfrm>
            <a:off x="208007" y="2103437"/>
            <a:ext cx="5254582" cy="1325563"/>
          </a:xfrm>
        </p:spPr>
        <p:txBody>
          <a:bodyPr/>
          <a:lstStyle>
            <a:lvl1pPr>
              <a:defRPr sz="4000"/>
            </a:lvl1pPr>
          </a:lstStyle>
          <a:p>
            <a:r>
              <a:rPr lang="en-GB"/>
              <a:t>Section title</a:t>
            </a:r>
            <a:endParaRPr lang="en-US"/>
          </a:p>
        </p:txBody>
      </p:sp>
      <p:sp>
        <p:nvSpPr>
          <p:cNvPr id="13" name="Content Placeholder 2">
            <a:extLst>
              <a:ext uri="{FF2B5EF4-FFF2-40B4-BE49-F238E27FC236}">
                <a16:creationId xmlns:a16="http://schemas.microsoft.com/office/drawing/2014/main" id="{6ACCD1F1-1767-59D3-CDA2-C00215104477}"/>
              </a:ext>
            </a:extLst>
          </p:cNvPr>
          <p:cNvSpPr>
            <a:spLocks noGrp="1"/>
          </p:cNvSpPr>
          <p:nvPr>
            <p:ph idx="1" hasCustomPrompt="1"/>
          </p:nvPr>
        </p:nvSpPr>
        <p:spPr>
          <a:xfrm>
            <a:off x="208007" y="3605213"/>
            <a:ext cx="5254582" cy="1222437"/>
          </a:xfrm>
        </p:spPr>
        <p:txBody>
          <a:bodyPr>
            <a:normAutofit/>
          </a:bodyPr>
          <a:lstStyle>
            <a:lvl1pPr algn="l">
              <a:buNone/>
              <a:defRPr sz="2400"/>
            </a:lvl1pPr>
            <a:lvl2pPr algn="l">
              <a:defRPr/>
            </a:lvl2pPr>
            <a:lvl3pPr algn="l">
              <a:defRPr/>
            </a:lvl3pPr>
            <a:lvl4pPr algn="l">
              <a:defRPr/>
            </a:lvl4pPr>
            <a:lvl5pPr algn="l">
              <a:defRPr/>
            </a:lvl5pPr>
          </a:lstStyle>
          <a:p>
            <a:pPr lvl="0"/>
            <a:r>
              <a:rPr lang="en-GB"/>
              <a:t>Subtitle</a:t>
            </a:r>
            <a:endParaRPr lang="en-US"/>
          </a:p>
        </p:txBody>
      </p:sp>
      <p:sp>
        <p:nvSpPr>
          <p:cNvPr id="3" name="Slide Number Placeholder 5">
            <a:extLst>
              <a:ext uri="{FF2B5EF4-FFF2-40B4-BE49-F238E27FC236}">
                <a16:creationId xmlns:a16="http://schemas.microsoft.com/office/drawing/2014/main" id="{FB6745BD-6658-2CB2-1B7A-4F61FEDBB3A1}"/>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268859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med_activity">
    <p:bg>
      <p:bgPr>
        <a:solidFill>
          <a:srgbClr val="69CBAB"/>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None/>
              <a:defRPr sz="2000"/>
            </a:lvl1pPr>
          </a:lstStyle>
          <a:p>
            <a:pPr lvl="0"/>
            <a:r>
              <a:rPr lang="en-US"/>
              <a:t>Poll question or short description of topic.</a:t>
            </a:r>
          </a:p>
        </p:txBody>
      </p:sp>
      <p:sp>
        <p:nvSpPr>
          <p:cNvPr id="13" name="TextBox 12">
            <a:extLst>
              <a:ext uri="{FF2B5EF4-FFF2-40B4-BE49-F238E27FC236}">
                <a16:creationId xmlns:a16="http://schemas.microsoft.com/office/drawing/2014/main" id="{D73CB6EF-5204-07CF-4EE4-064BE6D9CD36}"/>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Poll</a:t>
            </a:r>
            <a:endParaRPr lang="en-GB" sz="1600" b="1">
              <a:latin typeface="Figtree" pitchFamily="2" charset="0"/>
            </a:endParaRPr>
          </a:p>
        </p:txBody>
      </p:sp>
      <p:sp>
        <p:nvSpPr>
          <p:cNvPr id="2" name="Online Image Placeholder 9">
            <a:extLst>
              <a:ext uri="{FF2B5EF4-FFF2-40B4-BE49-F238E27FC236}">
                <a16:creationId xmlns:a16="http://schemas.microsoft.com/office/drawing/2014/main" id="{01373D66-CDB5-46F9-E98F-F651C0D22C24}"/>
              </a:ext>
            </a:extLst>
          </p:cNvPr>
          <p:cNvSpPr>
            <a:spLocks noGrp="1"/>
          </p:cNvSpPr>
          <p:nvPr>
            <p:ph type="clipArt" sz="quarter" idx="10"/>
          </p:nvPr>
        </p:nvSpPr>
        <p:spPr>
          <a:xfrm>
            <a:off x="5673725" y="176213"/>
            <a:ext cx="6307138" cy="6435725"/>
          </a:xfrm>
        </p:spPr>
        <p:txBody>
          <a:bodyPr/>
          <a:lstStyle/>
          <a:p>
            <a:endParaRPr lang="en-US"/>
          </a:p>
        </p:txBody>
      </p:sp>
      <p:sp>
        <p:nvSpPr>
          <p:cNvPr id="4" name="Slide Number Placeholder 5">
            <a:extLst>
              <a:ext uri="{FF2B5EF4-FFF2-40B4-BE49-F238E27FC236}">
                <a16:creationId xmlns:a16="http://schemas.microsoft.com/office/drawing/2014/main" id="{87F3C4AA-07DB-A6DF-CDE7-E8FDCF4F58D0}"/>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397912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med_activity">
    <p:bg>
      <p:bgPr>
        <a:solidFill>
          <a:srgbClr val="69CBAB"/>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None/>
              <a:defRPr sz="2000"/>
            </a:lvl1pPr>
          </a:lstStyle>
          <a:p>
            <a:pPr lvl="0"/>
            <a:r>
              <a:rPr lang="en-US"/>
              <a:t>Poll question or short description of topic.</a:t>
            </a:r>
          </a:p>
        </p:txBody>
      </p:sp>
      <p:sp>
        <p:nvSpPr>
          <p:cNvPr id="13" name="TextBox 12">
            <a:extLst>
              <a:ext uri="{FF2B5EF4-FFF2-40B4-BE49-F238E27FC236}">
                <a16:creationId xmlns:a16="http://schemas.microsoft.com/office/drawing/2014/main" id="{D73CB6EF-5204-07CF-4EE4-064BE6D9CD36}"/>
              </a:ext>
            </a:extLst>
          </p:cNvPr>
          <p:cNvSpPr txBox="1"/>
          <p:nvPr userDrawn="1"/>
        </p:nvSpPr>
        <p:spPr>
          <a:xfrm>
            <a:off x="229271" y="748131"/>
            <a:ext cx="4693604" cy="707886"/>
          </a:xfrm>
          <a:prstGeom prst="rect">
            <a:avLst/>
          </a:prstGeom>
          <a:noFill/>
        </p:spPr>
        <p:txBody>
          <a:bodyPr wrap="square">
            <a:spAutoFit/>
          </a:bodyPr>
          <a:lstStyle/>
          <a:p>
            <a:r>
              <a:rPr lang="en-GB" sz="4000" b="1" dirty="0">
                <a:latin typeface="Figtree" pitchFamily="2" charset="0"/>
              </a:rPr>
              <a:t>Scenario Discussion</a:t>
            </a:r>
            <a:endParaRPr lang="en-GB" sz="1600" b="1" dirty="0">
              <a:latin typeface="Figtree" pitchFamily="2" charset="0"/>
            </a:endParaRPr>
          </a:p>
        </p:txBody>
      </p:sp>
      <p:sp>
        <p:nvSpPr>
          <p:cNvPr id="2" name="Online Image Placeholder 9">
            <a:extLst>
              <a:ext uri="{FF2B5EF4-FFF2-40B4-BE49-F238E27FC236}">
                <a16:creationId xmlns:a16="http://schemas.microsoft.com/office/drawing/2014/main" id="{01373D66-CDB5-46F9-E98F-F651C0D22C24}"/>
              </a:ext>
            </a:extLst>
          </p:cNvPr>
          <p:cNvSpPr>
            <a:spLocks noGrp="1"/>
          </p:cNvSpPr>
          <p:nvPr>
            <p:ph type="clipArt" sz="quarter" idx="10"/>
          </p:nvPr>
        </p:nvSpPr>
        <p:spPr>
          <a:xfrm>
            <a:off x="5673725" y="176213"/>
            <a:ext cx="6307138" cy="6435725"/>
          </a:xfrm>
        </p:spPr>
        <p:txBody>
          <a:bodyPr/>
          <a:lstStyle/>
          <a:p>
            <a:endParaRPr lang="en-US"/>
          </a:p>
        </p:txBody>
      </p:sp>
      <p:sp>
        <p:nvSpPr>
          <p:cNvPr id="4" name="Slide Number Placeholder 5">
            <a:extLst>
              <a:ext uri="{FF2B5EF4-FFF2-40B4-BE49-F238E27FC236}">
                <a16:creationId xmlns:a16="http://schemas.microsoft.com/office/drawing/2014/main" id="{87F3C4AA-07DB-A6DF-CDE7-E8FDCF4F58D0}"/>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3584318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d_activity_15">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Timed activity</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None/>
              <a:defRPr sz="2000"/>
            </a:lvl1pPr>
          </a:lstStyle>
          <a:p>
            <a:pPr lvl="0"/>
            <a:r>
              <a:rPr lang="en-US"/>
              <a:t>Activity name</a:t>
            </a:r>
            <a:br>
              <a:rPr lang="en-US"/>
            </a:br>
            <a:r>
              <a:rPr lang="en-US"/>
              <a:t>Time: Length of activity </a:t>
            </a:r>
          </a:p>
        </p:txBody>
      </p:sp>
      <p:pic>
        <p:nvPicPr>
          <p:cNvPr id="4" name="Online Image Placeholder 5">
            <a:extLst>
              <a:ext uri="{FF2B5EF4-FFF2-40B4-BE49-F238E27FC236}">
                <a16:creationId xmlns:a16="http://schemas.microsoft.com/office/drawing/2014/main" id="{5D3E4E12-C6D3-62BC-6A73-84CE0804EBD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5780054" y="510717"/>
            <a:ext cx="6307138" cy="5873043"/>
          </a:xfrm>
          <a:prstGeom prst="rect">
            <a:avLst/>
          </a:prstGeom>
        </p:spPr>
      </p:pic>
      <p:sp>
        <p:nvSpPr>
          <p:cNvPr id="3" name="Slide Number Placeholder 5">
            <a:extLst>
              <a:ext uri="{FF2B5EF4-FFF2-40B4-BE49-F238E27FC236}">
                <a16:creationId xmlns:a16="http://schemas.microsoft.com/office/drawing/2014/main" id="{068486B0-AFD2-D0B3-B464-4B3BFCD6983A}"/>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1799391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med_activity_15">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Timed activity</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None/>
              <a:defRPr sz="2000"/>
            </a:lvl1pPr>
          </a:lstStyle>
          <a:p>
            <a:pPr lvl="0"/>
            <a:r>
              <a:rPr lang="en-US"/>
              <a:t>Activity name</a:t>
            </a:r>
            <a:br>
              <a:rPr lang="en-US"/>
            </a:br>
            <a:r>
              <a:rPr lang="en-US"/>
              <a:t>Time: Length of activity </a:t>
            </a:r>
          </a:p>
        </p:txBody>
      </p:sp>
      <p:pic>
        <p:nvPicPr>
          <p:cNvPr id="2" name="Online Image Placeholder 5">
            <a:extLst>
              <a:ext uri="{FF2B5EF4-FFF2-40B4-BE49-F238E27FC236}">
                <a16:creationId xmlns:a16="http://schemas.microsoft.com/office/drawing/2014/main" id="{14C7F37C-6864-581C-B033-54CD853AB8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69418" y="492478"/>
            <a:ext cx="6307138" cy="5873043"/>
          </a:xfrm>
          <a:prstGeom prst="rect">
            <a:avLst/>
          </a:prstGeom>
        </p:spPr>
      </p:pic>
      <p:sp>
        <p:nvSpPr>
          <p:cNvPr id="4" name="Slide Number Placeholder 5">
            <a:extLst>
              <a:ext uri="{FF2B5EF4-FFF2-40B4-BE49-F238E27FC236}">
                <a16:creationId xmlns:a16="http://schemas.microsoft.com/office/drawing/2014/main" id="{3E93402A-96CE-3A32-728B-993626054C40}"/>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1486312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utor_Led">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Tutor led</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None/>
              <a:defRPr sz="2000"/>
            </a:lvl1pPr>
          </a:lstStyle>
          <a:p>
            <a:pPr lvl="0"/>
            <a:r>
              <a:rPr lang="en-US"/>
              <a:t>Activity name</a:t>
            </a:r>
            <a:br>
              <a:rPr lang="en-US"/>
            </a:br>
            <a:r>
              <a:rPr lang="en-US"/>
              <a:t>Time: Length of activity </a:t>
            </a:r>
          </a:p>
        </p:txBody>
      </p:sp>
      <p:sp>
        <p:nvSpPr>
          <p:cNvPr id="4" name="Online Image Placeholder 9">
            <a:extLst>
              <a:ext uri="{FF2B5EF4-FFF2-40B4-BE49-F238E27FC236}">
                <a16:creationId xmlns:a16="http://schemas.microsoft.com/office/drawing/2014/main" id="{36EFD7E8-35EB-4782-4215-2D2008F286D9}"/>
              </a:ext>
            </a:extLst>
          </p:cNvPr>
          <p:cNvSpPr>
            <a:spLocks noGrp="1"/>
          </p:cNvSpPr>
          <p:nvPr>
            <p:ph type="clipArt" sz="quarter" idx="10"/>
          </p:nvPr>
        </p:nvSpPr>
        <p:spPr>
          <a:xfrm>
            <a:off x="5673725" y="176213"/>
            <a:ext cx="6307138" cy="6435725"/>
          </a:xfrm>
        </p:spPr>
        <p:txBody>
          <a:bodyPr/>
          <a:lstStyle/>
          <a:p>
            <a:endParaRPr lang="en-US"/>
          </a:p>
        </p:txBody>
      </p:sp>
      <p:sp>
        <p:nvSpPr>
          <p:cNvPr id="3" name="Slide Number Placeholder 5">
            <a:extLst>
              <a:ext uri="{FF2B5EF4-FFF2-40B4-BE49-F238E27FC236}">
                <a16:creationId xmlns:a16="http://schemas.microsoft.com/office/drawing/2014/main" id="{51B517D6-FD93-5E8A-8040-28C992CBA873}"/>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2771160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ctivity_blank">
    <p:bg>
      <p:bgPr>
        <a:solidFill>
          <a:srgbClr val="69CBA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55036E-B9BF-5A28-EF18-1330CA0355F6}"/>
              </a:ext>
            </a:extLst>
          </p:cNvPr>
          <p:cNvSpPr/>
          <p:nvPr userDrawn="1"/>
        </p:nvSpPr>
        <p:spPr>
          <a:xfrm>
            <a:off x="962755" y="0"/>
            <a:ext cx="11229246" cy="494269"/>
          </a:xfrm>
          <a:prstGeom prst="rect">
            <a:avLst/>
          </a:prstGeom>
          <a:solidFill>
            <a:srgbClr val="69CB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E8D155-F758-5B2B-EB2B-1FB7B351BDEE}"/>
              </a:ext>
            </a:extLst>
          </p:cNvPr>
          <p:cNvSpPr>
            <a:spLocks noGrp="1"/>
          </p:cNvSpPr>
          <p:nvPr>
            <p:ph type="title"/>
          </p:nvPr>
        </p:nvSpPr>
        <p:spPr>
          <a:xfrm>
            <a:off x="208006" y="570420"/>
            <a:ext cx="5465719" cy="1116337"/>
          </a:xfrm>
        </p:spPr>
        <p:txBody>
          <a:bodyPr/>
          <a:lstStyle>
            <a:lvl1pPr>
              <a:defRPr sz="40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7835E92-3683-0430-00DE-697344612B56}"/>
              </a:ext>
            </a:extLst>
          </p:cNvPr>
          <p:cNvSpPr>
            <a:spLocks noGrp="1"/>
          </p:cNvSpPr>
          <p:nvPr>
            <p:ph idx="1" hasCustomPrompt="1"/>
          </p:nvPr>
        </p:nvSpPr>
        <p:spPr>
          <a:xfrm>
            <a:off x="208006" y="1944428"/>
            <a:ext cx="5465720" cy="466751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0"/>
            </a:lvl1pPr>
            <a:lvl2pPr algn="l">
              <a:defRPr sz="2400"/>
            </a:lvl2pPr>
            <a:lvl3pPr algn="l">
              <a:defRPr sz="2400"/>
            </a:lvl3pPr>
            <a:lvl4pPr algn="l">
              <a:defRPr sz="2400"/>
            </a:lvl4pPr>
            <a:lvl5pPr algn="l">
              <a:defRPr sz="2400"/>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Activity name</a:t>
            </a:r>
            <a:br>
              <a:rPr lang="en-US"/>
            </a:br>
            <a:r>
              <a:rPr lang="en-US"/>
              <a:t>Time: Length of activity </a:t>
            </a:r>
          </a:p>
          <a:p>
            <a:pPr lvl="0"/>
            <a:endParaRPr lang="en-US"/>
          </a:p>
        </p:txBody>
      </p:sp>
      <p:sp>
        <p:nvSpPr>
          <p:cNvPr id="10" name="Online Image Placeholder 9">
            <a:extLst>
              <a:ext uri="{FF2B5EF4-FFF2-40B4-BE49-F238E27FC236}">
                <a16:creationId xmlns:a16="http://schemas.microsoft.com/office/drawing/2014/main" id="{8FE7F122-4F5B-F3E2-A504-271D0D42A37D}"/>
              </a:ext>
            </a:extLst>
          </p:cNvPr>
          <p:cNvSpPr>
            <a:spLocks noGrp="1"/>
          </p:cNvSpPr>
          <p:nvPr>
            <p:ph type="clipArt" sz="quarter" idx="10"/>
          </p:nvPr>
        </p:nvSpPr>
        <p:spPr>
          <a:xfrm>
            <a:off x="5673725" y="176213"/>
            <a:ext cx="6307138" cy="6435725"/>
          </a:xfrm>
        </p:spPr>
        <p:txBody>
          <a:bodyPr/>
          <a:lstStyle/>
          <a:p>
            <a:endParaRPr lang="en-US"/>
          </a:p>
        </p:txBody>
      </p:sp>
      <p:sp>
        <p:nvSpPr>
          <p:cNvPr id="6" name="Slide Number Placeholder 5">
            <a:extLst>
              <a:ext uri="{FF2B5EF4-FFF2-40B4-BE49-F238E27FC236}">
                <a16:creationId xmlns:a16="http://schemas.microsoft.com/office/drawing/2014/main" id="{033412F5-1BEF-7D2F-D93F-4B72431915C7}"/>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4269489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a:p>
        </p:txBody>
      </p:sp>
      <p:sp>
        <p:nvSpPr>
          <p:cNvPr id="6" name="Slide Number Placeholder 5">
            <a:extLst>
              <a:ext uri="{FF2B5EF4-FFF2-40B4-BE49-F238E27FC236}">
                <a16:creationId xmlns:a16="http://schemas.microsoft.com/office/drawing/2014/main" id="{59B33473-8FDD-A304-F427-E2FC28231A42}"/>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8" name="Picture 7">
            <a:extLst>
              <a:ext uri="{FF2B5EF4-FFF2-40B4-BE49-F238E27FC236}">
                <a16:creationId xmlns:a16="http://schemas.microsoft.com/office/drawing/2014/main" id="{192F732C-F9A4-64CA-D94D-02164E17C8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827461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6" name="Slide Number Placeholder 5">
            <a:extLst>
              <a:ext uri="{FF2B5EF4-FFF2-40B4-BE49-F238E27FC236}">
                <a16:creationId xmlns:a16="http://schemas.microsoft.com/office/drawing/2014/main" id="{2F400494-6D93-9168-B8D9-882E5FD83C68}"/>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9" name="Picture 8">
            <a:extLst>
              <a:ext uri="{FF2B5EF4-FFF2-40B4-BE49-F238E27FC236}">
                <a16:creationId xmlns:a16="http://schemas.microsoft.com/office/drawing/2014/main" id="{58BD57F3-F949-CC66-F731-AA04074B7BB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817927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4" name="Slide Number Placeholder 5">
            <a:extLst>
              <a:ext uri="{FF2B5EF4-FFF2-40B4-BE49-F238E27FC236}">
                <a16:creationId xmlns:a16="http://schemas.microsoft.com/office/drawing/2014/main" id="{AD5E27D7-5491-5E0D-5B50-CE66D37D1795}"/>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8" name="Picture 7">
            <a:extLst>
              <a:ext uri="{FF2B5EF4-FFF2-40B4-BE49-F238E27FC236}">
                <a16:creationId xmlns:a16="http://schemas.microsoft.com/office/drawing/2014/main" id="{73E9DD91-A474-DC3E-9ED7-CBD56542D00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08790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a:p>
        </p:txBody>
      </p:sp>
      <p:sp>
        <p:nvSpPr>
          <p:cNvPr id="6" name="Slide Number Placeholder 5">
            <a:extLst>
              <a:ext uri="{FF2B5EF4-FFF2-40B4-BE49-F238E27FC236}">
                <a16:creationId xmlns:a16="http://schemas.microsoft.com/office/drawing/2014/main" id="{5E95E311-66CC-6FCD-8B9B-2DEE44A5A2CE}"/>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9" name="Picture 8">
            <a:extLst>
              <a:ext uri="{FF2B5EF4-FFF2-40B4-BE49-F238E27FC236}">
                <a16:creationId xmlns:a16="http://schemas.microsoft.com/office/drawing/2014/main" id="{6B3EAD48-A637-BC5C-D7DC-326529727C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20955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5" name="Slide Number Placeholder 5">
            <a:extLst>
              <a:ext uri="{FF2B5EF4-FFF2-40B4-BE49-F238E27FC236}">
                <a16:creationId xmlns:a16="http://schemas.microsoft.com/office/drawing/2014/main" id="{FAD9A4C2-36FB-6F24-2D13-B1F42A98AB76}"/>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7" name="Picture 6">
            <a:extLst>
              <a:ext uri="{FF2B5EF4-FFF2-40B4-BE49-F238E27FC236}">
                <a16:creationId xmlns:a16="http://schemas.microsoft.com/office/drawing/2014/main" id="{20FD2B21-F1A1-C34A-DB1B-72AACAE478F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33072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ounded Rectangle 1">
            <a:extLst>
              <a:ext uri="{FF2B5EF4-FFF2-40B4-BE49-F238E27FC236}">
                <a16:creationId xmlns:a16="http://schemas.microsoft.com/office/drawing/2014/main" id="{3D17E750-B760-09C4-7A6E-608EB91B415B}"/>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2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a:t>Click to add the author’s name</a:t>
            </a:r>
          </a:p>
        </p:txBody>
      </p:sp>
      <p:pic>
        <p:nvPicPr>
          <p:cNvPr id="5" name="Picture 4">
            <a:extLst>
              <a:ext uri="{FF2B5EF4-FFF2-40B4-BE49-F238E27FC236}">
                <a16:creationId xmlns:a16="http://schemas.microsoft.com/office/drawing/2014/main" id="{A9663D47-4CC9-14A2-17D0-AFC86FFFE0D6}"/>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69256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igtree"/>
              <a:ea typeface="+mn-ea"/>
              <a:cs typeface="+mn-cs"/>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5" name="Slide Number Placeholder 5">
            <a:extLst>
              <a:ext uri="{FF2B5EF4-FFF2-40B4-BE49-F238E27FC236}">
                <a16:creationId xmlns:a16="http://schemas.microsoft.com/office/drawing/2014/main" id="{D4FC855D-44E5-3EFC-A58C-8D7C914941AA}"/>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pic>
        <p:nvPicPr>
          <p:cNvPr id="7" name="Picture 6">
            <a:extLst>
              <a:ext uri="{FF2B5EF4-FFF2-40B4-BE49-F238E27FC236}">
                <a16:creationId xmlns:a16="http://schemas.microsoft.com/office/drawing/2014/main" id="{956E79A6-3DB3-C924-279D-E6837B547D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287967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rgbClr val="69CBA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D75098-B3AD-FF64-3118-5B999CF69DF3}"/>
              </a:ext>
            </a:extLst>
          </p:cNvPr>
          <p:cNvSpPr txBox="1"/>
          <p:nvPr userDrawn="1"/>
        </p:nvSpPr>
        <p:spPr>
          <a:xfrm>
            <a:off x="229271" y="748131"/>
            <a:ext cx="4693604" cy="707886"/>
          </a:xfrm>
          <a:prstGeom prst="rect">
            <a:avLst/>
          </a:prstGeom>
          <a:noFill/>
        </p:spPr>
        <p:txBody>
          <a:bodyPr wrap="square">
            <a:spAutoFit/>
          </a:bodyPr>
          <a:lstStyle/>
          <a:p>
            <a:r>
              <a:rPr lang="en-GB" sz="4000" b="1">
                <a:latin typeface="Figtree" pitchFamily="2" charset="0"/>
              </a:rPr>
              <a:t>Conclusion</a:t>
            </a:r>
            <a:endParaRPr lang="en-GB" sz="1600" b="1">
              <a:latin typeface="Figtree" pitchFamily="2" charset="0"/>
            </a:endParaRPr>
          </a:p>
        </p:txBody>
      </p:sp>
      <p:sp>
        <p:nvSpPr>
          <p:cNvPr id="9" name="Text Placeholder 8">
            <a:extLst>
              <a:ext uri="{FF2B5EF4-FFF2-40B4-BE49-F238E27FC236}">
                <a16:creationId xmlns:a16="http://schemas.microsoft.com/office/drawing/2014/main" id="{68A68CAC-8DB8-5F44-146A-43F26E40C1EE}"/>
              </a:ext>
            </a:extLst>
          </p:cNvPr>
          <p:cNvSpPr>
            <a:spLocks noGrp="1"/>
          </p:cNvSpPr>
          <p:nvPr>
            <p:ph type="body" sz="quarter" idx="11" hasCustomPrompt="1"/>
          </p:nvPr>
        </p:nvSpPr>
        <p:spPr>
          <a:xfrm>
            <a:off x="266700" y="1882873"/>
            <a:ext cx="5407025" cy="4667250"/>
          </a:xfrm>
        </p:spPr>
        <p:txBody>
          <a:bodyPr>
            <a:normAutofit/>
          </a:bodyPr>
          <a:lstStyle>
            <a:lvl1pPr marL="0" indent="0">
              <a:buFont typeface="Arial" panose="020B0604020202020204" pitchFamily="34" charset="0"/>
              <a:buChar char="•"/>
              <a:defRPr sz="1800"/>
            </a:lvl1pPr>
          </a:lstStyle>
          <a:p>
            <a:pPr lvl="0"/>
            <a:r>
              <a:rPr lang="en-US"/>
              <a:t> Summarize key takeaways and reflection points (max 4 bullet points)</a:t>
            </a:r>
          </a:p>
        </p:txBody>
      </p:sp>
      <p:sp>
        <p:nvSpPr>
          <p:cNvPr id="4" name="Online Image Placeholder 9">
            <a:extLst>
              <a:ext uri="{FF2B5EF4-FFF2-40B4-BE49-F238E27FC236}">
                <a16:creationId xmlns:a16="http://schemas.microsoft.com/office/drawing/2014/main" id="{36EFD7E8-35EB-4782-4215-2D2008F286D9}"/>
              </a:ext>
            </a:extLst>
          </p:cNvPr>
          <p:cNvSpPr>
            <a:spLocks noGrp="1"/>
          </p:cNvSpPr>
          <p:nvPr>
            <p:ph type="clipArt" sz="quarter" idx="10"/>
          </p:nvPr>
        </p:nvSpPr>
        <p:spPr>
          <a:xfrm>
            <a:off x="5673725" y="176213"/>
            <a:ext cx="6307138" cy="6435725"/>
          </a:xfrm>
        </p:spPr>
        <p:txBody>
          <a:bodyPr/>
          <a:lstStyle/>
          <a:p>
            <a:endParaRPr lang="en-US"/>
          </a:p>
        </p:txBody>
      </p:sp>
      <p:sp>
        <p:nvSpPr>
          <p:cNvPr id="3" name="Slide Number Placeholder 5">
            <a:extLst>
              <a:ext uri="{FF2B5EF4-FFF2-40B4-BE49-F238E27FC236}">
                <a16:creationId xmlns:a16="http://schemas.microsoft.com/office/drawing/2014/main" id="{C401D7B9-30AD-7586-A9BB-AD91165B9F99}"/>
              </a:ext>
            </a:extLst>
          </p:cNvPr>
          <p:cNvSpPr>
            <a:spLocks noGrp="1"/>
          </p:cNvSpPr>
          <p:nvPr>
            <p:ph type="sldNum" sz="quarter" idx="12"/>
          </p:nvPr>
        </p:nvSpPr>
        <p:spPr>
          <a:xfrm>
            <a:off x="9365513" y="6398855"/>
            <a:ext cx="2743200" cy="365125"/>
          </a:xfrm>
          <a:prstGeom prst="rect">
            <a:avLst/>
          </a:prstGeom>
        </p:spPr>
        <p:txBody>
          <a:bodyPr anchor="ctr"/>
          <a:lstStyle>
            <a:lvl1pPr algn="r">
              <a:defRPr sz="1800">
                <a:solidFill>
                  <a:schemeClr val="bg1"/>
                </a:solidFill>
              </a:defRPr>
            </a:lvl1pPr>
          </a:lstStyle>
          <a:p>
            <a:fld id="{F3469444-D02B-D446-9CF8-19DEDDE073D1}" type="slidenum">
              <a:rPr lang="en-US" smtClean="0"/>
              <a:pPr/>
              <a:t>‹#›</a:t>
            </a:fld>
            <a:endParaRPr lang="en-US" dirty="0"/>
          </a:p>
        </p:txBody>
      </p:sp>
    </p:spTree>
    <p:extLst>
      <p:ext uri="{BB962C8B-B14F-4D97-AF65-F5344CB8AC3E}">
        <p14:creationId xmlns:p14="http://schemas.microsoft.com/office/powerpoint/2010/main" val="33970261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F3C92-2FBB-449D-50AB-CC4F10C9B5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71A20D-1C9B-D1B0-8064-9F5C7A91D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0C38DEBF-78E4-CA6F-48BD-C6ACEE81C6B7}"/>
              </a:ext>
            </a:extLst>
          </p:cNvPr>
          <p:cNvSpPr>
            <a:spLocks noGrp="1"/>
          </p:cNvSpPr>
          <p:nvPr>
            <p:ph type="sldNum" sz="quarter" idx="4"/>
          </p:nvPr>
        </p:nvSpPr>
        <p:spPr>
          <a:xfrm>
            <a:off x="9365513" y="6398855"/>
            <a:ext cx="2743200" cy="365125"/>
          </a:xfrm>
          <a:prstGeom prst="rect">
            <a:avLst/>
          </a:prstGeom>
        </p:spPr>
        <p:txBody>
          <a:bodyPr anchor="ctr"/>
          <a:lstStyle>
            <a:lvl1pPr algn="r">
              <a:defRPr sz="1800">
                <a:solidFill>
                  <a:srgbClr val="5F5F5F"/>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3000988911"/>
      </p:ext>
    </p:extLst>
  </p:cSld>
  <p:clrMap bg1="lt1" tx1="dk1" bg2="lt2" tx2="dk2" accent1="accent1" accent2="accent2" accent3="accent3" accent4="accent4" accent5="accent5" accent6="accent6" hlink="hlink" folHlink="folHlink"/>
  <p:sldLayoutIdLst>
    <p:sldLayoutId id="2147483650" r:id="rId1"/>
    <p:sldLayoutId id="2147483668" r:id="rId2"/>
    <p:sldLayoutId id="2147483666" r:id="rId3"/>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Figtre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igtre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F3C92-2FBB-449D-50AB-CC4F10C9B5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71A20D-1C9B-D1B0-8064-9F5C7A91D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B3856B19-79FB-B1ED-63CC-F3E44EBC68CE}"/>
              </a:ext>
            </a:extLst>
          </p:cNvPr>
          <p:cNvSpPr>
            <a:spLocks noGrp="1"/>
          </p:cNvSpPr>
          <p:nvPr>
            <p:ph type="sldNum" sz="quarter" idx="4"/>
          </p:nvPr>
        </p:nvSpPr>
        <p:spPr>
          <a:xfrm>
            <a:off x="9365513" y="6398855"/>
            <a:ext cx="2743200" cy="365125"/>
          </a:xfrm>
          <a:prstGeom prst="rect">
            <a:avLst/>
          </a:prstGeom>
        </p:spPr>
        <p:txBody>
          <a:bodyPr anchor="ctr"/>
          <a:lstStyle>
            <a:lvl1pPr algn="r">
              <a:defRPr sz="1800">
                <a:solidFill>
                  <a:srgbClr val="5F5F5F"/>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1466148836"/>
      </p:ext>
    </p:extLst>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Figtre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igtre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F3C92-2FBB-449D-50AB-CC4F10C9B5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71A20D-1C9B-D1B0-8064-9F5C7A91D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5">
            <a:extLst>
              <a:ext uri="{FF2B5EF4-FFF2-40B4-BE49-F238E27FC236}">
                <a16:creationId xmlns:a16="http://schemas.microsoft.com/office/drawing/2014/main" id="{7163959D-A4A4-F0D8-844D-FE9C85425E59}"/>
              </a:ext>
            </a:extLst>
          </p:cNvPr>
          <p:cNvSpPr>
            <a:spLocks noGrp="1"/>
          </p:cNvSpPr>
          <p:nvPr>
            <p:ph type="sldNum" sz="quarter" idx="4"/>
          </p:nvPr>
        </p:nvSpPr>
        <p:spPr>
          <a:xfrm>
            <a:off x="9365513" y="6398855"/>
            <a:ext cx="2743200" cy="365125"/>
          </a:xfrm>
          <a:prstGeom prst="rect">
            <a:avLst/>
          </a:prstGeom>
        </p:spPr>
        <p:txBody>
          <a:bodyPr anchor="ctr"/>
          <a:lstStyle>
            <a:lvl1pPr algn="r">
              <a:defRPr sz="1800">
                <a:solidFill>
                  <a:srgbClr val="5F5F5F"/>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1347618931"/>
      </p:ext>
    </p:extLst>
  </p:cSld>
  <p:clrMap bg1="lt1" tx1="dk1" bg2="lt2" tx2="dk2" accent1="accent1" accent2="accent2" accent3="accent3" accent4="accent4" accent5="accent5" accent6="accent6" hlink="hlink" folHlink="folHlink"/>
  <p:sldLayoutIdLst>
    <p:sldLayoutId id="2147483672" r:id="rId1"/>
    <p:sldLayoutId id="2147483712" r:id="rId2"/>
    <p:sldLayoutId id="2147483673" r:id="rId3"/>
    <p:sldLayoutId id="2147483702" r:id="rId4"/>
    <p:sldLayoutId id="2147483674" r:id="rId5"/>
    <p:sldLayoutId id="2147483671" r:id="rId6"/>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Figtre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igtre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Slide Number Placeholder 5">
            <a:extLst>
              <a:ext uri="{FF2B5EF4-FFF2-40B4-BE49-F238E27FC236}">
                <a16:creationId xmlns:a16="http://schemas.microsoft.com/office/drawing/2014/main" id="{C50F5C58-CAD3-993E-1E10-F6D9835D9BE0}"/>
              </a:ext>
            </a:extLst>
          </p:cNvPr>
          <p:cNvSpPr>
            <a:spLocks noGrp="1"/>
          </p:cNvSpPr>
          <p:nvPr>
            <p:ph type="sldNum" sz="quarter" idx="4"/>
          </p:nvPr>
        </p:nvSpPr>
        <p:spPr>
          <a:xfrm>
            <a:off x="9365513" y="6398855"/>
            <a:ext cx="2743200" cy="365125"/>
          </a:xfrm>
          <a:prstGeom prst="rect">
            <a:avLst/>
          </a:prstGeom>
        </p:spPr>
        <p:txBody>
          <a:bodyPr anchor="ctr"/>
          <a:lstStyle>
            <a:lvl1pPr algn="r">
              <a:defRPr sz="1800">
                <a:solidFill>
                  <a:srgbClr val="5F5F5F"/>
                </a:solidFill>
              </a:defRPr>
            </a:lvl1pPr>
          </a:lstStyle>
          <a:p>
            <a:fld id="{F3469444-D02B-D446-9CF8-19DEDDE073D1}" type="slidenum">
              <a:rPr lang="en-US" smtClean="0"/>
              <a:pPr/>
              <a:t>‹#›</a:t>
            </a:fld>
            <a:endParaRPr lang="en-US" sz="1800" dirty="0"/>
          </a:p>
        </p:txBody>
      </p:sp>
    </p:spTree>
    <p:extLst>
      <p:ext uri="{BB962C8B-B14F-4D97-AF65-F5344CB8AC3E}">
        <p14:creationId xmlns:p14="http://schemas.microsoft.com/office/powerpoint/2010/main" val="263213702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1"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F3C92-2FBB-449D-50AB-CC4F10C9B5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71A20D-1C9B-D1B0-8064-9F5C7A91D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0F46FE13-7F4E-8EE3-9C43-AFD026578943}"/>
              </a:ext>
            </a:extLst>
          </p:cNvPr>
          <p:cNvSpPr>
            <a:spLocks noGrp="1"/>
          </p:cNvSpPr>
          <p:nvPr>
            <p:ph type="sldNum" sz="quarter" idx="4"/>
          </p:nvPr>
        </p:nvSpPr>
        <p:spPr>
          <a:xfrm>
            <a:off x="9365513" y="6398855"/>
            <a:ext cx="2743200" cy="365125"/>
          </a:xfrm>
          <a:prstGeom prst="rect">
            <a:avLst/>
          </a:prstGeom>
        </p:spPr>
        <p:txBody>
          <a:bodyPr anchor="ctr"/>
          <a:lstStyle>
            <a:lvl1pPr algn="r">
              <a:defRPr sz="1800">
                <a:solidFill>
                  <a:srgbClr val="5F5F5F"/>
                </a:solidFill>
                <a:latin typeface="Figtree" pitchFamily="2" charset="0"/>
              </a:defRPr>
            </a:lvl1pPr>
          </a:lstStyle>
          <a:p>
            <a:fld id="{F3469444-D02B-D446-9CF8-19DEDDE073D1}" type="slidenum">
              <a:rPr lang="en-US" smtClean="0"/>
              <a:pPr/>
              <a:t>‹#›</a:t>
            </a:fld>
            <a:endParaRPr lang="en-US" dirty="0">
              <a:latin typeface="Figtree" pitchFamily="2" charset="0"/>
            </a:endParaRPr>
          </a:p>
        </p:txBody>
      </p:sp>
    </p:spTree>
    <p:extLst>
      <p:ext uri="{BB962C8B-B14F-4D97-AF65-F5344CB8AC3E}">
        <p14:creationId xmlns:p14="http://schemas.microsoft.com/office/powerpoint/2010/main" val="3512500001"/>
      </p:ext>
    </p:extLst>
  </p:cSld>
  <p:clrMap bg1="lt1" tx1="dk1" bg2="lt2" tx2="dk2" accent1="accent1" accent2="accent2" accent3="accent3" accent4="accent4" accent5="accent5" accent6="accent6" hlink="hlink" folHlink="folHlink"/>
  <p:sldLayoutIdLst>
    <p:sldLayoutId id="2147483701" r:id="rId1"/>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Figtre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igtre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A_646401AC.xm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30_FC381D7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D565527-E1C4-7452-595A-CA9C8C962B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4105" y="1030524"/>
            <a:ext cx="6482974" cy="4913069"/>
          </a:xfrm>
          <a:prstGeom prst="rect">
            <a:avLst/>
          </a:prstGeom>
        </p:spPr>
      </p:pic>
      <p:sp>
        <p:nvSpPr>
          <p:cNvPr id="2" name="Subtitle 1">
            <a:extLst>
              <a:ext uri="{FF2B5EF4-FFF2-40B4-BE49-F238E27FC236}">
                <a16:creationId xmlns:a16="http://schemas.microsoft.com/office/drawing/2014/main" id="{EC82DA06-4098-DFB4-D788-97B7A842C9B4}"/>
              </a:ext>
            </a:extLst>
          </p:cNvPr>
          <p:cNvSpPr>
            <a:spLocks noGrp="1"/>
          </p:cNvSpPr>
          <p:nvPr>
            <p:ph type="subTitle" idx="1"/>
          </p:nvPr>
        </p:nvSpPr>
        <p:spPr/>
        <p:txBody>
          <a:bodyPr/>
          <a:lstStyle/>
          <a:p>
            <a:r>
              <a:rPr lang="en-GB" dirty="0"/>
              <a:t>Spend Less, Ship the Same</a:t>
            </a:r>
          </a:p>
        </p:txBody>
      </p:sp>
      <p:sp>
        <p:nvSpPr>
          <p:cNvPr id="3" name="Content Placeholder 2">
            <a:extLst>
              <a:ext uri="{FF2B5EF4-FFF2-40B4-BE49-F238E27FC236}">
                <a16:creationId xmlns:a16="http://schemas.microsoft.com/office/drawing/2014/main" id="{D2385FD2-49AE-423C-219B-93001BD94A3F}"/>
              </a:ext>
            </a:extLst>
          </p:cNvPr>
          <p:cNvSpPr>
            <a:spLocks noGrp="1"/>
          </p:cNvSpPr>
          <p:nvPr>
            <p:ph idx="10"/>
          </p:nvPr>
        </p:nvSpPr>
        <p:spPr>
          <a:xfrm>
            <a:off x="271676" y="3151775"/>
            <a:ext cx="5302429" cy="1222437"/>
          </a:xfrm>
        </p:spPr>
        <p:txBody>
          <a:bodyPr/>
          <a:lstStyle/>
          <a:p>
            <a:r>
              <a:rPr lang="en-GB" dirty="0"/>
              <a:t>Reduce GitHub Copilot token usage without reducing delivery quality.</a:t>
            </a:r>
          </a:p>
          <a:p>
            <a:endParaRPr lang="en-GB" dirty="0"/>
          </a:p>
        </p:txBody>
      </p:sp>
    </p:spTree>
    <p:extLst>
      <p:ext uri="{BB962C8B-B14F-4D97-AF65-F5344CB8AC3E}">
        <p14:creationId xmlns:p14="http://schemas.microsoft.com/office/powerpoint/2010/main" val="653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56CB211-432F-C95B-7A38-85D118EA43DC}"/>
              </a:ext>
            </a:extLst>
          </p:cNvPr>
          <p:cNvSpPr>
            <a:spLocks noGrp="1"/>
          </p:cNvSpPr>
          <p:nvPr>
            <p:ph type="body" sz="quarter" idx="11"/>
          </p:nvPr>
        </p:nvSpPr>
        <p:spPr/>
        <p:txBody>
          <a:bodyPr/>
          <a:lstStyle/>
          <a:p>
            <a:pPr marL="342900" lvl="0" indent="-342900" fontAlgn="t"/>
            <a:r>
              <a:rPr lang="en-GB" dirty="0"/>
              <a:t>See what Copilot is using</a:t>
            </a:r>
          </a:p>
          <a:p>
            <a:pPr marL="342900" lvl="0" indent="-342900" fontAlgn="t"/>
            <a:r>
              <a:rPr lang="en-GB" dirty="0"/>
              <a:t>Identify avoidable token consumption</a:t>
            </a:r>
          </a:p>
          <a:p>
            <a:pPr marL="342900" lvl="0" indent="-342900" fontAlgn="t"/>
            <a:r>
              <a:rPr lang="en-GB" dirty="0"/>
              <a:t>Make lower-cost working decisions</a:t>
            </a:r>
          </a:p>
          <a:p>
            <a:pPr marL="342900" lvl="0" indent="-342900" fontAlgn="t"/>
            <a:r>
              <a:rPr lang="en-GB" dirty="0"/>
              <a:t>Apply the approach in two online labs</a:t>
            </a:r>
          </a:p>
          <a:p>
            <a:endParaRPr lang="en-US" dirty="0"/>
          </a:p>
        </p:txBody>
      </p:sp>
      <p:sp>
        <p:nvSpPr>
          <p:cNvPr id="2" name="Slide Number Placeholder 1">
            <a:extLst>
              <a:ext uri="{FF2B5EF4-FFF2-40B4-BE49-F238E27FC236}">
                <a16:creationId xmlns:a16="http://schemas.microsoft.com/office/drawing/2014/main" id="{C2B3D57D-B461-A091-2B71-59E05FBA8555}"/>
              </a:ext>
            </a:extLst>
          </p:cNvPr>
          <p:cNvSpPr>
            <a:spLocks noGrp="1"/>
          </p:cNvSpPr>
          <p:nvPr>
            <p:ph type="sldNum" sz="quarter" idx="12"/>
          </p:nvPr>
        </p:nvSpPr>
        <p:spPr>
          <a:xfrm>
            <a:off x="9365513" y="6398855"/>
            <a:ext cx="2743200" cy="365125"/>
          </a:xfrm>
        </p:spPr>
        <p:txBody>
          <a:bodyPr/>
          <a:lstStyle/>
          <a:p>
            <a:fld id="{E52BD8A3-C60D-442A-88EB-F4F42F9FC9F0}" type="slidenum">
              <a:rPr lang="en-US" smtClean="0"/>
              <a:pPr/>
              <a:t>2</a:t>
            </a:fld>
            <a:endParaRPr lang="en-US"/>
          </a:p>
        </p:txBody>
      </p:sp>
    </p:spTree>
    <p:extLst>
      <p:ext uri="{BB962C8B-B14F-4D97-AF65-F5344CB8AC3E}">
        <p14:creationId xmlns:p14="http://schemas.microsoft.com/office/powerpoint/2010/main" val="69397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B199-BEDA-C837-D75F-CF5058EC211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D0F4D82B-4FD7-0338-C4F7-19BEE97EF005}"/>
              </a:ext>
            </a:extLst>
          </p:cNvPr>
          <p:cNvSpPr>
            <a:spLocks noGrp="1"/>
          </p:cNvSpPr>
          <p:nvPr>
            <p:ph type="body" sz="quarter" idx="11"/>
          </p:nvPr>
        </p:nvSpPr>
        <p:spPr>
          <a:xfrm>
            <a:off x="233649" y="2594020"/>
            <a:ext cx="5407025" cy="2451706"/>
          </a:xfrm>
        </p:spPr>
        <p:txBody>
          <a:bodyPr/>
          <a:lstStyle/>
          <a:p>
            <a:pPr fontAlgn="t"/>
            <a:r>
              <a:rPr lang="en-GB" dirty="0"/>
              <a:t>Identify the main sources of unnecessary GitHub Copilot token consumption using context, usage, and file-size evidence.</a:t>
            </a:r>
          </a:p>
          <a:p>
            <a:pPr fontAlgn="t"/>
            <a:r>
              <a:rPr lang="en-GB" dirty="0"/>
              <a:t>Optimize a GitHub Copilot interaction to reduce token consumption while maintaining the required output quality.</a:t>
            </a:r>
          </a:p>
        </p:txBody>
      </p:sp>
      <p:sp>
        <p:nvSpPr>
          <p:cNvPr id="2" name="Slide Number Placeholder 1">
            <a:extLst>
              <a:ext uri="{FF2B5EF4-FFF2-40B4-BE49-F238E27FC236}">
                <a16:creationId xmlns:a16="http://schemas.microsoft.com/office/drawing/2014/main" id="{42E2AB48-7411-061D-96C1-9EF8949F7768}"/>
              </a:ext>
            </a:extLst>
          </p:cNvPr>
          <p:cNvSpPr>
            <a:spLocks noGrp="1"/>
          </p:cNvSpPr>
          <p:nvPr>
            <p:ph type="sldNum" sz="quarter" idx="12"/>
          </p:nvPr>
        </p:nvSpPr>
        <p:spPr>
          <a:xfrm>
            <a:off x="9365513" y="6398855"/>
            <a:ext cx="2743200" cy="365125"/>
          </a:xfrm>
        </p:spPr>
        <p:txBody>
          <a:bodyPr/>
          <a:lstStyle/>
          <a:p>
            <a:fld id="{E52BD8A3-C60D-442A-88EB-F4F42F9FC9F0}" type="slidenum">
              <a:rPr lang="en-US" smtClean="0"/>
              <a:pPr/>
              <a:t>3</a:t>
            </a:fld>
            <a:endParaRPr lang="en-US"/>
          </a:p>
        </p:txBody>
      </p:sp>
    </p:spTree>
    <p:extLst>
      <p:ext uri="{BB962C8B-B14F-4D97-AF65-F5344CB8AC3E}">
        <p14:creationId xmlns:p14="http://schemas.microsoft.com/office/powerpoint/2010/main" val="4144818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Image Placeholder 3" descr="Iceberg with solid fill">
            <a:extLst>
              <a:ext uri="{FF2B5EF4-FFF2-40B4-BE49-F238E27FC236}">
                <a16:creationId xmlns:a16="http://schemas.microsoft.com/office/drawing/2014/main" id="{B7E8CE2A-7A5F-A7BD-8391-5452893D607E}"/>
              </a:ext>
            </a:extLst>
          </p:cNvPr>
          <p:cNvPicPr>
            <a:picLocks noGrp="1" noChangeAspect="1"/>
          </p:cNvPicPr>
          <p:nvPr>
            <p:ph type="clipArt" sz="quarter" idx="10"/>
          </p:nvPr>
        </p:nvPicPr>
        <p:blipFill>
          <a:blip>
            <a:extLst>
              <a:ext uri="{96DAC541-7B7A-43D3-8B79-37D633B846F1}">
                <asvg:svgBlip xmlns:asvg="http://schemas.microsoft.com/office/drawing/2016/SVG/main" r:embed="rId2"/>
              </a:ext>
            </a:extLst>
          </a:blip>
          <a:stretch>
            <a:fillRect/>
          </a:stretch>
        </p:blipFill>
        <p:spPr>
          <a:xfrm>
            <a:off x="7059086" y="1504682"/>
            <a:ext cx="4113920" cy="4113920"/>
          </a:xfrm>
        </p:spPr>
      </p:pic>
      <p:sp>
        <p:nvSpPr>
          <p:cNvPr id="5" name="Title 4">
            <a:extLst>
              <a:ext uri="{FF2B5EF4-FFF2-40B4-BE49-F238E27FC236}">
                <a16:creationId xmlns:a16="http://schemas.microsoft.com/office/drawing/2014/main" id="{196C6651-12DB-C35A-0EBE-6132A2016E1B}"/>
              </a:ext>
            </a:extLst>
          </p:cNvPr>
          <p:cNvSpPr>
            <a:spLocks noGrp="1"/>
          </p:cNvSpPr>
          <p:nvPr>
            <p:ph type="title"/>
          </p:nvPr>
        </p:nvSpPr>
        <p:spPr/>
        <p:txBody>
          <a:bodyPr/>
          <a:lstStyle/>
          <a:p>
            <a:r>
              <a:rPr lang="en-US" dirty="0"/>
              <a:t>The Problem</a:t>
            </a:r>
          </a:p>
        </p:txBody>
      </p:sp>
      <p:sp>
        <p:nvSpPr>
          <p:cNvPr id="2" name="Slide Number Placeholder 1">
            <a:extLst>
              <a:ext uri="{FF2B5EF4-FFF2-40B4-BE49-F238E27FC236}">
                <a16:creationId xmlns:a16="http://schemas.microsoft.com/office/drawing/2014/main" id="{D4071ABC-4F76-32E6-F9B9-0AFDF6274DCC}"/>
              </a:ext>
            </a:extLst>
          </p:cNvPr>
          <p:cNvSpPr>
            <a:spLocks noGrp="1"/>
          </p:cNvSpPr>
          <p:nvPr>
            <p:ph type="sldNum" sz="quarter" idx="12"/>
          </p:nvPr>
        </p:nvSpPr>
        <p:spPr>
          <a:xfrm>
            <a:off x="9365513" y="6398855"/>
            <a:ext cx="2743200" cy="365125"/>
          </a:xfrm>
        </p:spPr>
        <p:txBody>
          <a:bodyPr/>
          <a:lstStyle/>
          <a:p>
            <a:fld id="{48ECD659-E04B-4C58-A509-92B8302CE327}" type="slidenum">
              <a:rPr lang="en-US" smtClean="0"/>
              <a:pPr/>
              <a:t>4</a:t>
            </a:fld>
            <a:endParaRPr lang="en-US"/>
          </a:p>
        </p:txBody>
      </p:sp>
    </p:spTree>
    <p:extLst>
      <p:ext uri="{BB962C8B-B14F-4D97-AF65-F5344CB8AC3E}">
        <p14:creationId xmlns:p14="http://schemas.microsoft.com/office/powerpoint/2010/main" val="1310881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DF21DF-5316-BAC3-9225-86EDEF2A83DC}"/>
              </a:ext>
            </a:extLst>
          </p:cNvPr>
          <p:cNvSpPr>
            <a:spLocks noGrp="1"/>
          </p:cNvSpPr>
          <p:nvPr>
            <p:ph type="ctrTitle"/>
          </p:nvPr>
        </p:nvSpPr>
        <p:spPr/>
        <p:txBody>
          <a:bodyPr/>
          <a:lstStyle/>
          <a:p>
            <a:r>
              <a:rPr lang="en-GB" b="0" dirty="0"/>
              <a:t>Copilot can consume more than the task requires</a:t>
            </a:r>
            <a:endParaRPr lang="en-US" dirty="0"/>
          </a:p>
        </p:txBody>
      </p:sp>
      <p:sp>
        <p:nvSpPr>
          <p:cNvPr id="2" name="Slide Number Placeholder 1">
            <a:extLst>
              <a:ext uri="{FF2B5EF4-FFF2-40B4-BE49-F238E27FC236}">
                <a16:creationId xmlns:a16="http://schemas.microsoft.com/office/drawing/2014/main" id="{BBB1A0B5-85BD-464A-EB38-9C24D2711575}"/>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5</a:t>
            </a:fld>
            <a:endParaRPr lang="en-US"/>
          </a:p>
        </p:txBody>
      </p:sp>
      <p:sp>
        <p:nvSpPr>
          <p:cNvPr id="3" name="Rectangle: Rounded Corners 2">
            <a:extLst>
              <a:ext uri="{FF2B5EF4-FFF2-40B4-BE49-F238E27FC236}">
                <a16:creationId xmlns:a16="http://schemas.microsoft.com/office/drawing/2014/main" id="{305781BA-C658-FCB6-6EC8-6C49B8DB1A08}"/>
              </a:ext>
            </a:extLst>
          </p:cNvPr>
          <p:cNvSpPr/>
          <p:nvPr/>
        </p:nvSpPr>
        <p:spPr>
          <a:xfrm>
            <a:off x="554089" y="1627044"/>
            <a:ext cx="3259490" cy="858985"/>
          </a:xfrm>
          <a:prstGeom prst="roundRect">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Your Prompt</a:t>
            </a:r>
          </a:p>
        </p:txBody>
      </p:sp>
      <p:sp>
        <p:nvSpPr>
          <p:cNvPr id="4" name="Arrow: Bent-Up 3">
            <a:extLst>
              <a:ext uri="{FF2B5EF4-FFF2-40B4-BE49-F238E27FC236}">
                <a16:creationId xmlns:a16="http://schemas.microsoft.com/office/drawing/2014/main" id="{C4475807-BB1A-6F68-52FF-B6ACA8058847}"/>
              </a:ext>
            </a:extLst>
          </p:cNvPr>
          <p:cNvSpPr/>
          <p:nvPr/>
        </p:nvSpPr>
        <p:spPr>
          <a:xfrm rot="5400000">
            <a:off x="2466311" y="2126432"/>
            <a:ext cx="589319" cy="1308513"/>
          </a:xfrm>
          <a:prstGeom prst="bentUpArrow">
            <a:avLst>
              <a:gd name="adj1" fmla="val 13784"/>
              <a:gd name="adj2" fmla="val 25000"/>
              <a:gd name="adj3" fmla="val 41825"/>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70782E8E-D844-9F30-820C-01A2DC9211EE}"/>
              </a:ext>
            </a:extLst>
          </p:cNvPr>
          <p:cNvSpPr/>
          <p:nvPr/>
        </p:nvSpPr>
        <p:spPr>
          <a:xfrm>
            <a:off x="3538156" y="2720843"/>
            <a:ext cx="3259490" cy="429493"/>
          </a:xfrm>
          <a:prstGeom prst="roundRect">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Model selected</a:t>
            </a:r>
          </a:p>
        </p:txBody>
      </p:sp>
      <p:sp>
        <p:nvSpPr>
          <p:cNvPr id="8" name="Arrow: Bent-Up 7">
            <a:extLst>
              <a:ext uri="{FF2B5EF4-FFF2-40B4-BE49-F238E27FC236}">
                <a16:creationId xmlns:a16="http://schemas.microsoft.com/office/drawing/2014/main" id="{BDDBC50F-EB87-B3AA-B1EA-8D83FF8AD12C}"/>
              </a:ext>
            </a:extLst>
          </p:cNvPr>
          <p:cNvSpPr/>
          <p:nvPr/>
        </p:nvSpPr>
        <p:spPr>
          <a:xfrm rot="5400000">
            <a:off x="2916166" y="2730893"/>
            <a:ext cx="589319" cy="1308513"/>
          </a:xfrm>
          <a:prstGeom prst="bentUpArrow">
            <a:avLst>
              <a:gd name="adj1" fmla="val 13784"/>
              <a:gd name="adj2" fmla="val 25000"/>
              <a:gd name="adj3" fmla="val 41825"/>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DA9D1A1E-34B5-D908-1343-A08618F8569D}"/>
              </a:ext>
            </a:extLst>
          </p:cNvPr>
          <p:cNvSpPr/>
          <p:nvPr/>
        </p:nvSpPr>
        <p:spPr>
          <a:xfrm>
            <a:off x="4021062" y="3234104"/>
            <a:ext cx="3259490" cy="589320"/>
          </a:xfrm>
          <a:prstGeom prst="roundRect">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Instructions + tools + MCP = History + files</a:t>
            </a:r>
          </a:p>
        </p:txBody>
      </p:sp>
      <p:sp>
        <p:nvSpPr>
          <p:cNvPr id="10" name="Rectangle: Rounded Corners 9">
            <a:extLst>
              <a:ext uri="{FF2B5EF4-FFF2-40B4-BE49-F238E27FC236}">
                <a16:creationId xmlns:a16="http://schemas.microsoft.com/office/drawing/2014/main" id="{B1FF4279-223A-EB46-0A2F-03925EF4A8EC}"/>
              </a:ext>
            </a:extLst>
          </p:cNvPr>
          <p:cNvSpPr/>
          <p:nvPr/>
        </p:nvSpPr>
        <p:spPr>
          <a:xfrm>
            <a:off x="4551473" y="3907192"/>
            <a:ext cx="3259490" cy="549723"/>
          </a:xfrm>
          <a:prstGeom prst="roundRect">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Cached prefix reused when stable</a:t>
            </a:r>
          </a:p>
        </p:txBody>
      </p:sp>
      <p:sp>
        <p:nvSpPr>
          <p:cNvPr id="11" name="Arrow: Bent-Up 10">
            <a:extLst>
              <a:ext uri="{FF2B5EF4-FFF2-40B4-BE49-F238E27FC236}">
                <a16:creationId xmlns:a16="http://schemas.microsoft.com/office/drawing/2014/main" id="{9D9304DB-3827-3F50-A77E-FB92169A6E68}"/>
              </a:ext>
            </a:extLst>
          </p:cNvPr>
          <p:cNvSpPr/>
          <p:nvPr/>
        </p:nvSpPr>
        <p:spPr>
          <a:xfrm rot="5400000">
            <a:off x="3432123" y="3365593"/>
            <a:ext cx="589319" cy="1308513"/>
          </a:xfrm>
          <a:prstGeom prst="bentUpArrow">
            <a:avLst>
              <a:gd name="adj1" fmla="val 13784"/>
              <a:gd name="adj2" fmla="val 25000"/>
              <a:gd name="adj3" fmla="val 41825"/>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3876201B-A8D9-2275-3563-3FCB79089A7E}"/>
              </a:ext>
            </a:extLst>
          </p:cNvPr>
          <p:cNvSpPr/>
          <p:nvPr/>
        </p:nvSpPr>
        <p:spPr>
          <a:xfrm>
            <a:off x="5045631" y="4586499"/>
            <a:ext cx="3259490" cy="429493"/>
          </a:xfrm>
          <a:prstGeom prst="roundRect">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Response generated</a:t>
            </a:r>
          </a:p>
        </p:txBody>
      </p:sp>
      <p:sp>
        <p:nvSpPr>
          <p:cNvPr id="13" name="Arrow: Bent-Up 12">
            <a:extLst>
              <a:ext uri="{FF2B5EF4-FFF2-40B4-BE49-F238E27FC236}">
                <a16:creationId xmlns:a16="http://schemas.microsoft.com/office/drawing/2014/main" id="{F707E2A5-A9C2-94BD-70A2-11EC572B2E78}"/>
              </a:ext>
            </a:extLst>
          </p:cNvPr>
          <p:cNvSpPr/>
          <p:nvPr/>
        </p:nvSpPr>
        <p:spPr>
          <a:xfrm rot="5400000">
            <a:off x="3989464" y="4000291"/>
            <a:ext cx="589319" cy="1308513"/>
          </a:xfrm>
          <a:prstGeom prst="bentUpArrow">
            <a:avLst>
              <a:gd name="adj1" fmla="val 13784"/>
              <a:gd name="adj2" fmla="val 25000"/>
              <a:gd name="adj3" fmla="val 41825"/>
            </a:avLst>
          </a:prstGeom>
          <a:solidFill>
            <a:srgbClr val="69CB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C7FFD01-B9F5-A8D2-F308-C34686E6FC5B}"/>
              </a:ext>
            </a:extLst>
          </p:cNvPr>
          <p:cNvSpPr txBox="1"/>
          <p:nvPr/>
        </p:nvSpPr>
        <p:spPr>
          <a:xfrm>
            <a:off x="2450005" y="5475525"/>
            <a:ext cx="6097836" cy="923330"/>
          </a:xfrm>
          <a:prstGeom prst="rect">
            <a:avLst/>
          </a:prstGeom>
          <a:noFill/>
        </p:spPr>
        <p:txBody>
          <a:bodyPr wrap="square">
            <a:spAutoFit/>
          </a:bodyPr>
          <a:lstStyle/>
          <a:p>
            <a:pPr>
              <a:buNone/>
            </a:pPr>
            <a:r>
              <a:rPr lang="en-GB" dirty="0"/>
              <a:t>Input tokens = everything Copilot reads</a:t>
            </a:r>
            <a:br>
              <a:rPr lang="en-GB" dirty="0"/>
            </a:br>
            <a:r>
              <a:rPr lang="en-GB" dirty="0"/>
              <a:t>Output tokens = everything Copilot writes</a:t>
            </a:r>
            <a:br>
              <a:rPr lang="en-GB" dirty="0"/>
            </a:br>
            <a:r>
              <a:rPr lang="en-GB" dirty="0"/>
              <a:t>Cached input = stable context that can be reused</a:t>
            </a:r>
          </a:p>
        </p:txBody>
      </p:sp>
    </p:spTree>
    <p:extLst>
      <p:ext uri="{BB962C8B-B14F-4D97-AF65-F5344CB8AC3E}">
        <p14:creationId xmlns:p14="http://schemas.microsoft.com/office/powerpoint/2010/main" val="4103444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ACCB-892E-973F-B287-85CA5003F9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BF7D5DC-B028-24BF-1A25-07558AC069AB}"/>
              </a:ext>
            </a:extLst>
          </p:cNvPr>
          <p:cNvSpPr>
            <a:spLocks noGrp="1"/>
          </p:cNvSpPr>
          <p:nvPr>
            <p:ph type="ctrTitle"/>
          </p:nvPr>
        </p:nvSpPr>
        <p:spPr>
          <a:xfrm>
            <a:off x="433629" y="325431"/>
            <a:ext cx="10800000" cy="858985"/>
          </a:xfrm>
        </p:spPr>
        <p:txBody>
          <a:bodyPr/>
          <a:lstStyle/>
          <a:p>
            <a:pPr fontAlgn="t"/>
            <a:r>
              <a:rPr lang="en-GB" b="0" dirty="0"/>
              <a:t>Six decisions influence the spend</a:t>
            </a:r>
          </a:p>
        </p:txBody>
      </p:sp>
      <p:sp>
        <p:nvSpPr>
          <p:cNvPr id="2" name="Slide Number Placeholder 1">
            <a:extLst>
              <a:ext uri="{FF2B5EF4-FFF2-40B4-BE49-F238E27FC236}">
                <a16:creationId xmlns:a16="http://schemas.microsoft.com/office/drawing/2014/main" id="{61A7835E-0821-BD6E-AAEF-BEB552820119}"/>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6</a:t>
            </a:fld>
            <a:endParaRPr lang="en-US"/>
          </a:p>
        </p:txBody>
      </p:sp>
      <p:pic>
        <p:nvPicPr>
          <p:cNvPr id="17" name="Graphic 16" descr="Toggle with solid fill">
            <a:extLst>
              <a:ext uri="{FF2B5EF4-FFF2-40B4-BE49-F238E27FC236}">
                <a16:creationId xmlns:a16="http://schemas.microsoft.com/office/drawing/2014/main" id="{A66635CF-E972-F321-7512-E386766CBF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717" y="1133461"/>
            <a:ext cx="914400" cy="914400"/>
          </a:xfrm>
          <a:prstGeom prst="rect">
            <a:avLst/>
          </a:prstGeom>
        </p:spPr>
      </p:pic>
      <p:sp>
        <p:nvSpPr>
          <p:cNvPr id="19" name="TextBox 18">
            <a:extLst>
              <a:ext uri="{FF2B5EF4-FFF2-40B4-BE49-F238E27FC236}">
                <a16:creationId xmlns:a16="http://schemas.microsoft.com/office/drawing/2014/main" id="{85BE65CC-9D95-E1EA-3B27-D931B678FEA8}"/>
              </a:ext>
            </a:extLst>
          </p:cNvPr>
          <p:cNvSpPr txBox="1"/>
          <p:nvPr/>
        </p:nvSpPr>
        <p:spPr>
          <a:xfrm>
            <a:off x="1242117" y="1355517"/>
            <a:ext cx="6097836" cy="461665"/>
          </a:xfrm>
          <a:prstGeom prst="rect">
            <a:avLst/>
          </a:prstGeom>
          <a:noFill/>
        </p:spPr>
        <p:txBody>
          <a:bodyPr wrap="square">
            <a:spAutoFit/>
          </a:bodyPr>
          <a:lstStyle/>
          <a:p>
            <a:pPr>
              <a:buNone/>
            </a:pPr>
            <a:r>
              <a:rPr lang="en-GB" sz="2400" dirty="0"/>
              <a:t>Context – What is loaded?</a:t>
            </a:r>
            <a:endParaRPr lang="en-GB" dirty="0"/>
          </a:p>
        </p:txBody>
      </p:sp>
      <p:pic>
        <p:nvPicPr>
          <p:cNvPr id="20" name="Graphic 19" descr="Toggle with solid fill">
            <a:extLst>
              <a:ext uri="{FF2B5EF4-FFF2-40B4-BE49-F238E27FC236}">
                <a16:creationId xmlns:a16="http://schemas.microsoft.com/office/drawing/2014/main" id="{0ED53771-F49F-290F-6785-59B81447EB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7309" y="1890537"/>
            <a:ext cx="914400" cy="914400"/>
          </a:xfrm>
          <a:prstGeom prst="rect">
            <a:avLst/>
          </a:prstGeom>
        </p:spPr>
      </p:pic>
      <p:sp>
        <p:nvSpPr>
          <p:cNvPr id="21" name="TextBox 20">
            <a:extLst>
              <a:ext uri="{FF2B5EF4-FFF2-40B4-BE49-F238E27FC236}">
                <a16:creationId xmlns:a16="http://schemas.microsoft.com/office/drawing/2014/main" id="{321DC6E8-A79D-6763-5A06-B87ABCE2DC8E}"/>
              </a:ext>
            </a:extLst>
          </p:cNvPr>
          <p:cNvSpPr txBox="1"/>
          <p:nvPr/>
        </p:nvSpPr>
        <p:spPr>
          <a:xfrm>
            <a:off x="1488688" y="2139455"/>
            <a:ext cx="6097836" cy="461665"/>
          </a:xfrm>
          <a:prstGeom prst="rect">
            <a:avLst/>
          </a:prstGeom>
          <a:noFill/>
        </p:spPr>
        <p:txBody>
          <a:bodyPr wrap="square">
            <a:spAutoFit/>
          </a:bodyPr>
          <a:lstStyle/>
          <a:p>
            <a:pPr>
              <a:buNone/>
            </a:pPr>
            <a:r>
              <a:rPr lang="en-GB" sz="2400" dirty="0"/>
              <a:t>Instructions – what is always included?</a:t>
            </a:r>
            <a:endParaRPr lang="en-GB" dirty="0"/>
          </a:p>
        </p:txBody>
      </p:sp>
      <p:sp>
        <p:nvSpPr>
          <p:cNvPr id="23" name="TextBox 22">
            <a:extLst>
              <a:ext uri="{FF2B5EF4-FFF2-40B4-BE49-F238E27FC236}">
                <a16:creationId xmlns:a16="http://schemas.microsoft.com/office/drawing/2014/main" id="{C20E5976-FD40-6C83-CA45-A61A2C6CCA85}"/>
              </a:ext>
            </a:extLst>
          </p:cNvPr>
          <p:cNvSpPr txBox="1"/>
          <p:nvPr/>
        </p:nvSpPr>
        <p:spPr>
          <a:xfrm>
            <a:off x="1870311" y="2895358"/>
            <a:ext cx="6097836" cy="461665"/>
          </a:xfrm>
          <a:prstGeom prst="rect">
            <a:avLst/>
          </a:prstGeom>
          <a:noFill/>
        </p:spPr>
        <p:txBody>
          <a:bodyPr wrap="square">
            <a:spAutoFit/>
          </a:bodyPr>
          <a:lstStyle/>
          <a:p>
            <a:pPr>
              <a:buNone/>
            </a:pPr>
            <a:r>
              <a:rPr lang="en-GB" sz="2400" dirty="0"/>
              <a:t>Conversation – Is the history still useful?</a:t>
            </a:r>
            <a:endParaRPr lang="en-GB" dirty="0"/>
          </a:p>
        </p:txBody>
      </p:sp>
      <p:pic>
        <p:nvPicPr>
          <p:cNvPr id="26" name="Graphic 25" descr="Toggle with solid fill">
            <a:extLst>
              <a:ext uri="{FF2B5EF4-FFF2-40B4-BE49-F238E27FC236}">
                <a16:creationId xmlns:a16="http://schemas.microsoft.com/office/drawing/2014/main" id="{5E238500-262A-D1BD-86D0-07EAFA0151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5911" y="2668990"/>
            <a:ext cx="914400" cy="914400"/>
          </a:xfrm>
          <a:prstGeom prst="rect">
            <a:avLst/>
          </a:prstGeom>
        </p:spPr>
      </p:pic>
      <p:pic>
        <p:nvPicPr>
          <p:cNvPr id="27" name="Graphic 26" descr="Toggle with solid fill">
            <a:extLst>
              <a:ext uri="{FF2B5EF4-FFF2-40B4-BE49-F238E27FC236}">
                <a16:creationId xmlns:a16="http://schemas.microsoft.com/office/drawing/2014/main" id="{48C9CD2A-58B8-D425-664C-92660B92A5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2117" y="3426066"/>
            <a:ext cx="914400" cy="914400"/>
          </a:xfrm>
          <a:prstGeom prst="rect">
            <a:avLst/>
          </a:prstGeom>
        </p:spPr>
      </p:pic>
      <p:sp>
        <p:nvSpPr>
          <p:cNvPr id="28" name="TextBox 27">
            <a:extLst>
              <a:ext uri="{FF2B5EF4-FFF2-40B4-BE49-F238E27FC236}">
                <a16:creationId xmlns:a16="http://schemas.microsoft.com/office/drawing/2014/main" id="{801E24FB-914C-0969-C696-A3D96818C58F}"/>
              </a:ext>
            </a:extLst>
          </p:cNvPr>
          <p:cNvSpPr txBox="1"/>
          <p:nvPr/>
        </p:nvSpPr>
        <p:spPr>
          <a:xfrm>
            <a:off x="2156517" y="3648122"/>
            <a:ext cx="6097836" cy="461665"/>
          </a:xfrm>
          <a:prstGeom prst="rect">
            <a:avLst/>
          </a:prstGeom>
          <a:noFill/>
        </p:spPr>
        <p:txBody>
          <a:bodyPr wrap="square">
            <a:spAutoFit/>
          </a:bodyPr>
          <a:lstStyle/>
          <a:p>
            <a:pPr>
              <a:buNone/>
            </a:pPr>
            <a:r>
              <a:rPr lang="en-GB" sz="2400" dirty="0"/>
              <a:t>Mode – Does the task require Ask or Agent?</a:t>
            </a:r>
            <a:endParaRPr lang="en-GB" dirty="0"/>
          </a:p>
        </p:txBody>
      </p:sp>
      <p:pic>
        <p:nvPicPr>
          <p:cNvPr id="29" name="Graphic 28" descr="Toggle with solid fill">
            <a:extLst>
              <a:ext uri="{FF2B5EF4-FFF2-40B4-BE49-F238E27FC236}">
                <a16:creationId xmlns:a16="http://schemas.microsoft.com/office/drawing/2014/main" id="{57A39926-9457-7FA3-752C-9A84BAAADC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61709" y="4183142"/>
            <a:ext cx="914400" cy="914400"/>
          </a:xfrm>
          <a:prstGeom prst="rect">
            <a:avLst/>
          </a:prstGeom>
        </p:spPr>
      </p:pic>
      <p:sp>
        <p:nvSpPr>
          <p:cNvPr id="30" name="TextBox 29">
            <a:extLst>
              <a:ext uri="{FF2B5EF4-FFF2-40B4-BE49-F238E27FC236}">
                <a16:creationId xmlns:a16="http://schemas.microsoft.com/office/drawing/2014/main" id="{EB478011-207D-DE99-FBD1-5CE6DD412E40}"/>
              </a:ext>
            </a:extLst>
          </p:cNvPr>
          <p:cNvSpPr txBox="1"/>
          <p:nvPr/>
        </p:nvSpPr>
        <p:spPr>
          <a:xfrm>
            <a:off x="2403088" y="4432060"/>
            <a:ext cx="6097836" cy="461665"/>
          </a:xfrm>
          <a:prstGeom prst="rect">
            <a:avLst/>
          </a:prstGeom>
          <a:noFill/>
        </p:spPr>
        <p:txBody>
          <a:bodyPr wrap="square">
            <a:spAutoFit/>
          </a:bodyPr>
          <a:lstStyle/>
          <a:p>
            <a:pPr>
              <a:buNone/>
            </a:pPr>
            <a:r>
              <a:rPr lang="en-GB" sz="2400" dirty="0"/>
              <a:t>Model – is the model appropriate for the task</a:t>
            </a:r>
            <a:endParaRPr lang="en-GB" dirty="0"/>
          </a:p>
        </p:txBody>
      </p:sp>
      <p:sp>
        <p:nvSpPr>
          <p:cNvPr id="31" name="TextBox 30">
            <a:extLst>
              <a:ext uri="{FF2B5EF4-FFF2-40B4-BE49-F238E27FC236}">
                <a16:creationId xmlns:a16="http://schemas.microsoft.com/office/drawing/2014/main" id="{D5F6C496-E887-EF74-50CA-191322EC5BFD}"/>
              </a:ext>
            </a:extLst>
          </p:cNvPr>
          <p:cNvSpPr txBox="1"/>
          <p:nvPr/>
        </p:nvSpPr>
        <p:spPr>
          <a:xfrm>
            <a:off x="2784711" y="5187963"/>
            <a:ext cx="6097836" cy="461665"/>
          </a:xfrm>
          <a:prstGeom prst="rect">
            <a:avLst/>
          </a:prstGeom>
          <a:noFill/>
        </p:spPr>
        <p:txBody>
          <a:bodyPr wrap="square">
            <a:spAutoFit/>
          </a:bodyPr>
          <a:lstStyle/>
          <a:p>
            <a:pPr>
              <a:buNone/>
            </a:pPr>
            <a:r>
              <a:rPr lang="en-GB" sz="2400" dirty="0"/>
              <a:t>Output – How much response is needed?</a:t>
            </a:r>
            <a:endParaRPr lang="en-GB" dirty="0"/>
          </a:p>
        </p:txBody>
      </p:sp>
      <p:pic>
        <p:nvPicPr>
          <p:cNvPr id="32" name="Graphic 31" descr="Toggle with solid fill">
            <a:extLst>
              <a:ext uri="{FF2B5EF4-FFF2-40B4-BE49-F238E27FC236}">
                <a16:creationId xmlns:a16="http://schemas.microsoft.com/office/drawing/2014/main" id="{F971EC2B-1CDD-A314-1358-2C7C6D4D42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0311" y="4961595"/>
            <a:ext cx="914400" cy="914400"/>
          </a:xfrm>
          <a:prstGeom prst="rect">
            <a:avLst/>
          </a:prstGeom>
        </p:spPr>
      </p:pic>
    </p:spTree>
    <p:extLst>
      <p:ext uri="{BB962C8B-B14F-4D97-AF65-F5344CB8AC3E}">
        <p14:creationId xmlns:p14="http://schemas.microsoft.com/office/powerpoint/2010/main" val="214409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FC6D-20E3-2D35-F36C-96952FD0634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A385CD9-B231-9FE7-2038-29E3D91B5BE0}"/>
              </a:ext>
            </a:extLst>
          </p:cNvPr>
          <p:cNvSpPr>
            <a:spLocks noGrp="1"/>
          </p:cNvSpPr>
          <p:nvPr>
            <p:ph type="ctrTitle"/>
          </p:nvPr>
        </p:nvSpPr>
        <p:spPr/>
        <p:txBody>
          <a:bodyPr/>
          <a:lstStyle/>
          <a:p>
            <a:r>
              <a:rPr lang="en-US" dirty="0"/>
              <a:t>Why use Copilot CLI</a:t>
            </a:r>
          </a:p>
        </p:txBody>
      </p:sp>
      <p:sp>
        <p:nvSpPr>
          <p:cNvPr id="8" name="Text Placeholder 7">
            <a:extLst>
              <a:ext uri="{FF2B5EF4-FFF2-40B4-BE49-F238E27FC236}">
                <a16:creationId xmlns:a16="http://schemas.microsoft.com/office/drawing/2014/main" id="{A8C6BD47-8C15-BBF6-3CC1-B4503300D530}"/>
              </a:ext>
            </a:extLst>
          </p:cNvPr>
          <p:cNvSpPr>
            <a:spLocks noGrp="1"/>
          </p:cNvSpPr>
          <p:nvPr>
            <p:ph type="body" sz="quarter" idx="14"/>
          </p:nvPr>
        </p:nvSpPr>
        <p:spPr/>
        <p:txBody>
          <a:bodyPr/>
          <a:lstStyle/>
          <a:p>
            <a:pPr marL="342900" lvl="0" indent="-342900" fontAlgn="t">
              <a:buFont typeface="Arial" panose="020B0604020202020204" pitchFamily="34" charset="0"/>
              <a:buChar char="•"/>
            </a:pPr>
            <a:r>
              <a:rPr lang="en-GB" dirty="0"/>
              <a:t>Make the current context visible</a:t>
            </a:r>
          </a:p>
          <a:p>
            <a:pPr marL="342900" lvl="0" indent="-342900" fontAlgn="t">
              <a:buFont typeface="Arial" panose="020B0604020202020204" pitchFamily="34" charset="0"/>
              <a:buChar char="•"/>
            </a:pPr>
            <a:r>
              <a:rPr lang="en-GB" dirty="0"/>
              <a:t>Review usage during a session</a:t>
            </a:r>
          </a:p>
          <a:p>
            <a:pPr marL="342900" lvl="0" indent="-342900" fontAlgn="t">
              <a:buFont typeface="Arial" panose="020B0604020202020204" pitchFamily="34" charset="0"/>
              <a:buChar char="•"/>
            </a:pPr>
            <a:r>
              <a:rPr lang="en-GB" dirty="0"/>
              <a:t>See how conversation choices affect consumption</a:t>
            </a:r>
          </a:p>
          <a:p>
            <a:pPr marL="342900" lvl="0" indent="-342900" fontAlgn="t">
              <a:buFont typeface="Arial" panose="020B0604020202020204" pitchFamily="34" charset="0"/>
              <a:buChar char="•"/>
            </a:pPr>
            <a:r>
              <a:rPr lang="en-GB" dirty="0"/>
              <a:t>Compare changes using observable evidence</a:t>
            </a:r>
          </a:p>
          <a:p>
            <a:endParaRPr lang="en-US" dirty="0"/>
          </a:p>
        </p:txBody>
      </p:sp>
      <p:sp>
        <p:nvSpPr>
          <p:cNvPr id="5" name="Slide Number Placeholder 4">
            <a:extLst>
              <a:ext uri="{FF2B5EF4-FFF2-40B4-BE49-F238E27FC236}">
                <a16:creationId xmlns:a16="http://schemas.microsoft.com/office/drawing/2014/main" id="{CAF74F90-E444-64B0-C44A-1FD9847B7DD9}"/>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7</a:t>
            </a:fld>
            <a:endParaRPr lang="en-US"/>
          </a:p>
        </p:txBody>
      </p:sp>
      <p:pic>
        <p:nvPicPr>
          <p:cNvPr id="3" name="Picture 2">
            <a:extLst>
              <a:ext uri="{FF2B5EF4-FFF2-40B4-BE49-F238E27FC236}">
                <a16:creationId xmlns:a16="http://schemas.microsoft.com/office/drawing/2014/main" id="{86A7B55E-3802-0BEA-30EC-F6AC62F7ED21}"/>
              </a:ext>
            </a:extLst>
          </p:cNvPr>
          <p:cNvPicPr>
            <a:picLocks noChangeAspect="1"/>
          </p:cNvPicPr>
          <p:nvPr/>
        </p:nvPicPr>
        <p:blipFill>
          <a:blip r:embed="rId3"/>
          <a:stretch>
            <a:fillRect/>
          </a:stretch>
        </p:blipFill>
        <p:spPr>
          <a:xfrm>
            <a:off x="5626920" y="1524869"/>
            <a:ext cx="6121159" cy="380826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2956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D005-A146-385E-E3C5-6C1EC155B1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FEBD2DF-C687-4E56-869F-AFA1DAC625CA}"/>
              </a:ext>
            </a:extLst>
          </p:cNvPr>
          <p:cNvSpPr>
            <a:spLocks noGrp="1"/>
          </p:cNvSpPr>
          <p:nvPr>
            <p:ph type="ctrTitle"/>
          </p:nvPr>
        </p:nvSpPr>
        <p:spPr/>
        <p:txBody>
          <a:bodyPr/>
          <a:lstStyle/>
          <a:p>
            <a:pPr fontAlgn="t"/>
            <a:r>
              <a:rPr lang="en-GB" dirty="0"/>
              <a:t>How we’ll use Copilot CLI</a:t>
            </a:r>
          </a:p>
        </p:txBody>
      </p:sp>
      <p:sp>
        <p:nvSpPr>
          <p:cNvPr id="8" name="Text Placeholder 7">
            <a:extLst>
              <a:ext uri="{FF2B5EF4-FFF2-40B4-BE49-F238E27FC236}">
                <a16:creationId xmlns:a16="http://schemas.microsoft.com/office/drawing/2014/main" id="{53F6298C-4FDC-0FC2-5221-7A9B777DC88B}"/>
              </a:ext>
            </a:extLst>
          </p:cNvPr>
          <p:cNvSpPr>
            <a:spLocks noGrp="1"/>
          </p:cNvSpPr>
          <p:nvPr>
            <p:ph type="body" sz="quarter" idx="14"/>
          </p:nvPr>
        </p:nvSpPr>
        <p:spPr/>
        <p:txBody>
          <a:bodyPr/>
          <a:lstStyle/>
          <a:p>
            <a:pPr fontAlgn="t"/>
            <a:r>
              <a:rPr lang="en-GB" b="1" dirty="0"/>
              <a:t>Our inspection loop</a:t>
            </a:r>
            <a:endParaRPr lang="en-GB" dirty="0"/>
          </a:p>
          <a:p>
            <a:pPr marL="342900" lvl="0" indent="-342900" fontAlgn="t">
              <a:buFont typeface="+mj-lt"/>
              <a:buAutoNum type="arabicPeriod"/>
            </a:pPr>
            <a:r>
              <a:rPr lang="en-GB" b="1" dirty="0"/>
              <a:t>Start</a:t>
            </a:r>
            <a:r>
              <a:rPr lang="en-GB" dirty="0"/>
              <a:t> with the prepared workspace</a:t>
            </a:r>
          </a:p>
          <a:p>
            <a:pPr marL="342900" lvl="0" indent="-342900" fontAlgn="t">
              <a:buFont typeface="+mj-lt"/>
              <a:buAutoNum type="arabicPeriod"/>
            </a:pPr>
            <a:r>
              <a:rPr lang="en-GB" b="1" dirty="0"/>
              <a:t>Inspect</a:t>
            </a:r>
            <a:r>
              <a:rPr lang="en-GB" dirty="0"/>
              <a:t> what is in context</a:t>
            </a:r>
          </a:p>
          <a:p>
            <a:pPr marL="342900" lvl="0" indent="-342900" fontAlgn="t">
              <a:buFont typeface="+mj-lt"/>
              <a:buAutoNum type="arabicPeriod"/>
            </a:pPr>
            <a:r>
              <a:rPr lang="en-GB" b="1" dirty="0"/>
              <a:t>Complete</a:t>
            </a:r>
            <a:r>
              <a:rPr lang="en-GB" dirty="0"/>
              <a:t> a representative task</a:t>
            </a:r>
          </a:p>
          <a:p>
            <a:pPr marL="342900" lvl="0" indent="-342900" fontAlgn="t">
              <a:buFont typeface="+mj-lt"/>
              <a:buAutoNum type="arabicPeriod"/>
            </a:pPr>
            <a:r>
              <a:rPr lang="en-GB" b="1" dirty="0"/>
              <a:t>Review</a:t>
            </a:r>
            <a:r>
              <a:rPr lang="en-GB" dirty="0"/>
              <a:t> session usage</a:t>
            </a:r>
          </a:p>
          <a:p>
            <a:pPr marL="342900" lvl="0" indent="-342900" fontAlgn="t">
              <a:buFont typeface="+mj-lt"/>
              <a:buAutoNum type="arabicPeriod"/>
            </a:pPr>
            <a:r>
              <a:rPr lang="en-GB" b="1" dirty="0"/>
              <a:t>Change</a:t>
            </a:r>
            <a:r>
              <a:rPr lang="en-GB" dirty="0"/>
              <a:t> one variable</a:t>
            </a:r>
          </a:p>
          <a:p>
            <a:pPr marL="342900" lvl="0" indent="-342900" fontAlgn="t">
              <a:buFont typeface="+mj-lt"/>
              <a:buAutoNum type="arabicPeriod"/>
            </a:pPr>
            <a:r>
              <a:rPr lang="en-GB" b="1" dirty="0"/>
              <a:t>Compare</a:t>
            </a:r>
            <a:r>
              <a:rPr lang="en-GB" dirty="0"/>
              <a:t> the result</a:t>
            </a:r>
          </a:p>
          <a:p>
            <a:endParaRPr lang="en-US" dirty="0"/>
          </a:p>
        </p:txBody>
      </p:sp>
      <p:sp>
        <p:nvSpPr>
          <p:cNvPr id="5" name="Slide Number Placeholder 4">
            <a:extLst>
              <a:ext uri="{FF2B5EF4-FFF2-40B4-BE49-F238E27FC236}">
                <a16:creationId xmlns:a16="http://schemas.microsoft.com/office/drawing/2014/main" id="{40BB893D-A80C-ED01-6BC6-5D42DB858D17}"/>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8</a:t>
            </a:fld>
            <a:endParaRPr lang="en-US"/>
          </a:p>
        </p:txBody>
      </p:sp>
      <p:pic>
        <p:nvPicPr>
          <p:cNvPr id="3" name="Picture 2">
            <a:extLst>
              <a:ext uri="{FF2B5EF4-FFF2-40B4-BE49-F238E27FC236}">
                <a16:creationId xmlns:a16="http://schemas.microsoft.com/office/drawing/2014/main" id="{89F4CC0B-6233-9B21-A99C-AA22FF478CCB}"/>
              </a:ext>
            </a:extLst>
          </p:cNvPr>
          <p:cNvPicPr>
            <a:picLocks noChangeAspect="1"/>
          </p:cNvPicPr>
          <p:nvPr/>
        </p:nvPicPr>
        <p:blipFill>
          <a:blip r:embed="rId3"/>
          <a:stretch>
            <a:fillRect/>
          </a:stretch>
        </p:blipFill>
        <p:spPr>
          <a:xfrm>
            <a:off x="4472847" y="2682781"/>
            <a:ext cx="7433662" cy="216205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80672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DED37-9C7C-586E-2D7D-35BF084227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B939F8F-6D87-95C9-E984-0E53C18E79A2}"/>
              </a:ext>
            </a:extLst>
          </p:cNvPr>
          <p:cNvSpPr>
            <a:spLocks noGrp="1"/>
          </p:cNvSpPr>
          <p:nvPr>
            <p:ph type="ctrTitle"/>
          </p:nvPr>
        </p:nvSpPr>
        <p:spPr/>
        <p:txBody>
          <a:bodyPr/>
          <a:lstStyle/>
          <a:p>
            <a:pPr fontAlgn="t"/>
            <a:r>
              <a:rPr lang="en-GB" dirty="0"/>
              <a:t>Commands we will explore</a:t>
            </a:r>
          </a:p>
        </p:txBody>
      </p:sp>
      <p:sp>
        <p:nvSpPr>
          <p:cNvPr id="8" name="Text Placeholder 7">
            <a:extLst>
              <a:ext uri="{FF2B5EF4-FFF2-40B4-BE49-F238E27FC236}">
                <a16:creationId xmlns:a16="http://schemas.microsoft.com/office/drawing/2014/main" id="{54A4899F-E2CF-8570-48F4-9B26064609EB}"/>
              </a:ext>
            </a:extLst>
          </p:cNvPr>
          <p:cNvSpPr>
            <a:spLocks noGrp="1"/>
          </p:cNvSpPr>
          <p:nvPr>
            <p:ph type="body" sz="quarter" idx="14"/>
          </p:nvPr>
        </p:nvSpPr>
        <p:spPr>
          <a:xfrm>
            <a:off x="2854464" y="1634601"/>
            <a:ext cx="5978913" cy="4061405"/>
          </a:xfrm>
        </p:spPr>
        <p:txBody>
          <a:bodyPr/>
          <a:lstStyle/>
          <a:p>
            <a:r>
              <a:rPr lang="en-GB" dirty="0"/>
              <a:t>/context       	Current window</a:t>
            </a:r>
          </a:p>
          <a:p>
            <a:r>
              <a:rPr lang="en-GB" dirty="0"/>
              <a:t>/usage         	Session totals and cache</a:t>
            </a:r>
          </a:p>
          <a:p>
            <a:r>
              <a:rPr lang="en-GB" dirty="0"/>
              <a:t>/instructions  	Loaded instruction files</a:t>
            </a:r>
          </a:p>
          <a:p>
            <a:r>
              <a:rPr lang="en-GB" dirty="0"/>
              <a:t>/model         	Select Auto or another model</a:t>
            </a:r>
          </a:p>
          <a:p>
            <a:r>
              <a:rPr lang="en-GB" dirty="0"/>
              <a:t>/new           	Clear history for a new task</a:t>
            </a:r>
          </a:p>
          <a:p>
            <a:r>
              <a:rPr lang="en-GB" dirty="0"/>
              <a:t>/compact       	Summarise a long, continuing task</a:t>
            </a:r>
          </a:p>
          <a:p>
            <a:r>
              <a:rPr lang="en-GB" dirty="0"/>
              <a:t>/ask           	Side question outside history</a:t>
            </a:r>
          </a:p>
          <a:p>
            <a:r>
              <a:rPr lang="en-GB" dirty="0"/>
              <a:t>/</a:t>
            </a:r>
            <a:r>
              <a:rPr lang="en-GB" dirty="0" err="1"/>
              <a:t>mcp</a:t>
            </a:r>
            <a:r>
              <a:rPr lang="en-GB" dirty="0"/>
              <a:t>          	 Enabled MCP servers</a:t>
            </a:r>
          </a:p>
          <a:p>
            <a:r>
              <a:rPr lang="en-GB" dirty="0"/>
              <a:t>/limits set max-ai-credits 30</a:t>
            </a:r>
          </a:p>
          <a:p>
            <a:r>
              <a:rPr lang="en-GB" dirty="0"/>
              <a:t>/exit</a:t>
            </a:r>
          </a:p>
          <a:p>
            <a:endParaRPr lang="en-US" dirty="0"/>
          </a:p>
        </p:txBody>
      </p:sp>
      <p:sp>
        <p:nvSpPr>
          <p:cNvPr id="5" name="Slide Number Placeholder 4">
            <a:extLst>
              <a:ext uri="{FF2B5EF4-FFF2-40B4-BE49-F238E27FC236}">
                <a16:creationId xmlns:a16="http://schemas.microsoft.com/office/drawing/2014/main" id="{E04B5C06-D128-D01C-14A2-FCB9C89FF7C0}"/>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9</a:t>
            </a:fld>
            <a:endParaRPr lang="en-US"/>
          </a:p>
        </p:txBody>
      </p:sp>
    </p:spTree>
    <p:extLst>
      <p:ext uri="{BB962C8B-B14F-4D97-AF65-F5344CB8AC3E}">
        <p14:creationId xmlns:p14="http://schemas.microsoft.com/office/powerpoint/2010/main" val="2779623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E394A-11E2-7711-7DDD-1EF9A0048DB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4CAFA38-420C-4B9B-5913-6A7801DB319E}"/>
              </a:ext>
            </a:extLst>
          </p:cNvPr>
          <p:cNvSpPr>
            <a:spLocks noGrp="1"/>
          </p:cNvSpPr>
          <p:nvPr>
            <p:ph type="body" sz="quarter" idx="11"/>
          </p:nvPr>
        </p:nvSpPr>
        <p:spPr/>
        <p:txBody>
          <a:bodyPr/>
          <a:lstStyle/>
          <a:p>
            <a:r>
              <a:rPr lang="en-US" dirty="0"/>
              <a:t>GitHub Copilot CLI</a:t>
            </a:r>
          </a:p>
          <a:p>
            <a:endParaRPr lang="en-US" dirty="0"/>
          </a:p>
          <a:p>
            <a:r>
              <a:rPr lang="en-US" dirty="0"/>
              <a:t>/model</a:t>
            </a:r>
          </a:p>
          <a:p>
            <a:r>
              <a:rPr lang="en-US" dirty="0"/>
              <a:t>/usage</a:t>
            </a:r>
          </a:p>
          <a:p>
            <a:r>
              <a:rPr lang="en-US" dirty="0"/>
              <a:t>/instructions</a:t>
            </a:r>
          </a:p>
          <a:p>
            <a:r>
              <a:rPr lang="en-US" dirty="0"/>
              <a:t>/limits</a:t>
            </a:r>
          </a:p>
          <a:p>
            <a:r>
              <a:rPr lang="en-US" dirty="0"/>
              <a:t>Prompts</a:t>
            </a:r>
          </a:p>
          <a:p>
            <a:endParaRPr lang="en-US" dirty="0"/>
          </a:p>
          <a:p>
            <a:r>
              <a:rPr lang="en-US" dirty="0"/>
              <a:t>Constrained Outputs</a:t>
            </a:r>
          </a:p>
        </p:txBody>
      </p:sp>
      <p:pic>
        <p:nvPicPr>
          <p:cNvPr id="14" name="Online Image Placeholder 11">
            <a:extLst>
              <a:ext uri="{FF2B5EF4-FFF2-40B4-BE49-F238E27FC236}">
                <a16:creationId xmlns:a16="http://schemas.microsoft.com/office/drawing/2014/main" id="{2194F472-3D37-4E1B-586F-C6CDFF486F1D}"/>
              </a:ext>
            </a:extLst>
          </p:cNvPr>
          <p:cNvPicPr>
            <a:picLocks noGrp="1" noChangeAspect="1"/>
          </p:cNvPicPr>
          <p:nvPr>
            <p:ph type="clipArt" sz="quarter" idx="10"/>
          </p:nvPr>
        </p:nvPicPr>
        <p:blipFill>
          <a:blip>
            <a:extLst>
              <a:ext uri="{96DAC541-7B7A-43D3-8B79-37D633B846F1}">
                <asvg:svgBlip xmlns:asvg="http://schemas.microsoft.com/office/drawing/2016/SVG/main" r:embed="rId2"/>
              </a:ext>
            </a:extLst>
          </a:blip>
          <a:stretch>
            <a:fillRect/>
          </a:stretch>
        </p:blipFill>
        <p:spPr>
          <a:xfrm>
            <a:off x="5673725" y="641257"/>
            <a:ext cx="6307138" cy="5505637"/>
          </a:xfrm>
        </p:spPr>
      </p:pic>
      <p:sp>
        <p:nvSpPr>
          <p:cNvPr id="2" name="Slide Number Placeholder 1">
            <a:extLst>
              <a:ext uri="{FF2B5EF4-FFF2-40B4-BE49-F238E27FC236}">
                <a16:creationId xmlns:a16="http://schemas.microsoft.com/office/drawing/2014/main" id="{D2EB10D4-1DD7-7A96-D732-047D07E2F2F9}"/>
              </a:ext>
            </a:extLst>
          </p:cNvPr>
          <p:cNvSpPr>
            <a:spLocks noGrp="1"/>
          </p:cNvSpPr>
          <p:nvPr>
            <p:ph type="sldNum" sz="quarter" idx="12"/>
          </p:nvPr>
        </p:nvSpPr>
        <p:spPr>
          <a:xfrm>
            <a:off x="9365513" y="6398855"/>
            <a:ext cx="2743200" cy="365125"/>
          </a:xfrm>
        </p:spPr>
        <p:txBody>
          <a:bodyPr/>
          <a:lstStyle/>
          <a:p>
            <a:fld id="{EFD4AAB0-9A4D-4722-8C32-D717A3BFE122}" type="slidenum">
              <a:rPr lang="en-US" smtClean="0"/>
              <a:pPr/>
              <a:t>10</a:t>
            </a:fld>
            <a:endParaRPr lang="en-US"/>
          </a:p>
        </p:txBody>
      </p:sp>
    </p:spTree>
    <p:extLst>
      <p:ext uri="{BB962C8B-B14F-4D97-AF65-F5344CB8AC3E}">
        <p14:creationId xmlns:p14="http://schemas.microsoft.com/office/powerpoint/2010/main" val="1667722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69A10-0113-D788-A535-6AF9BF641E0F}"/>
            </a:ext>
          </a:extLst>
        </p:cNvPr>
        <p:cNvGrpSpPr/>
        <p:nvPr/>
      </p:nvGrpSpPr>
      <p:grpSpPr>
        <a:xfrm>
          <a:off x="0" y="0"/>
          <a:ext cx="0" cy="0"/>
          <a:chOff x="0" y="0"/>
          <a:chExt cx="0" cy="0"/>
        </a:xfrm>
      </p:grpSpPr>
      <p:pic>
        <p:nvPicPr>
          <p:cNvPr id="3" name="Online Image Placeholder 2" descr="Scroll with solid fill">
            <a:extLst>
              <a:ext uri="{FF2B5EF4-FFF2-40B4-BE49-F238E27FC236}">
                <a16:creationId xmlns:a16="http://schemas.microsoft.com/office/drawing/2014/main" id="{7313973B-D313-E469-112A-740A340B493F}"/>
              </a:ext>
            </a:extLst>
          </p:cNvPr>
          <p:cNvPicPr>
            <a:picLocks noGrp="1" noChangeAspect="1"/>
          </p:cNvPicPr>
          <p:nvPr>
            <p:ph type="clipArt" sz="quarter" idx="10"/>
          </p:nvPr>
        </p:nvPicPr>
        <p:blipFill>
          <a:blip>
            <a:extLst>
              <a:ext uri="{96DAC541-7B7A-43D3-8B79-37D633B846F1}">
                <asvg:svgBlip xmlns:asvg="http://schemas.microsoft.com/office/drawing/2016/SVG/main" r:embed="rId2"/>
              </a:ext>
            </a:extLst>
          </a:blip>
          <a:stretch>
            <a:fillRect/>
          </a:stretch>
        </p:blipFill>
        <p:spPr>
          <a:xfrm>
            <a:off x="6729413" y="1585037"/>
            <a:ext cx="3687925" cy="3687925"/>
          </a:xfrm>
        </p:spPr>
      </p:pic>
      <p:sp>
        <p:nvSpPr>
          <p:cNvPr id="7" name="Title 6">
            <a:extLst>
              <a:ext uri="{FF2B5EF4-FFF2-40B4-BE49-F238E27FC236}">
                <a16:creationId xmlns:a16="http://schemas.microsoft.com/office/drawing/2014/main" id="{70DE86DD-75CA-4463-D66D-99DDB56E3264}"/>
              </a:ext>
            </a:extLst>
          </p:cNvPr>
          <p:cNvSpPr>
            <a:spLocks noGrp="1"/>
          </p:cNvSpPr>
          <p:nvPr>
            <p:ph type="title"/>
          </p:nvPr>
        </p:nvSpPr>
        <p:spPr/>
        <p:txBody>
          <a:bodyPr/>
          <a:lstStyle/>
          <a:p>
            <a:r>
              <a:rPr lang="en-US" dirty="0"/>
              <a:t>Always on Context</a:t>
            </a:r>
          </a:p>
        </p:txBody>
      </p:sp>
      <p:sp>
        <p:nvSpPr>
          <p:cNvPr id="8" name="Content Placeholder 7">
            <a:extLst>
              <a:ext uri="{FF2B5EF4-FFF2-40B4-BE49-F238E27FC236}">
                <a16:creationId xmlns:a16="http://schemas.microsoft.com/office/drawing/2014/main" id="{A48F6602-5103-C059-6B87-9695D03A4DFE}"/>
              </a:ext>
            </a:extLst>
          </p:cNvPr>
          <p:cNvSpPr>
            <a:spLocks noGrp="1"/>
          </p:cNvSpPr>
          <p:nvPr>
            <p:ph idx="1"/>
          </p:nvPr>
        </p:nvSpPr>
        <p:spPr/>
        <p:txBody>
          <a:bodyPr/>
          <a:lstStyle/>
          <a:p>
            <a:r>
              <a:rPr lang="en-US" dirty="0"/>
              <a:t>Landmines, not a wiki</a:t>
            </a:r>
          </a:p>
        </p:txBody>
      </p:sp>
      <p:sp>
        <p:nvSpPr>
          <p:cNvPr id="4" name="Slide Number Placeholder 3">
            <a:extLst>
              <a:ext uri="{FF2B5EF4-FFF2-40B4-BE49-F238E27FC236}">
                <a16:creationId xmlns:a16="http://schemas.microsoft.com/office/drawing/2014/main" id="{0B4648AC-C7C4-4199-6D02-784671C081CC}"/>
              </a:ext>
            </a:extLst>
          </p:cNvPr>
          <p:cNvSpPr>
            <a:spLocks noGrp="1"/>
          </p:cNvSpPr>
          <p:nvPr>
            <p:ph type="sldNum" sz="quarter" idx="12"/>
          </p:nvPr>
        </p:nvSpPr>
        <p:spPr>
          <a:xfrm>
            <a:off x="9365513" y="6398855"/>
            <a:ext cx="2743200" cy="365125"/>
          </a:xfrm>
        </p:spPr>
        <p:txBody>
          <a:bodyPr/>
          <a:lstStyle/>
          <a:p>
            <a:fld id="{48ECD659-E04B-4C58-A509-92B8302CE327}" type="slidenum">
              <a:rPr lang="en-US" smtClean="0"/>
              <a:pPr/>
              <a:t>11</a:t>
            </a:fld>
            <a:endParaRPr lang="en-US"/>
          </a:p>
        </p:txBody>
      </p:sp>
    </p:spTree>
    <p:extLst>
      <p:ext uri="{BB962C8B-B14F-4D97-AF65-F5344CB8AC3E}">
        <p14:creationId xmlns:p14="http://schemas.microsoft.com/office/powerpoint/2010/main" val="2920287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D5C74-68AD-9605-93F9-3942AD7A507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79066DD-D5BE-3F0A-C7B0-9F3B7EF01F29}"/>
              </a:ext>
            </a:extLst>
          </p:cNvPr>
          <p:cNvSpPr>
            <a:spLocks noGrp="1"/>
          </p:cNvSpPr>
          <p:nvPr>
            <p:ph type="ctrTitle"/>
          </p:nvPr>
        </p:nvSpPr>
        <p:spPr/>
        <p:txBody>
          <a:bodyPr/>
          <a:lstStyle/>
          <a:p>
            <a:pPr fontAlgn="t"/>
            <a:r>
              <a:rPr lang="en-GB" dirty="0"/>
              <a:t>Not an ‘official’ term</a:t>
            </a:r>
          </a:p>
        </p:txBody>
      </p:sp>
      <p:sp>
        <p:nvSpPr>
          <p:cNvPr id="8" name="Text Placeholder 7">
            <a:extLst>
              <a:ext uri="{FF2B5EF4-FFF2-40B4-BE49-F238E27FC236}">
                <a16:creationId xmlns:a16="http://schemas.microsoft.com/office/drawing/2014/main" id="{6305A5B2-F4D5-70AA-25BD-877DAA6B80D8}"/>
              </a:ext>
            </a:extLst>
          </p:cNvPr>
          <p:cNvSpPr>
            <a:spLocks noGrp="1"/>
          </p:cNvSpPr>
          <p:nvPr>
            <p:ph type="body" sz="quarter" idx="14"/>
          </p:nvPr>
        </p:nvSpPr>
        <p:spPr>
          <a:xfrm>
            <a:off x="584991" y="1733753"/>
            <a:ext cx="4339550" cy="2232319"/>
          </a:xfrm>
        </p:spPr>
        <p:txBody>
          <a:bodyPr/>
          <a:lstStyle/>
          <a:p>
            <a:r>
              <a:rPr lang="en-GB" dirty="0"/>
              <a:t>Always on</a:t>
            </a:r>
          </a:p>
          <a:p>
            <a:endParaRPr lang="en-US" dirty="0"/>
          </a:p>
        </p:txBody>
      </p:sp>
      <p:sp>
        <p:nvSpPr>
          <p:cNvPr id="5" name="Slide Number Placeholder 4">
            <a:extLst>
              <a:ext uri="{FF2B5EF4-FFF2-40B4-BE49-F238E27FC236}">
                <a16:creationId xmlns:a16="http://schemas.microsoft.com/office/drawing/2014/main" id="{667621B1-070F-E210-236B-D06733075F26}"/>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12</a:t>
            </a:fld>
            <a:endParaRPr lang="en-US"/>
          </a:p>
        </p:txBody>
      </p:sp>
      <p:sp>
        <p:nvSpPr>
          <p:cNvPr id="2" name="Text Placeholder 7">
            <a:extLst>
              <a:ext uri="{FF2B5EF4-FFF2-40B4-BE49-F238E27FC236}">
                <a16:creationId xmlns:a16="http://schemas.microsoft.com/office/drawing/2014/main" id="{9979B6EB-EFC9-10A1-2AFD-E00929195395}"/>
              </a:ext>
            </a:extLst>
          </p:cNvPr>
          <p:cNvSpPr txBox="1">
            <a:spLocks/>
          </p:cNvSpPr>
          <p:nvPr/>
        </p:nvSpPr>
        <p:spPr>
          <a:xfrm>
            <a:off x="584991" y="3265524"/>
            <a:ext cx="1640416" cy="542633"/>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Path scoped</a:t>
            </a:r>
          </a:p>
          <a:p>
            <a:endParaRPr lang="en-US" dirty="0"/>
          </a:p>
        </p:txBody>
      </p:sp>
      <p:pic>
        <p:nvPicPr>
          <p:cNvPr id="4" name="Picture 3">
            <a:extLst>
              <a:ext uri="{FF2B5EF4-FFF2-40B4-BE49-F238E27FC236}">
                <a16:creationId xmlns:a16="http://schemas.microsoft.com/office/drawing/2014/main" id="{190C1278-843F-650A-8904-8CF7FDFB479D}"/>
              </a:ext>
            </a:extLst>
          </p:cNvPr>
          <p:cNvPicPr>
            <a:picLocks noChangeAspect="1"/>
          </p:cNvPicPr>
          <p:nvPr/>
        </p:nvPicPr>
        <p:blipFill>
          <a:blip r:embed="rId3"/>
          <a:stretch>
            <a:fillRect/>
          </a:stretch>
        </p:blipFill>
        <p:spPr>
          <a:xfrm>
            <a:off x="2315907" y="1359179"/>
            <a:ext cx="6744641" cy="1381318"/>
          </a:xfrm>
          <a:prstGeom prst="rect">
            <a:avLst/>
          </a:prstGeom>
        </p:spPr>
      </p:pic>
      <p:pic>
        <p:nvPicPr>
          <p:cNvPr id="9" name="Picture 8">
            <a:extLst>
              <a:ext uri="{FF2B5EF4-FFF2-40B4-BE49-F238E27FC236}">
                <a16:creationId xmlns:a16="http://schemas.microsoft.com/office/drawing/2014/main" id="{E038E8A4-7EBD-7A7C-5BF7-1ED7CB31CE57}"/>
              </a:ext>
            </a:extLst>
          </p:cNvPr>
          <p:cNvPicPr>
            <a:picLocks noChangeAspect="1"/>
          </p:cNvPicPr>
          <p:nvPr/>
        </p:nvPicPr>
        <p:blipFill>
          <a:blip r:embed="rId4"/>
          <a:stretch>
            <a:fillRect/>
          </a:stretch>
        </p:blipFill>
        <p:spPr>
          <a:xfrm>
            <a:off x="2315907" y="2999323"/>
            <a:ext cx="6925642" cy="1200318"/>
          </a:xfrm>
          <a:prstGeom prst="rect">
            <a:avLst/>
          </a:prstGeom>
        </p:spPr>
      </p:pic>
      <p:pic>
        <p:nvPicPr>
          <p:cNvPr id="11" name="Picture 10">
            <a:extLst>
              <a:ext uri="{FF2B5EF4-FFF2-40B4-BE49-F238E27FC236}">
                <a16:creationId xmlns:a16="http://schemas.microsoft.com/office/drawing/2014/main" id="{FE4618B5-7FE1-CF24-B93C-9E9BDE9EEEEF}"/>
              </a:ext>
            </a:extLst>
          </p:cNvPr>
          <p:cNvPicPr>
            <a:picLocks noChangeAspect="1"/>
          </p:cNvPicPr>
          <p:nvPr/>
        </p:nvPicPr>
        <p:blipFill>
          <a:blip r:embed="rId5"/>
          <a:stretch>
            <a:fillRect/>
          </a:stretch>
        </p:blipFill>
        <p:spPr>
          <a:xfrm>
            <a:off x="2315907" y="4458467"/>
            <a:ext cx="6925642" cy="1255361"/>
          </a:xfrm>
          <a:prstGeom prst="rect">
            <a:avLst/>
          </a:prstGeom>
        </p:spPr>
      </p:pic>
      <p:sp>
        <p:nvSpPr>
          <p:cNvPr id="12" name="Text Placeholder 7">
            <a:extLst>
              <a:ext uri="{FF2B5EF4-FFF2-40B4-BE49-F238E27FC236}">
                <a16:creationId xmlns:a16="http://schemas.microsoft.com/office/drawing/2014/main" id="{D11A1DB0-5E8A-F0A3-EC7A-C34372B9DC63}"/>
              </a:ext>
            </a:extLst>
          </p:cNvPr>
          <p:cNvSpPr txBox="1">
            <a:spLocks/>
          </p:cNvSpPr>
          <p:nvPr/>
        </p:nvSpPr>
        <p:spPr>
          <a:xfrm>
            <a:off x="584991" y="4695880"/>
            <a:ext cx="1640416" cy="542633"/>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On Demand</a:t>
            </a:r>
          </a:p>
          <a:p>
            <a:endParaRPr lang="en-US" dirty="0"/>
          </a:p>
        </p:txBody>
      </p:sp>
    </p:spTree>
    <p:extLst>
      <p:ext uri="{BB962C8B-B14F-4D97-AF65-F5344CB8AC3E}">
        <p14:creationId xmlns:p14="http://schemas.microsoft.com/office/powerpoint/2010/main" val="3468301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56FAE-DC79-3664-36E6-71F684403FF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8595C75-9942-BA8F-84B8-E83583C52A2D}"/>
              </a:ext>
            </a:extLst>
          </p:cNvPr>
          <p:cNvSpPr>
            <a:spLocks noGrp="1"/>
          </p:cNvSpPr>
          <p:nvPr>
            <p:ph type="ctrTitle"/>
          </p:nvPr>
        </p:nvSpPr>
        <p:spPr/>
        <p:txBody>
          <a:bodyPr/>
          <a:lstStyle/>
          <a:p>
            <a:pPr fontAlgn="t"/>
            <a:r>
              <a:rPr lang="en-GB" dirty="0"/>
              <a:t>Not an ‘official’ term</a:t>
            </a:r>
          </a:p>
        </p:txBody>
      </p:sp>
      <p:sp>
        <p:nvSpPr>
          <p:cNvPr id="8" name="Text Placeholder 7">
            <a:extLst>
              <a:ext uri="{FF2B5EF4-FFF2-40B4-BE49-F238E27FC236}">
                <a16:creationId xmlns:a16="http://schemas.microsoft.com/office/drawing/2014/main" id="{48C87BB7-0892-2A33-B25C-DCA2E4471327}"/>
              </a:ext>
            </a:extLst>
          </p:cNvPr>
          <p:cNvSpPr>
            <a:spLocks noGrp="1"/>
          </p:cNvSpPr>
          <p:nvPr>
            <p:ph type="body" sz="quarter" idx="14"/>
          </p:nvPr>
        </p:nvSpPr>
        <p:spPr>
          <a:xfrm>
            <a:off x="584991" y="1733753"/>
            <a:ext cx="4339550" cy="2232319"/>
          </a:xfrm>
        </p:spPr>
        <p:txBody>
          <a:bodyPr/>
          <a:lstStyle/>
          <a:p>
            <a:r>
              <a:rPr lang="en-GB" dirty="0"/>
              <a:t>Keep:</a:t>
            </a:r>
          </a:p>
          <a:p>
            <a:pPr marL="285750" lvl="0" indent="-285750">
              <a:buFont typeface="Arial" panose="020B0604020202020204" pitchFamily="34" charset="0"/>
              <a:buChar char="•"/>
            </a:pPr>
            <a:r>
              <a:rPr lang="en-GB" dirty="0"/>
              <a:t>Rules the code cannot reveal</a:t>
            </a:r>
          </a:p>
          <a:p>
            <a:pPr marL="285750" lvl="0" indent="-285750">
              <a:buFont typeface="Arial" panose="020B0604020202020204" pitchFamily="34" charset="0"/>
              <a:buChar char="•"/>
            </a:pPr>
            <a:r>
              <a:rPr lang="en-GB" dirty="0"/>
              <a:t>Dangerous exceptions</a:t>
            </a:r>
          </a:p>
          <a:p>
            <a:pPr marL="285750" lvl="0" indent="-285750">
              <a:buFont typeface="Arial" panose="020B0604020202020204" pitchFamily="34" charset="0"/>
              <a:buChar char="•"/>
            </a:pPr>
            <a:r>
              <a:rPr lang="en-GB" dirty="0"/>
              <a:t>Required verification commands</a:t>
            </a:r>
          </a:p>
          <a:p>
            <a:pPr marL="285750" lvl="0" indent="-285750">
              <a:buFont typeface="Arial" panose="020B0604020202020204" pitchFamily="34" charset="0"/>
              <a:buChar char="•"/>
            </a:pPr>
            <a:r>
              <a:rPr lang="en-GB" dirty="0"/>
              <a:t>Terse output defaults</a:t>
            </a:r>
          </a:p>
          <a:p>
            <a:endParaRPr lang="en-US" dirty="0"/>
          </a:p>
        </p:txBody>
      </p:sp>
      <p:sp>
        <p:nvSpPr>
          <p:cNvPr id="5" name="Slide Number Placeholder 4">
            <a:extLst>
              <a:ext uri="{FF2B5EF4-FFF2-40B4-BE49-F238E27FC236}">
                <a16:creationId xmlns:a16="http://schemas.microsoft.com/office/drawing/2014/main" id="{2AC21CFF-7565-EC64-B7BF-5A01781CE11D}"/>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13</a:t>
            </a:fld>
            <a:endParaRPr lang="en-US"/>
          </a:p>
        </p:txBody>
      </p:sp>
      <p:sp>
        <p:nvSpPr>
          <p:cNvPr id="2" name="Text Placeholder 7">
            <a:extLst>
              <a:ext uri="{FF2B5EF4-FFF2-40B4-BE49-F238E27FC236}">
                <a16:creationId xmlns:a16="http://schemas.microsoft.com/office/drawing/2014/main" id="{85B29B76-79FD-6101-C94A-6399DF25F3D2}"/>
              </a:ext>
            </a:extLst>
          </p:cNvPr>
          <p:cNvSpPr txBox="1">
            <a:spLocks/>
          </p:cNvSpPr>
          <p:nvPr/>
        </p:nvSpPr>
        <p:spPr>
          <a:xfrm>
            <a:off x="6576331" y="1737858"/>
            <a:ext cx="4339550" cy="223231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Remove:</a:t>
            </a:r>
          </a:p>
          <a:p>
            <a:pPr marL="285750" lvl="0" indent="-285750">
              <a:buFont typeface="Arial" panose="020B0604020202020204" pitchFamily="34" charset="0"/>
              <a:buChar char="•"/>
            </a:pPr>
            <a:r>
              <a:rPr lang="en-GB" dirty="0"/>
              <a:t>Company history</a:t>
            </a:r>
          </a:p>
          <a:p>
            <a:pPr marL="285750" lvl="0" indent="-285750">
              <a:buFont typeface="Arial" panose="020B0604020202020204" pitchFamily="34" charset="0"/>
              <a:buChar char="•"/>
            </a:pPr>
            <a:r>
              <a:rPr lang="en-GB" dirty="0"/>
              <a:t>Discoverable project structure</a:t>
            </a:r>
          </a:p>
          <a:p>
            <a:pPr marL="285750" lvl="0" indent="-285750">
              <a:buFont typeface="Arial" panose="020B0604020202020204" pitchFamily="34" charset="0"/>
              <a:buChar char="•"/>
            </a:pPr>
            <a:r>
              <a:rPr lang="en-GB" dirty="0"/>
              <a:t>Generic engineering advice</a:t>
            </a:r>
          </a:p>
          <a:p>
            <a:pPr marL="285750" lvl="0" indent="-285750">
              <a:buFont typeface="Arial" panose="020B0604020202020204" pitchFamily="34" charset="0"/>
              <a:buChar char="•"/>
            </a:pPr>
            <a:r>
              <a:rPr lang="en-GB" dirty="0"/>
              <a:t>Duplicate instructions</a:t>
            </a:r>
          </a:p>
          <a:p>
            <a:endParaRPr lang="en-US" dirty="0"/>
          </a:p>
        </p:txBody>
      </p:sp>
    </p:spTree>
    <p:extLst>
      <p:ext uri="{BB962C8B-B14F-4D97-AF65-F5344CB8AC3E}">
        <p14:creationId xmlns:p14="http://schemas.microsoft.com/office/powerpoint/2010/main" val="1260933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0164DAA-61BB-6229-D040-1E4598F790E9}"/>
              </a:ext>
            </a:extLst>
          </p:cNvPr>
          <p:cNvSpPr>
            <a:spLocks noGrp="1"/>
          </p:cNvSpPr>
          <p:nvPr>
            <p:ph type="body" sz="quarter" idx="11"/>
          </p:nvPr>
        </p:nvSpPr>
        <p:spPr/>
        <p:txBody>
          <a:bodyPr/>
          <a:lstStyle/>
          <a:p>
            <a:r>
              <a:rPr lang="en-GB" dirty="0"/>
              <a:t>Where do you think your biggest source of avoidable token use is?</a:t>
            </a:r>
          </a:p>
          <a:p>
            <a:endParaRPr lang="en-GB" dirty="0"/>
          </a:p>
          <a:p>
            <a:pPr marL="342900" lvl="0" indent="-342900" fontAlgn="t">
              <a:buFont typeface="Arial" panose="020B0604020202020204" pitchFamily="34" charset="0"/>
              <a:buChar char="•"/>
            </a:pPr>
            <a:r>
              <a:rPr lang="en-GB" dirty="0"/>
              <a:t>Long conversation history</a:t>
            </a:r>
          </a:p>
          <a:p>
            <a:pPr marL="342900" lvl="0" indent="-342900" fontAlgn="t">
              <a:buFont typeface="Arial" panose="020B0604020202020204" pitchFamily="34" charset="0"/>
              <a:buChar char="•"/>
            </a:pPr>
            <a:r>
              <a:rPr lang="en-GB" dirty="0"/>
              <a:t>Large instruction files</a:t>
            </a:r>
          </a:p>
          <a:p>
            <a:pPr marL="342900" lvl="0" indent="-342900" fontAlgn="t">
              <a:buFont typeface="Arial" panose="020B0604020202020204" pitchFamily="34" charset="0"/>
              <a:buChar char="•"/>
            </a:pPr>
            <a:r>
              <a:rPr lang="en-GB" dirty="0"/>
              <a:t>Too many files in context</a:t>
            </a:r>
          </a:p>
          <a:p>
            <a:pPr marL="342900" lvl="0" indent="-342900" fontAlgn="t">
              <a:buFont typeface="Arial" panose="020B0604020202020204" pitchFamily="34" charset="0"/>
              <a:buChar char="•"/>
            </a:pPr>
            <a:r>
              <a:rPr lang="en-GB" dirty="0"/>
              <a:t>Unnecessarily detailed output</a:t>
            </a:r>
          </a:p>
          <a:p>
            <a:endParaRPr lang="en-GB" dirty="0"/>
          </a:p>
          <a:p>
            <a:endParaRPr lang="en-US" dirty="0"/>
          </a:p>
        </p:txBody>
      </p:sp>
      <p:pic>
        <p:nvPicPr>
          <p:cNvPr id="4" name="Online Image Placeholder 3" descr="Questions outline">
            <a:extLst>
              <a:ext uri="{FF2B5EF4-FFF2-40B4-BE49-F238E27FC236}">
                <a16:creationId xmlns:a16="http://schemas.microsoft.com/office/drawing/2014/main" id="{72E64934-9457-E496-C49C-5DD73F748F89}"/>
              </a:ext>
            </a:extLst>
          </p:cNvPr>
          <p:cNvPicPr>
            <a:picLocks noGrp="1" noChangeAspect="1"/>
          </p:cNvPicPr>
          <p:nvPr>
            <p:ph type="clipArt" sz="quarter" idx="10"/>
          </p:nvPr>
        </p:nvPicPr>
        <p:blipFill>
          <a:blip>
            <a:extLst>
              <a:ext uri="{96DAC541-7B7A-43D3-8B79-37D633B846F1}">
                <asvg:svgBlip xmlns:asvg="http://schemas.microsoft.com/office/drawing/2016/SVG/main" r:embed="rId4"/>
              </a:ext>
            </a:extLst>
          </a:blip>
          <a:stretch>
            <a:fillRect/>
          </a:stretch>
        </p:blipFill>
        <p:spPr>
          <a:xfrm>
            <a:off x="7356541" y="1548749"/>
            <a:ext cx="3197617" cy="3197617"/>
          </a:xfrm>
        </p:spPr>
      </p:pic>
      <p:sp>
        <p:nvSpPr>
          <p:cNvPr id="2" name="Slide Number Placeholder 1">
            <a:extLst>
              <a:ext uri="{FF2B5EF4-FFF2-40B4-BE49-F238E27FC236}">
                <a16:creationId xmlns:a16="http://schemas.microsoft.com/office/drawing/2014/main" id="{BE028B56-F4B1-EB44-F0A1-54518DBB2FC5}"/>
              </a:ext>
            </a:extLst>
          </p:cNvPr>
          <p:cNvSpPr>
            <a:spLocks noGrp="1"/>
          </p:cNvSpPr>
          <p:nvPr>
            <p:ph type="sldNum" sz="quarter" idx="12"/>
          </p:nvPr>
        </p:nvSpPr>
        <p:spPr>
          <a:xfrm>
            <a:off x="9365513" y="6398855"/>
            <a:ext cx="2743200" cy="365125"/>
          </a:xfrm>
        </p:spPr>
        <p:txBody>
          <a:bodyPr/>
          <a:lstStyle/>
          <a:p>
            <a:fld id="{EFD4AAB0-9A4D-4722-8C32-D717A3BFE122}" type="slidenum">
              <a:rPr lang="en-US" smtClean="0"/>
              <a:pPr/>
              <a:t>14</a:t>
            </a:fld>
            <a:endParaRPr lang="en-US"/>
          </a:p>
        </p:txBody>
      </p:sp>
    </p:spTree>
    <p:extLst>
      <p:ext uri="{BB962C8B-B14F-4D97-AF65-F5344CB8AC3E}">
        <p14:creationId xmlns:p14="http://schemas.microsoft.com/office/powerpoint/2010/main" val="1684275628"/>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07F0-60E8-A284-7A98-F8D70517EAC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F41F15B-E293-FDC7-C81A-64F213308C76}"/>
              </a:ext>
            </a:extLst>
          </p:cNvPr>
          <p:cNvSpPr>
            <a:spLocks noGrp="1"/>
          </p:cNvSpPr>
          <p:nvPr>
            <p:ph type="body" sz="quarter" idx="11"/>
          </p:nvPr>
        </p:nvSpPr>
        <p:spPr/>
        <p:txBody>
          <a:bodyPr/>
          <a:lstStyle/>
          <a:p>
            <a:r>
              <a:rPr lang="en-GB" b="1" dirty="0"/>
              <a:t>Context, threads, Ask, Agent, and cache</a:t>
            </a:r>
          </a:p>
          <a:p>
            <a:endParaRPr lang="en-US" dirty="0"/>
          </a:p>
          <a:p>
            <a:r>
              <a:rPr lang="en-GB" dirty="0"/>
              <a:t>Goal: show the cost of always-on context.</a:t>
            </a:r>
          </a:p>
          <a:p>
            <a:r>
              <a:rPr lang="en-GB" dirty="0"/>
              <a:t>Goal: show that history grows and follows each new turn.</a:t>
            </a:r>
          </a:p>
          <a:p>
            <a:r>
              <a:rPr lang="en-GB" dirty="0"/>
              <a:t>Goal: show a side question that does not join history.</a:t>
            </a:r>
          </a:p>
          <a:p>
            <a:endParaRPr lang="en-GB" dirty="0"/>
          </a:p>
        </p:txBody>
      </p:sp>
      <p:pic>
        <p:nvPicPr>
          <p:cNvPr id="14" name="Online Image Placeholder 11">
            <a:extLst>
              <a:ext uri="{FF2B5EF4-FFF2-40B4-BE49-F238E27FC236}">
                <a16:creationId xmlns:a16="http://schemas.microsoft.com/office/drawing/2014/main" id="{9A9F96DC-328B-BF6B-BF8F-0B1660374F10}"/>
              </a:ext>
            </a:extLst>
          </p:cNvPr>
          <p:cNvPicPr>
            <a:picLocks noGrp="1" noChangeAspect="1"/>
          </p:cNvPicPr>
          <p:nvPr>
            <p:ph type="clipArt" sz="quarter" idx="10"/>
          </p:nvPr>
        </p:nvPicPr>
        <p:blipFill>
          <a:blip>
            <a:extLst>
              <a:ext uri="{96DAC541-7B7A-43D3-8B79-37D633B846F1}">
                <asvg:svgBlip xmlns:asvg="http://schemas.microsoft.com/office/drawing/2016/SVG/main" r:embed="rId2"/>
              </a:ext>
            </a:extLst>
          </a:blip>
          <a:stretch>
            <a:fillRect/>
          </a:stretch>
        </p:blipFill>
        <p:spPr>
          <a:xfrm>
            <a:off x="5673725" y="641257"/>
            <a:ext cx="6307138" cy="5505637"/>
          </a:xfrm>
        </p:spPr>
      </p:pic>
      <p:sp>
        <p:nvSpPr>
          <p:cNvPr id="2" name="Slide Number Placeholder 1">
            <a:extLst>
              <a:ext uri="{FF2B5EF4-FFF2-40B4-BE49-F238E27FC236}">
                <a16:creationId xmlns:a16="http://schemas.microsoft.com/office/drawing/2014/main" id="{A22C7230-33E7-DC15-9FBC-1055EFEBD84A}"/>
              </a:ext>
            </a:extLst>
          </p:cNvPr>
          <p:cNvSpPr>
            <a:spLocks noGrp="1"/>
          </p:cNvSpPr>
          <p:nvPr>
            <p:ph type="sldNum" sz="quarter" idx="12"/>
          </p:nvPr>
        </p:nvSpPr>
        <p:spPr>
          <a:xfrm>
            <a:off x="9365513" y="6398855"/>
            <a:ext cx="2743200" cy="365125"/>
          </a:xfrm>
        </p:spPr>
        <p:txBody>
          <a:bodyPr/>
          <a:lstStyle/>
          <a:p>
            <a:fld id="{EFD4AAB0-9A4D-4722-8C32-D717A3BFE122}" type="slidenum">
              <a:rPr lang="en-US" smtClean="0"/>
              <a:pPr/>
              <a:t>15</a:t>
            </a:fld>
            <a:endParaRPr lang="en-US"/>
          </a:p>
        </p:txBody>
      </p:sp>
    </p:spTree>
    <p:extLst>
      <p:ext uri="{BB962C8B-B14F-4D97-AF65-F5344CB8AC3E}">
        <p14:creationId xmlns:p14="http://schemas.microsoft.com/office/powerpoint/2010/main" val="1501236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357C9-50AD-62DE-5D26-3A17131B68E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88022C2-2955-275E-C4CD-42B5936EEEC7}"/>
              </a:ext>
            </a:extLst>
          </p:cNvPr>
          <p:cNvSpPr>
            <a:spLocks noGrp="1"/>
          </p:cNvSpPr>
          <p:nvPr>
            <p:ph type="body" sz="quarter" idx="11"/>
          </p:nvPr>
        </p:nvSpPr>
        <p:spPr>
          <a:xfrm>
            <a:off x="266700" y="1427564"/>
            <a:ext cx="5968847" cy="5122559"/>
          </a:xfrm>
        </p:spPr>
        <p:txBody>
          <a:bodyPr>
            <a:normAutofit fontScale="85000" lnSpcReduction="20000"/>
          </a:bodyPr>
          <a:lstStyle/>
          <a:p>
            <a:r>
              <a:rPr lang="en-GB" u="sng" dirty="0"/>
              <a:t>You decide – Spend or Simplify</a:t>
            </a:r>
          </a:p>
          <a:p>
            <a:pPr fontAlgn="t"/>
            <a:r>
              <a:rPr lang="en-GB" dirty="0"/>
              <a:t>It's Friday afternoon and you're working on a small validation change in the </a:t>
            </a:r>
            <a:r>
              <a:rPr lang="en-GB" dirty="0" err="1"/>
              <a:t>AndyCorp</a:t>
            </a:r>
            <a:r>
              <a:rPr lang="en-GB" dirty="0"/>
              <a:t> Lite application.</a:t>
            </a:r>
          </a:p>
          <a:p>
            <a:pPr fontAlgn="t"/>
            <a:r>
              <a:rPr lang="en-GB" dirty="0"/>
              <a:t>You need GitHub Copilot's help updating a single service and adding a simple unit test.</a:t>
            </a:r>
          </a:p>
          <a:p>
            <a:pPr fontAlgn="t"/>
            <a:r>
              <a:rPr lang="en-GB" dirty="0"/>
              <a:t>Before you ask Copilot to do the work, you check your current environment and discover:</a:t>
            </a:r>
          </a:p>
          <a:p>
            <a:pPr marL="342900" lvl="0" indent="-342900" fontAlgn="t">
              <a:buFont typeface="Arial" panose="020B0604020202020204" pitchFamily="34" charset="0"/>
              <a:buChar char="•"/>
            </a:pPr>
            <a:r>
              <a:rPr lang="en-GB" dirty="0"/>
              <a:t>The conversation already contains several unrelated tasks from earlier in the day.</a:t>
            </a:r>
          </a:p>
          <a:p>
            <a:pPr marL="342900" lvl="0" indent="-342900" fontAlgn="t">
              <a:buFont typeface="Arial" panose="020B0604020202020204" pitchFamily="34" charset="0"/>
              <a:buChar char="•"/>
            </a:pPr>
            <a:r>
              <a:rPr lang="en-GB" dirty="0"/>
              <a:t>A large HTML release notes file has been added to the context.</a:t>
            </a:r>
          </a:p>
          <a:p>
            <a:pPr marL="342900" lvl="0" indent="-342900" fontAlgn="t">
              <a:buFont typeface="Arial" panose="020B0604020202020204" pitchFamily="34" charset="0"/>
              <a:buChar char="•"/>
            </a:pPr>
            <a:r>
              <a:rPr lang="en-GB" dirty="0"/>
              <a:t>A lengthy AGENTS.md file is available.</a:t>
            </a:r>
          </a:p>
          <a:p>
            <a:pPr marL="342900" lvl="0" indent="-342900" fontAlgn="t">
              <a:buFont typeface="Arial" panose="020B0604020202020204" pitchFamily="34" charset="0"/>
              <a:buChar char="•"/>
            </a:pPr>
            <a:r>
              <a:rPr lang="en-GB" dirty="0"/>
              <a:t>Repository instructions are loaded.</a:t>
            </a:r>
          </a:p>
          <a:p>
            <a:pPr marL="342900" lvl="0" indent="-342900" fontAlgn="t">
              <a:buFont typeface="Arial" panose="020B0604020202020204" pitchFamily="34" charset="0"/>
              <a:buChar char="•"/>
            </a:pPr>
            <a:r>
              <a:rPr lang="en-GB" dirty="0"/>
              <a:t>Agent mode is currently selected.</a:t>
            </a:r>
          </a:p>
          <a:p>
            <a:pPr marL="342900" lvl="0" indent="-342900" fontAlgn="t">
              <a:buFont typeface="Arial" panose="020B0604020202020204" pitchFamily="34" charset="0"/>
              <a:buChar char="•"/>
            </a:pPr>
            <a:r>
              <a:rPr lang="en-GB" dirty="0"/>
              <a:t>You only need a small code change and a short explanation of what changed.</a:t>
            </a:r>
          </a:p>
          <a:p>
            <a:pPr fontAlgn="t"/>
            <a:r>
              <a:rPr lang="en-GB" dirty="0"/>
              <a:t>You have not yet asked Copilot to make the modification.</a:t>
            </a:r>
          </a:p>
          <a:p>
            <a:pPr fontAlgn="t"/>
            <a:r>
              <a:rPr lang="en-GB" dirty="0"/>
              <a:t>You want to achieve the outcome using the least amount of unnecessary context and consumption while still getting a useful result.</a:t>
            </a:r>
          </a:p>
          <a:p>
            <a:pPr fontAlgn="t"/>
            <a:endParaRPr lang="en-GB" dirty="0"/>
          </a:p>
          <a:p>
            <a:endParaRPr lang="en-GB" dirty="0"/>
          </a:p>
          <a:p>
            <a:endParaRPr lang="en-US" dirty="0"/>
          </a:p>
        </p:txBody>
      </p:sp>
      <p:pic>
        <p:nvPicPr>
          <p:cNvPr id="4" name="Online Image Placeholder 3" descr="Questions outline">
            <a:extLst>
              <a:ext uri="{FF2B5EF4-FFF2-40B4-BE49-F238E27FC236}">
                <a16:creationId xmlns:a16="http://schemas.microsoft.com/office/drawing/2014/main" id="{5E220565-46BE-46E4-3A25-2FC8306204F7}"/>
              </a:ext>
            </a:extLst>
          </p:cNvPr>
          <p:cNvPicPr>
            <a:picLocks noGrp="1" noChangeAspect="1"/>
          </p:cNvPicPr>
          <p:nvPr>
            <p:ph type="clipArt" sz="quarter" idx="10"/>
          </p:nvPr>
        </p:nvPicPr>
        <p:blipFill>
          <a:blip>
            <a:extLst>
              <a:ext uri="{96DAC541-7B7A-43D3-8B79-37D633B846F1}">
                <asvg:svgBlip xmlns:asvg="http://schemas.microsoft.com/office/drawing/2016/SVG/main" r:embed="rId3"/>
              </a:ext>
            </a:extLst>
          </a:blip>
          <a:stretch>
            <a:fillRect/>
          </a:stretch>
        </p:blipFill>
        <p:spPr>
          <a:xfrm>
            <a:off x="7587897" y="1427564"/>
            <a:ext cx="2769862" cy="2769862"/>
          </a:xfrm>
        </p:spPr>
      </p:pic>
      <p:sp>
        <p:nvSpPr>
          <p:cNvPr id="2" name="Slide Number Placeholder 1">
            <a:extLst>
              <a:ext uri="{FF2B5EF4-FFF2-40B4-BE49-F238E27FC236}">
                <a16:creationId xmlns:a16="http://schemas.microsoft.com/office/drawing/2014/main" id="{2CB7EEC2-A3C1-79E7-CDB0-4CA8CCB5EDE2}"/>
              </a:ext>
            </a:extLst>
          </p:cNvPr>
          <p:cNvSpPr>
            <a:spLocks noGrp="1"/>
          </p:cNvSpPr>
          <p:nvPr>
            <p:ph type="sldNum" sz="quarter" idx="12"/>
          </p:nvPr>
        </p:nvSpPr>
        <p:spPr/>
        <p:txBody>
          <a:bodyPr/>
          <a:lstStyle/>
          <a:p>
            <a:fld id="{EFD4AAB0-9A4D-4722-8C32-D717A3BFE122}" type="slidenum">
              <a:rPr lang="en-US" smtClean="0"/>
              <a:pPr/>
              <a:t>16</a:t>
            </a:fld>
            <a:endParaRPr lang="en-US"/>
          </a:p>
        </p:txBody>
      </p:sp>
    </p:spTree>
    <p:extLst>
      <p:ext uri="{BB962C8B-B14F-4D97-AF65-F5344CB8AC3E}">
        <p14:creationId xmlns:p14="http://schemas.microsoft.com/office/powerpoint/2010/main" val="880932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5B59-5970-1498-6661-8EF74FF3279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9BD6A8D-DD59-4DDC-79CC-0773F50E8258}"/>
              </a:ext>
            </a:extLst>
          </p:cNvPr>
          <p:cNvSpPr>
            <a:spLocks noGrp="1"/>
          </p:cNvSpPr>
          <p:nvPr>
            <p:ph type="body" sz="quarter" idx="11"/>
          </p:nvPr>
        </p:nvSpPr>
        <p:spPr>
          <a:xfrm>
            <a:off x="266700" y="1882873"/>
            <a:ext cx="5407025" cy="882361"/>
          </a:xfrm>
        </p:spPr>
        <p:txBody>
          <a:bodyPr/>
          <a:lstStyle/>
          <a:p>
            <a:r>
              <a:rPr lang="en-US" dirty="0"/>
              <a:t>Spend Less, Ship the same lab</a:t>
            </a:r>
          </a:p>
        </p:txBody>
      </p:sp>
      <p:sp>
        <p:nvSpPr>
          <p:cNvPr id="3" name="Slide Number Placeholder 2">
            <a:extLst>
              <a:ext uri="{FF2B5EF4-FFF2-40B4-BE49-F238E27FC236}">
                <a16:creationId xmlns:a16="http://schemas.microsoft.com/office/drawing/2014/main" id="{52AE6D28-8DCD-9C17-E7F2-0446FDBD6E09}"/>
              </a:ext>
            </a:extLst>
          </p:cNvPr>
          <p:cNvSpPr>
            <a:spLocks noGrp="1"/>
          </p:cNvSpPr>
          <p:nvPr>
            <p:ph type="sldNum" sz="quarter" idx="12"/>
          </p:nvPr>
        </p:nvSpPr>
        <p:spPr>
          <a:xfrm>
            <a:off x="9365513" y="6398855"/>
            <a:ext cx="2743200" cy="365125"/>
          </a:xfrm>
        </p:spPr>
        <p:txBody>
          <a:bodyPr/>
          <a:lstStyle/>
          <a:p>
            <a:fld id="{EFD4AAB0-9A4D-4722-8C32-D717A3BFE122}" type="slidenum">
              <a:rPr lang="en-US" smtClean="0"/>
              <a:pPr/>
              <a:t>17</a:t>
            </a:fld>
            <a:endParaRPr lang="en-US"/>
          </a:p>
        </p:txBody>
      </p:sp>
    </p:spTree>
    <p:extLst>
      <p:ext uri="{BB962C8B-B14F-4D97-AF65-F5344CB8AC3E}">
        <p14:creationId xmlns:p14="http://schemas.microsoft.com/office/powerpoint/2010/main" val="284918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74452-46A9-2707-D6A0-72653FEE9DF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9B4E276-D653-EBDF-E04C-6E5DC14E5168}"/>
              </a:ext>
            </a:extLst>
          </p:cNvPr>
          <p:cNvSpPr>
            <a:spLocks noGrp="1"/>
          </p:cNvSpPr>
          <p:nvPr>
            <p:ph type="body" sz="quarter" idx="11"/>
          </p:nvPr>
        </p:nvSpPr>
        <p:spPr/>
        <p:txBody>
          <a:bodyPr/>
          <a:lstStyle/>
          <a:p>
            <a:r>
              <a:rPr lang="en-GB" dirty="0"/>
              <a:t>Use evidence. </a:t>
            </a:r>
          </a:p>
          <a:p>
            <a:r>
              <a:rPr lang="en-GB" dirty="0"/>
              <a:t>Remove waste. </a:t>
            </a:r>
          </a:p>
          <a:p>
            <a:r>
              <a:rPr lang="en-GB" dirty="0"/>
              <a:t>Preserve the result.</a:t>
            </a:r>
          </a:p>
          <a:p>
            <a:endParaRPr lang="en-US" dirty="0"/>
          </a:p>
        </p:txBody>
      </p:sp>
      <p:sp>
        <p:nvSpPr>
          <p:cNvPr id="4" name="Online Image Placeholder 3">
            <a:extLst>
              <a:ext uri="{FF2B5EF4-FFF2-40B4-BE49-F238E27FC236}">
                <a16:creationId xmlns:a16="http://schemas.microsoft.com/office/drawing/2014/main" id="{426EB613-585E-356A-91B9-B40B4A54BB35}"/>
              </a:ext>
            </a:extLst>
          </p:cNvPr>
          <p:cNvSpPr>
            <a:spLocks noGrp="1"/>
          </p:cNvSpPr>
          <p:nvPr>
            <p:ph type="clipArt" sz="quarter" idx="10"/>
          </p:nvPr>
        </p:nvSpPr>
        <p:spPr/>
        <p:txBody>
          <a:bodyPr/>
          <a:lstStyle/>
          <a:p>
            <a:endParaRPr lang="en-US"/>
          </a:p>
        </p:txBody>
      </p:sp>
      <p:sp>
        <p:nvSpPr>
          <p:cNvPr id="2" name="Slide Number Placeholder 1">
            <a:extLst>
              <a:ext uri="{FF2B5EF4-FFF2-40B4-BE49-F238E27FC236}">
                <a16:creationId xmlns:a16="http://schemas.microsoft.com/office/drawing/2014/main" id="{D3890BF5-9A88-86B3-A7CA-5E563511FDCB}"/>
              </a:ext>
            </a:extLst>
          </p:cNvPr>
          <p:cNvSpPr>
            <a:spLocks noGrp="1"/>
          </p:cNvSpPr>
          <p:nvPr>
            <p:ph type="sldNum" sz="quarter" idx="12"/>
          </p:nvPr>
        </p:nvSpPr>
        <p:spPr>
          <a:xfrm>
            <a:off x="9365513" y="6398855"/>
            <a:ext cx="2743200" cy="365125"/>
          </a:xfrm>
        </p:spPr>
        <p:txBody>
          <a:bodyPr/>
          <a:lstStyle/>
          <a:p>
            <a:fld id="{A05339FF-817B-4257-AE86-3C7BBAA9CF96}" type="slidenum">
              <a:rPr lang="en-US" smtClean="0"/>
              <a:pPr/>
              <a:t>18</a:t>
            </a:fld>
            <a:endParaRPr lang="en-US"/>
          </a:p>
        </p:txBody>
      </p:sp>
    </p:spTree>
    <p:extLst>
      <p:ext uri="{BB962C8B-B14F-4D97-AF65-F5344CB8AC3E}">
        <p14:creationId xmlns:p14="http://schemas.microsoft.com/office/powerpoint/2010/main" val="4231535992"/>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D6DE7-EE06-3CF8-DAEF-499315689A2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FF5E0DA-DB9D-79DC-E8AA-3F158A4BDC89}"/>
              </a:ext>
            </a:extLst>
          </p:cNvPr>
          <p:cNvSpPr>
            <a:spLocks noGrp="1"/>
          </p:cNvSpPr>
          <p:nvPr>
            <p:ph type="title"/>
          </p:nvPr>
        </p:nvSpPr>
        <p:spPr>
          <a:xfrm>
            <a:off x="208006" y="2103437"/>
            <a:ext cx="5887993" cy="1325563"/>
          </a:xfrm>
        </p:spPr>
        <p:txBody>
          <a:bodyPr/>
          <a:lstStyle/>
          <a:p>
            <a:r>
              <a:rPr lang="en-US" dirty="0"/>
              <a:t>Appendix – Demo Recaps</a:t>
            </a:r>
          </a:p>
        </p:txBody>
      </p:sp>
      <p:sp>
        <p:nvSpPr>
          <p:cNvPr id="4" name="Slide Number Placeholder 3">
            <a:extLst>
              <a:ext uri="{FF2B5EF4-FFF2-40B4-BE49-F238E27FC236}">
                <a16:creationId xmlns:a16="http://schemas.microsoft.com/office/drawing/2014/main" id="{36D654EC-338C-9D2A-AA34-424F535B881D}"/>
              </a:ext>
            </a:extLst>
          </p:cNvPr>
          <p:cNvSpPr>
            <a:spLocks noGrp="1"/>
          </p:cNvSpPr>
          <p:nvPr>
            <p:ph type="sldNum" sz="quarter" idx="12"/>
          </p:nvPr>
        </p:nvSpPr>
        <p:spPr>
          <a:xfrm>
            <a:off x="9365513" y="6398855"/>
            <a:ext cx="2743200" cy="365125"/>
          </a:xfrm>
        </p:spPr>
        <p:txBody>
          <a:bodyPr/>
          <a:lstStyle/>
          <a:p>
            <a:fld id="{48ECD659-E04B-4C58-A509-92B8302CE327}" type="slidenum">
              <a:rPr lang="en-US" smtClean="0"/>
              <a:pPr/>
              <a:t>19</a:t>
            </a:fld>
            <a:endParaRPr lang="en-US"/>
          </a:p>
        </p:txBody>
      </p:sp>
      <p:sp>
        <p:nvSpPr>
          <p:cNvPr id="5" name="Online Image Placeholder 4">
            <a:extLst>
              <a:ext uri="{FF2B5EF4-FFF2-40B4-BE49-F238E27FC236}">
                <a16:creationId xmlns:a16="http://schemas.microsoft.com/office/drawing/2014/main" id="{FF9A3412-1B20-4CF3-6B47-E71020CCE99A}"/>
              </a:ext>
            </a:extLst>
          </p:cNvPr>
          <p:cNvSpPr>
            <a:spLocks noGrp="1"/>
          </p:cNvSpPr>
          <p:nvPr>
            <p:ph type="clipArt" sz="quarter" idx="10"/>
          </p:nvPr>
        </p:nvSpPr>
        <p:spPr/>
        <p:txBody>
          <a:bodyPr/>
          <a:lstStyle/>
          <a:p>
            <a:endParaRPr lang="en-GB"/>
          </a:p>
        </p:txBody>
      </p:sp>
      <p:sp>
        <p:nvSpPr>
          <p:cNvPr id="9" name="Content Placeholder 8">
            <a:extLst>
              <a:ext uri="{FF2B5EF4-FFF2-40B4-BE49-F238E27FC236}">
                <a16:creationId xmlns:a16="http://schemas.microsoft.com/office/drawing/2014/main" id="{1AC9693F-2189-47CA-B03F-2B623DB6196C}"/>
              </a:ext>
            </a:extLst>
          </p:cNvPr>
          <p:cNvSpPr>
            <a:spLocks noGrp="1"/>
          </p:cNvSpPr>
          <p:nvPr>
            <p:ph idx="1"/>
          </p:nvPr>
        </p:nvSpPr>
        <p:spPr/>
        <p:txBody>
          <a:bodyPr/>
          <a:lstStyle/>
          <a:p>
            <a:r>
              <a:rPr lang="en-GB" dirty="0"/>
              <a:t>Demo 1</a:t>
            </a:r>
          </a:p>
        </p:txBody>
      </p:sp>
    </p:spTree>
    <p:extLst>
      <p:ext uri="{BB962C8B-B14F-4D97-AF65-F5344CB8AC3E}">
        <p14:creationId xmlns:p14="http://schemas.microsoft.com/office/powerpoint/2010/main" val="2684212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60364-3167-4B52-1C3C-44F5BECE220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2ACC72-CD15-89EC-9BA8-089FB203A5DE}"/>
              </a:ext>
            </a:extLst>
          </p:cNvPr>
          <p:cNvSpPr>
            <a:spLocks noGrp="1"/>
          </p:cNvSpPr>
          <p:nvPr>
            <p:ph type="ctrTitle"/>
          </p:nvPr>
        </p:nvSpPr>
        <p:spPr/>
        <p:txBody>
          <a:bodyPr/>
          <a:lstStyle/>
          <a:p>
            <a:pPr fontAlgn="t"/>
            <a:r>
              <a:rPr lang="en-GB" dirty="0"/>
              <a:t>Demo recap</a:t>
            </a:r>
          </a:p>
        </p:txBody>
      </p:sp>
      <p:sp>
        <p:nvSpPr>
          <p:cNvPr id="5" name="Slide Number Placeholder 4">
            <a:extLst>
              <a:ext uri="{FF2B5EF4-FFF2-40B4-BE49-F238E27FC236}">
                <a16:creationId xmlns:a16="http://schemas.microsoft.com/office/drawing/2014/main" id="{EFA2C67C-009B-7586-700C-FD4CA7AB4772}"/>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20</a:t>
            </a:fld>
            <a:endParaRPr lang="en-US"/>
          </a:p>
        </p:txBody>
      </p:sp>
      <p:sp>
        <p:nvSpPr>
          <p:cNvPr id="4" name="TextBox 3">
            <a:extLst>
              <a:ext uri="{FF2B5EF4-FFF2-40B4-BE49-F238E27FC236}">
                <a16:creationId xmlns:a16="http://schemas.microsoft.com/office/drawing/2014/main" id="{2A2302A0-7EBF-311E-85C6-15187E913D05}"/>
              </a:ext>
            </a:extLst>
          </p:cNvPr>
          <p:cNvSpPr txBox="1"/>
          <p:nvPr/>
        </p:nvSpPr>
        <p:spPr>
          <a:xfrm>
            <a:off x="443921" y="1914047"/>
            <a:ext cx="6097836" cy="369332"/>
          </a:xfrm>
          <a:prstGeom prst="rect">
            <a:avLst/>
          </a:prstGeom>
          <a:noFill/>
        </p:spPr>
        <p:txBody>
          <a:bodyPr wrap="square">
            <a:spAutoFit/>
          </a:bodyPr>
          <a:lstStyle/>
          <a:p>
            <a:pPr>
              <a:buNone/>
            </a:pPr>
            <a:r>
              <a:rPr lang="en-GB" dirty="0">
                <a:latin typeface="+mn-lt"/>
              </a:rPr>
              <a:t> /limits set max-ai-credits 30 – Soft credit cap </a:t>
            </a:r>
            <a:endParaRPr lang="en-GB" dirty="0">
              <a:latin typeface="Courier New" panose="02070309020205020404" pitchFamily="49" charset="0"/>
            </a:endParaRPr>
          </a:p>
        </p:txBody>
      </p:sp>
      <p:pic>
        <p:nvPicPr>
          <p:cNvPr id="9" name="Picture 8">
            <a:extLst>
              <a:ext uri="{FF2B5EF4-FFF2-40B4-BE49-F238E27FC236}">
                <a16:creationId xmlns:a16="http://schemas.microsoft.com/office/drawing/2014/main" id="{A7D00F2A-E3EA-CC11-0557-03301E7E1716}"/>
              </a:ext>
            </a:extLst>
          </p:cNvPr>
          <p:cNvPicPr>
            <a:picLocks noChangeAspect="1"/>
          </p:cNvPicPr>
          <p:nvPr/>
        </p:nvPicPr>
        <p:blipFill>
          <a:blip r:embed="rId3"/>
          <a:stretch>
            <a:fillRect/>
          </a:stretch>
        </p:blipFill>
        <p:spPr>
          <a:xfrm>
            <a:off x="4906179" y="2614419"/>
            <a:ext cx="5206392" cy="213940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E9C59BE0-B5D2-A5D7-0B3D-32D038EEABEF}"/>
              </a:ext>
            </a:extLst>
          </p:cNvPr>
          <p:cNvSpPr txBox="1"/>
          <p:nvPr/>
        </p:nvSpPr>
        <p:spPr>
          <a:xfrm>
            <a:off x="443921" y="2614419"/>
            <a:ext cx="6097836" cy="369332"/>
          </a:xfrm>
          <a:prstGeom prst="rect">
            <a:avLst/>
          </a:prstGeom>
          <a:noFill/>
        </p:spPr>
        <p:txBody>
          <a:bodyPr wrap="square">
            <a:spAutoFit/>
          </a:bodyPr>
          <a:lstStyle/>
          <a:p>
            <a:pPr>
              <a:buNone/>
            </a:pPr>
            <a:r>
              <a:rPr lang="en-GB" dirty="0">
                <a:latin typeface="+mn-lt"/>
              </a:rPr>
              <a:t>/Context</a:t>
            </a:r>
            <a:endParaRPr lang="en-GB" dirty="0">
              <a:latin typeface="Courier New" panose="02070309020205020404" pitchFamily="49" charset="0"/>
            </a:endParaRPr>
          </a:p>
        </p:txBody>
      </p:sp>
    </p:spTree>
    <p:extLst>
      <p:ext uri="{BB962C8B-B14F-4D97-AF65-F5344CB8AC3E}">
        <p14:creationId xmlns:p14="http://schemas.microsoft.com/office/powerpoint/2010/main" val="2101941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DA02-09DC-679F-B13D-C4DBD835728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AEF608-B92D-15F8-C75E-A0C253D4CC1A}"/>
              </a:ext>
            </a:extLst>
          </p:cNvPr>
          <p:cNvSpPr>
            <a:spLocks noGrp="1"/>
          </p:cNvSpPr>
          <p:nvPr>
            <p:ph type="ctrTitle"/>
          </p:nvPr>
        </p:nvSpPr>
        <p:spPr/>
        <p:txBody>
          <a:bodyPr/>
          <a:lstStyle/>
          <a:p>
            <a:pPr fontAlgn="t"/>
            <a:r>
              <a:rPr lang="en-GB" dirty="0"/>
              <a:t>Demo recap</a:t>
            </a:r>
          </a:p>
        </p:txBody>
      </p:sp>
      <p:sp>
        <p:nvSpPr>
          <p:cNvPr id="5" name="Slide Number Placeholder 4">
            <a:extLst>
              <a:ext uri="{FF2B5EF4-FFF2-40B4-BE49-F238E27FC236}">
                <a16:creationId xmlns:a16="http://schemas.microsoft.com/office/drawing/2014/main" id="{10EC1A01-2BF7-7F4F-9430-846A6250BC05}"/>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21</a:t>
            </a:fld>
            <a:endParaRPr lang="en-US"/>
          </a:p>
        </p:txBody>
      </p:sp>
      <p:sp>
        <p:nvSpPr>
          <p:cNvPr id="11" name="TextBox 10">
            <a:extLst>
              <a:ext uri="{FF2B5EF4-FFF2-40B4-BE49-F238E27FC236}">
                <a16:creationId xmlns:a16="http://schemas.microsoft.com/office/drawing/2014/main" id="{4613138E-9613-92F9-86BF-400C65EBA395}"/>
              </a:ext>
            </a:extLst>
          </p:cNvPr>
          <p:cNvSpPr txBox="1"/>
          <p:nvPr/>
        </p:nvSpPr>
        <p:spPr>
          <a:xfrm>
            <a:off x="443921" y="1738771"/>
            <a:ext cx="6097836" cy="369332"/>
          </a:xfrm>
          <a:prstGeom prst="rect">
            <a:avLst/>
          </a:prstGeom>
          <a:noFill/>
        </p:spPr>
        <p:txBody>
          <a:bodyPr wrap="square">
            <a:spAutoFit/>
          </a:bodyPr>
          <a:lstStyle/>
          <a:p>
            <a:pPr>
              <a:buNone/>
            </a:pPr>
            <a:r>
              <a:rPr lang="en-GB" dirty="0">
                <a:latin typeface="+mn-lt"/>
              </a:rPr>
              <a:t>/model</a:t>
            </a:r>
            <a:endParaRPr lang="en-GB" dirty="0">
              <a:latin typeface="Courier New" panose="02070309020205020404" pitchFamily="49" charset="0"/>
            </a:endParaRPr>
          </a:p>
        </p:txBody>
      </p:sp>
      <p:pic>
        <p:nvPicPr>
          <p:cNvPr id="3" name="Picture 2">
            <a:extLst>
              <a:ext uri="{FF2B5EF4-FFF2-40B4-BE49-F238E27FC236}">
                <a16:creationId xmlns:a16="http://schemas.microsoft.com/office/drawing/2014/main" id="{A30DD56C-5584-5D81-F453-18B51477B145}"/>
              </a:ext>
            </a:extLst>
          </p:cNvPr>
          <p:cNvPicPr>
            <a:picLocks noChangeAspect="1"/>
          </p:cNvPicPr>
          <p:nvPr/>
        </p:nvPicPr>
        <p:blipFill>
          <a:blip r:embed="rId3"/>
          <a:stretch>
            <a:fillRect/>
          </a:stretch>
        </p:blipFill>
        <p:spPr>
          <a:xfrm>
            <a:off x="2610997" y="1447314"/>
            <a:ext cx="8839626" cy="379065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77137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FF653-0BA4-0144-8497-B0F88324B4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DCD8EA5-AF6E-E694-F775-E330A9362ADD}"/>
              </a:ext>
            </a:extLst>
          </p:cNvPr>
          <p:cNvSpPr>
            <a:spLocks noGrp="1"/>
          </p:cNvSpPr>
          <p:nvPr>
            <p:ph type="ctrTitle"/>
          </p:nvPr>
        </p:nvSpPr>
        <p:spPr/>
        <p:txBody>
          <a:bodyPr/>
          <a:lstStyle/>
          <a:p>
            <a:pPr fontAlgn="t"/>
            <a:r>
              <a:rPr lang="en-GB" dirty="0"/>
              <a:t>Demo recap</a:t>
            </a:r>
          </a:p>
        </p:txBody>
      </p:sp>
      <p:sp>
        <p:nvSpPr>
          <p:cNvPr id="5" name="Slide Number Placeholder 4">
            <a:extLst>
              <a:ext uri="{FF2B5EF4-FFF2-40B4-BE49-F238E27FC236}">
                <a16:creationId xmlns:a16="http://schemas.microsoft.com/office/drawing/2014/main" id="{5A61BA36-A37F-0194-313D-9117C07A47D2}"/>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22</a:t>
            </a:fld>
            <a:endParaRPr lang="en-US"/>
          </a:p>
        </p:txBody>
      </p:sp>
      <p:sp>
        <p:nvSpPr>
          <p:cNvPr id="11" name="TextBox 10">
            <a:extLst>
              <a:ext uri="{FF2B5EF4-FFF2-40B4-BE49-F238E27FC236}">
                <a16:creationId xmlns:a16="http://schemas.microsoft.com/office/drawing/2014/main" id="{611453B2-A691-134C-A2ED-683978F11E29}"/>
              </a:ext>
            </a:extLst>
          </p:cNvPr>
          <p:cNvSpPr txBox="1"/>
          <p:nvPr/>
        </p:nvSpPr>
        <p:spPr>
          <a:xfrm>
            <a:off x="443921" y="1359179"/>
            <a:ext cx="6097836" cy="923330"/>
          </a:xfrm>
          <a:prstGeom prst="rect">
            <a:avLst/>
          </a:prstGeom>
          <a:noFill/>
        </p:spPr>
        <p:txBody>
          <a:bodyPr wrap="square">
            <a:spAutoFit/>
          </a:bodyPr>
          <a:lstStyle/>
          <a:p>
            <a:pPr>
              <a:buNone/>
            </a:pPr>
            <a:r>
              <a:rPr lang="en-GB" dirty="0">
                <a:latin typeface="+mn-lt"/>
              </a:rPr>
              <a:t>Prompt</a:t>
            </a:r>
          </a:p>
          <a:p>
            <a:pPr>
              <a:buNone/>
            </a:pPr>
            <a:endParaRPr lang="en-GB" dirty="0"/>
          </a:p>
          <a:p>
            <a:pPr>
              <a:buNone/>
            </a:pPr>
            <a:endParaRPr lang="en-GB" dirty="0">
              <a:latin typeface="Courier New" panose="02070309020205020404" pitchFamily="49" charset="0"/>
            </a:endParaRPr>
          </a:p>
        </p:txBody>
      </p:sp>
      <p:pic>
        <p:nvPicPr>
          <p:cNvPr id="4" name="Picture 3">
            <a:extLst>
              <a:ext uri="{FF2B5EF4-FFF2-40B4-BE49-F238E27FC236}">
                <a16:creationId xmlns:a16="http://schemas.microsoft.com/office/drawing/2014/main" id="{ACA3CCFE-1E7C-2C0A-5D9A-B943C9C00BA9}"/>
              </a:ext>
            </a:extLst>
          </p:cNvPr>
          <p:cNvPicPr>
            <a:picLocks noChangeAspect="1"/>
          </p:cNvPicPr>
          <p:nvPr/>
        </p:nvPicPr>
        <p:blipFill>
          <a:blip r:embed="rId3"/>
          <a:stretch>
            <a:fillRect/>
          </a:stretch>
        </p:blipFill>
        <p:spPr>
          <a:xfrm>
            <a:off x="565108" y="1809919"/>
            <a:ext cx="9140754" cy="1194664"/>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A74B132E-1BEC-F25A-7F00-FF99D3F70FB6}"/>
              </a:ext>
            </a:extLst>
          </p:cNvPr>
          <p:cNvPicPr>
            <a:picLocks noChangeAspect="1"/>
          </p:cNvPicPr>
          <p:nvPr/>
        </p:nvPicPr>
        <p:blipFill>
          <a:blip r:embed="rId4"/>
          <a:stretch>
            <a:fillRect/>
          </a:stretch>
        </p:blipFill>
        <p:spPr>
          <a:xfrm>
            <a:off x="2941502" y="3555955"/>
            <a:ext cx="6965025" cy="2394991"/>
          </a:xfrm>
          <a:prstGeom prst="rect">
            <a:avLst/>
          </a:prstGeom>
          <a:effectLst>
            <a:outerShdw blurRad="50800" dist="38100" dir="2700000" algn="tl" rotWithShape="0">
              <a:prstClr val="black">
                <a:alpha val="40000"/>
              </a:prstClr>
            </a:outerShdw>
          </a:effectLst>
        </p:spPr>
      </p:pic>
      <p:cxnSp>
        <p:nvCxnSpPr>
          <p:cNvPr id="10" name="Straight Arrow Connector 9">
            <a:extLst>
              <a:ext uri="{FF2B5EF4-FFF2-40B4-BE49-F238E27FC236}">
                <a16:creationId xmlns:a16="http://schemas.microsoft.com/office/drawing/2014/main" id="{B82AA6A1-D3A4-8A5D-BF35-0ACAA7BD1EC7}"/>
              </a:ext>
            </a:extLst>
          </p:cNvPr>
          <p:cNvCxnSpPr/>
          <p:nvPr/>
        </p:nvCxnSpPr>
        <p:spPr>
          <a:xfrm>
            <a:off x="6096000" y="3004583"/>
            <a:ext cx="0" cy="55137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654294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251C-E6A1-E5D8-DA55-A11BDC7A36A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6CB4F0A-E48B-A765-4B3A-116D53281637}"/>
              </a:ext>
            </a:extLst>
          </p:cNvPr>
          <p:cNvSpPr>
            <a:spLocks noGrp="1"/>
          </p:cNvSpPr>
          <p:nvPr>
            <p:ph type="ctrTitle"/>
          </p:nvPr>
        </p:nvSpPr>
        <p:spPr/>
        <p:txBody>
          <a:bodyPr/>
          <a:lstStyle/>
          <a:p>
            <a:pPr fontAlgn="t"/>
            <a:r>
              <a:rPr lang="en-GB" dirty="0"/>
              <a:t>Demo recap</a:t>
            </a:r>
          </a:p>
        </p:txBody>
      </p:sp>
      <p:sp>
        <p:nvSpPr>
          <p:cNvPr id="5" name="Slide Number Placeholder 4">
            <a:extLst>
              <a:ext uri="{FF2B5EF4-FFF2-40B4-BE49-F238E27FC236}">
                <a16:creationId xmlns:a16="http://schemas.microsoft.com/office/drawing/2014/main" id="{5010409B-A0A4-B14F-99CF-4EB4223D410A}"/>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23</a:t>
            </a:fld>
            <a:endParaRPr lang="en-US"/>
          </a:p>
        </p:txBody>
      </p:sp>
      <p:sp>
        <p:nvSpPr>
          <p:cNvPr id="11" name="TextBox 10">
            <a:extLst>
              <a:ext uri="{FF2B5EF4-FFF2-40B4-BE49-F238E27FC236}">
                <a16:creationId xmlns:a16="http://schemas.microsoft.com/office/drawing/2014/main" id="{4705DFEE-47F4-B23C-16B9-F152B04A6D1C}"/>
              </a:ext>
            </a:extLst>
          </p:cNvPr>
          <p:cNvSpPr txBox="1"/>
          <p:nvPr/>
        </p:nvSpPr>
        <p:spPr>
          <a:xfrm>
            <a:off x="443921" y="1359179"/>
            <a:ext cx="6097836" cy="923330"/>
          </a:xfrm>
          <a:prstGeom prst="rect">
            <a:avLst/>
          </a:prstGeom>
          <a:noFill/>
        </p:spPr>
        <p:txBody>
          <a:bodyPr wrap="square">
            <a:spAutoFit/>
          </a:bodyPr>
          <a:lstStyle/>
          <a:p>
            <a:pPr>
              <a:buNone/>
            </a:pPr>
            <a:r>
              <a:rPr lang="en-GB" dirty="0">
                <a:latin typeface="+mn-lt"/>
              </a:rPr>
              <a:t>/usage</a:t>
            </a:r>
          </a:p>
          <a:p>
            <a:pPr>
              <a:buNone/>
            </a:pPr>
            <a:endParaRPr lang="en-GB" dirty="0"/>
          </a:p>
          <a:p>
            <a:pPr>
              <a:buNone/>
            </a:pPr>
            <a:endParaRPr lang="en-GB" dirty="0">
              <a:latin typeface="Courier New" panose="02070309020205020404" pitchFamily="49" charset="0"/>
            </a:endParaRPr>
          </a:p>
        </p:txBody>
      </p:sp>
      <p:cxnSp>
        <p:nvCxnSpPr>
          <p:cNvPr id="10" name="Straight Arrow Connector 9">
            <a:extLst>
              <a:ext uri="{FF2B5EF4-FFF2-40B4-BE49-F238E27FC236}">
                <a16:creationId xmlns:a16="http://schemas.microsoft.com/office/drawing/2014/main" id="{A5137FAD-9C8A-3E72-2410-40D57198847F}"/>
              </a:ext>
            </a:extLst>
          </p:cNvPr>
          <p:cNvCxnSpPr/>
          <p:nvPr/>
        </p:nvCxnSpPr>
        <p:spPr>
          <a:xfrm>
            <a:off x="6096000" y="3004583"/>
            <a:ext cx="0" cy="55137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pic>
        <p:nvPicPr>
          <p:cNvPr id="3" name="Picture 2">
            <a:extLst>
              <a:ext uri="{FF2B5EF4-FFF2-40B4-BE49-F238E27FC236}">
                <a16:creationId xmlns:a16="http://schemas.microsoft.com/office/drawing/2014/main" id="{972FDCB5-9F0B-6F73-8DA8-06E5165072AE}"/>
              </a:ext>
            </a:extLst>
          </p:cNvPr>
          <p:cNvPicPr>
            <a:picLocks noChangeAspect="1"/>
          </p:cNvPicPr>
          <p:nvPr/>
        </p:nvPicPr>
        <p:blipFill>
          <a:blip r:embed="rId3"/>
          <a:stretch>
            <a:fillRect/>
          </a:stretch>
        </p:blipFill>
        <p:spPr>
          <a:xfrm>
            <a:off x="1711708" y="1507789"/>
            <a:ext cx="8264426" cy="3842421"/>
          </a:xfrm>
          <a:prstGeom prst="rect">
            <a:avLst/>
          </a:prstGeom>
          <a:effectLst>
            <a:outerShdw blurRad="50800" dist="38100" dir="2700000" algn="tl" rotWithShape="0">
              <a:prstClr val="black">
                <a:alpha val="40000"/>
              </a:prstClr>
            </a:outerShdw>
          </a:effectLst>
        </p:spPr>
      </p:pic>
      <p:sp>
        <p:nvSpPr>
          <p:cNvPr id="6" name="Oval 5">
            <a:extLst>
              <a:ext uri="{FF2B5EF4-FFF2-40B4-BE49-F238E27FC236}">
                <a16:creationId xmlns:a16="http://schemas.microsoft.com/office/drawing/2014/main" id="{EB53F6F2-CEDB-4FC5-667A-9A882CF80CB8}"/>
              </a:ext>
            </a:extLst>
          </p:cNvPr>
          <p:cNvSpPr/>
          <p:nvPr/>
        </p:nvSpPr>
        <p:spPr>
          <a:xfrm>
            <a:off x="7866044" y="4814371"/>
            <a:ext cx="2423711" cy="7160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2272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7E289-7C53-E3A8-53B3-E5E2E4F33C4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AD972C-B017-4270-53CC-39234F597BEC}"/>
              </a:ext>
            </a:extLst>
          </p:cNvPr>
          <p:cNvSpPr>
            <a:spLocks noGrp="1"/>
          </p:cNvSpPr>
          <p:nvPr>
            <p:ph type="ctrTitle"/>
          </p:nvPr>
        </p:nvSpPr>
        <p:spPr/>
        <p:txBody>
          <a:bodyPr/>
          <a:lstStyle/>
          <a:p>
            <a:pPr fontAlgn="t"/>
            <a:r>
              <a:rPr lang="en-GB" dirty="0"/>
              <a:t>Demo recap</a:t>
            </a:r>
          </a:p>
        </p:txBody>
      </p:sp>
      <p:sp>
        <p:nvSpPr>
          <p:cNvPr id="5" name="Slide Number Placeholder 4">
            <a:extLst>
              <a:ext uri="{FF2B5EF4-FFF2-40B4-BE49-F238E27FC236}">
                <a16:creationId xmlns:a16="http://schemas.microsoft.com/office/drawing/2014/main" id="{E1D8ACBC-A346-BF5F-497A-1049CADE41C0}"/>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24</a:t>
            </a:fld>
            <a:endParaRPr lang="en-US"/>
          </a:p>
        </p:txBody>
      </p:sp>
      <p:sp>
        <p:nvSpPr>
          <p:cNvPr id="11" name="TextBox 10">
            <a:extLst>
              <a:ext uri="{FF2B5EF4-FFF2-40B4-BE49-F238E27FC236}">
                <a16:creationId xmlns:a16="http://schemas.microsoft.com/office/drawing/2014/main" id="{7F6B73FD-A4E0-0551-6074-AE72143DEC33}"/>
              </a:ext>
            </a:extLst>
          </p:cNvPr>
          <p:cNvSpPr txBox="1"/>
          <p:nvPr/>
        </p:nvSpPr>
        <p:spPr>
          <a:xfrm>
            <a:off x="443921" y="1359179"/>
            <a:ext cx="6097836" cy="923330"/>
          </a:xfrm>
          <a:prstGeom prst="rect">
            <a:avLst/>
          </a:prstGeom>
          <a:noFill/>
        </p:spPr>
        <p:txBody>
          <a:bodyPr wrap="square">
            <a:spAutoFit/>
          </a:bodyPr>
          <a:lstStyle/>
          <a:p>
            <a:pPr>
              <a:buNone/>
            </a:pPr>
            <a:r>
              <a:rPr lang="en-GB" dirty="0">
                <a:latin typeface="+mn-lt"/>
              </a:rPr>
              <a:t>After Prompt</a:t>
            </a:r>
          </a:p>
          <a:p>
            <a:pPr>
              <a:buNone/>
            </a:pPr>
            <a:endParaRPr lang="en-GB" dirty="0"/>
          </a:p>
          <a:p>
            <a:pPr>
              <a:buNone/>
            </a:pPr>
            <a:endParaRPr lang="en-GB" dirty="0">
              <a:latin typeface="Courier New" panose="02070309020205020404" pitchFamily="49" charset="0"/>
            </a:endParaRPr>
          </a:p>
        </p:txBody>
      </p:sp>
      <p:pic>
        <p:nvPicPr>
          <p:cNvPr id="4" name="Picture 3">
            <a:extLst>
              <a:ext uri="{FF2B5EF4-FFF2-40B4-BE49-F238E27FC236}">
                <a16:creationId xmlns:a16="http://schemas.microsoft.com/office/drawing/2014/main" id="{A6F7D059-B883-B341-53CB-4F11E1D01D5E}"/>
              </a:ext>
            </a:extLst>
          </p:cNvPr>
          <p:cNvPicPr>
            <a:picLocks noChangeAspect="1"/>
          </p:cNvPicPr>
          <p:nvPr/>
        </p:nvPicPr>
        <p:blipFill>
          <a:blip r:embed="rId3"/>
          <a:stretch>
            <a:fillRect/>
          </a:stretch>
        </p:blipFill>
        <p:spPr>
          <a:xfrm>
            <a:off x="2596342" y="1359179"/>
            <a:ext cx="8498819" cy="2194428"/>
          </a:xfrm>
          <a:prstGeom prst="rect">
            <a:avLst/>
          </a:prstGeom>
          <a:effectLst>
            <a:outerShdw blurRad="50800" dist="38100" dir="2700000" algn="tl" rotWithShape="0">
              <a:prstClr val="black">
                <a:alpha val="40000"/>
              </a:prstClr>
            </a:outerShdw>
          </a:effectLst>
        </p:spPr>
      </p:pic>
      <p:sp>
        <p:nvSpPr>
          <p:cNvPr id="9" name="Oval 8">
            <a:extLst>
              <a:ext uri="{FF2B5EF4-FFF2-40B4-BE49-F238E27FC236}">
                <a16:creationId xmlns:a16="http://schemas.microsoft.com/office/drawing/2014/main" id="{17BC2C12-3091-D141-EBE9-F105C6292957}"/>
              </a:ext>
            </a:extLst>
          </p:cNvPr>
          <p:cNvSpPr/>
          <p:nvPr/>
        </p:nvSpPr>
        <p:spPr>
          <a:xfrm>
            <a:off x="6096000" y="2218164"/>
            <a:ext cx="2423711" cy="7160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0B77ACA1-5915-F4DA-EC26-32C4D8C7D8F3}"/>
              </a:ext>
            </a:extLst>
          </p:cNvPr>
          <p:cNvPicPr>
            <a:picLocks noChangeAspect="1"/>
          </p:cNvPicPr>
          <p:nvPr/>
        </p:nvPicPr>
        <p:blipFill>
          <a:blip r:embed="rId4"/>
          <a:stretch>
            <a:fillRect/>
          </a:stretch>
        </p:blipFill>
        <p:spPr>
          <a:xfrm>
            <a:off x="4465999" y="3977624"/>
            <a:ext cx="6055110" cy="2300265"/>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A966FD69-A83B-310A-DB08-FD3DC5D1F306}"/>
              </a:ext>
            </a:extLst>
          </p:cNvPr>
          <p:cNvSpPr txBox="1"/>
          <p:nvPr/>
        </p:nvSpPr>
        <p:spPr>
          <a:xfrm>
            <a:off x="651405" y="4237108"/>
            <a:ext cx="6097836" cy="923330"/>
          </a:xfrm>
          <a:prstGeom prst="rect">
            <a:avLst/>
          </a:prstGeom>
          <a:noFill/>
        </p:spPr>
        <p:txBody>
          <a:bodyPr wrap="square">
            <a:spAutoFit/>
          </a:bodyPr>
          <a:lstStyle/>
          <a:p>
            <a:pPr>
              <a:buNone/>
            </a:pPr>
            <a:r>
              <a:rPr lang="en-GB" dirty="0">
                <a:latin typeface="+mn-lt"/>
              </a:rPr>
              <a:t>/instructions</a:t>
            </a:r>
          </a:p>
          <a:p>
            <a:pPr>
              <a:buNone/>
            </a:pPr>
            <a:endParaRPr lang="en-GB" dirty="0"/>
          </a:p>
          <a:p>
            <a:pPr>
              <a:buNone/>
            </a:pPr>
            <a:endParaRPr lang="en-GB" dirty="0">
              <a:latin typeface="Courier New" panose="02070309020205020404" pitchFamily="49" charset="0"/>
            </a:endParaRPr>
          </a:p>
        </p:txBody>
      </p:sp>
    </p:spTree>
    <p:extLst>
      <p:ext uri="{BB962C8B-B14F-4D97-AF65-F5344CB8AC3E}">
        <p14:creationId xmlns:p14="http://schemas.microsoft.com/office/powerpoint/2010/main" val="1880621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A6DE7-8B58-2EAA-8BAB-D65ABF9F5287}"/>
            </a:ext>
          </a:extLst>
        </p:cNvPr>
        <p:cNvGrpSpPr/>
        <p:nvPr/>
      </p:nvGrpSpPr>
      <p:grpSpPr>
        <a:xfrm>
          <a:off x="0" y="0"/>
          <a:ext cx="0" cy="0"/>
          <a:chOff x="0" y="0"/>
          <a:chExt cx="0" cy="0"/>
        </a:xfrm>
      </p:grpSpPr>
      <p:pic>
        <p:nvPicPr>
          <p:cNvPr id="3" name="Online Image Placeholder 2" descr="Scroll with solid fill">
            <a:extLst>
              <a:ext uri="{FF2B5EF4-FFF2-40B4-BE49-F238E27FC236}">
                <a16:creationId xmlns:a16="http://schemas.microsoft.com/office/drawing/2014/main" id="{2CDF13A7-E1BC-DC9B-4E29-3D94E490B19A}"/>
              </a:ext>
            </a:extLst>
          </p:cNvPr>
          <p:cNvPicPr>
            <a:picLocks noGrp="1" noChangeAspect="1"/>
          </p:cNvPicPr>
          <p:nvPr>
            <p:ph type="clipArt" sz="quarter" idx="10"/>
          </p:nvPr>
        </p:nvPicPr>
        <p:blipFill>
          <a:blip>
            <a:extLst>
              <a:ext uri="{96DAC541-7B7A-43D3-8B79-37D633B846F1}">
                <asvg:svgBlip xmlns:asvg="http://schemas.microsoft.com/office/drawing/2016/SVG/main" r:embed="rId2"/>
              </a:ext>
            </a:extLst>
          </a:blip>
          <a:stretch>
            <a:fillRect/>
          </a:stretch>
        </p:blipFill>
        <p:spPr>
          <a:xfrm>
            <a:off x="6729413" y="1585037"/>
            <a:ext cx="3687925" cy="3687925"/>
          </a:xfrm>
        </p:spPr>
      </p:pic>
      <p:sp>
        <p:nvSpPr>
          <p:cNvPr id="7" name="Title 6">
            <a:extLst>
              <a:ext uri="{FF2B5EF4-FFF2-40B4-BE49-F238E27FC236}">
                <a16:creationId xmlns:a16="http://schemas.microsoft.com/office/drawing/2014/main" id="{8744835B-D842-F216-B99A-2ADC05E280F3}"/>
              </a:ext>
            </a:extLst>
          </p:cNvPr>
          <p:cNvSpPr>
            <a:spLocks noGrp="1"/>
          </p:cNvSpPr>
          <p:nvPr>
            <p:ph type="title"/>
          </p:nvPr>
        </p:nvSpPr>
        <p:spPr/>
        <p:txBody>
          <a:bodyPr/>
          <a:lstStyle/>
          <a:p>
            <a:r>
              <a:rPr lang="en-US" dirty="0"/>
              <a:t>Constrained outputs</a:t>
            </a:r>
          </a:p>
        </p:txBody>
      </p:sp>
      <p:sp>
        <p:nvSpPr>
          <p:cNvPr id="8" name="Content Placeholder 7">
            <a:extLst>
              <a:ext uri="{FF2B5EF4-FFF2-40B4-BE49-F238E27FC236}">
                <a16:creationId xmlns:a16="http://schemas.microsoft.com/office/drawing/2014/main" id="{07314488-4D96-70BB-2252-080EB3697FDB}"/>
              </a:ext>
            </a:extLst>
          </p:cNvPr>
          <p:cNvSpPr>
            <a:spLocks noGrp="1"/>
          </p:cNvSpPr>
          <p:nvPr>
            <p:ph idx="1"/>
          </p:nvPr>
        </p:nvSpPr>
        <p:spPr/>
        <p:txBody>
          <a:bodyPr/>
          <a:lstStyle/>
          <a:p>
            <a:r>
              <a:rPr lang="en-US" dirty="0"/>
              <a:t>Versus an essay</a:t>
            </a:r>
          </a:p>
        </p:txBody>
      </p:sp>
      <p:sp>
        <p:nvSpPr>
          <p:cNvPr id="4" name="Slide Number Placeholder 3">
            <a:extLst>
              <a:ext uri="{FF2B5EF4-FFF2-40B4-BE49-F238E27FC236}">
                <a16:creationId xmlns:a16="http://schemas.microsoft.com/office/drawing/2014/main" id="{BC1DC011-2485-F630-CBC1-152B1CDAD85B}"/>
              </a:ext>
            </a:extLst>
          </p:cNvPr>
          <p:cNvSpPr>
            <a:spLocks noGrp="1"/>
          </p:cNvSpPr>
          <p:nvPr>
            <p:ph type="sldNum" sz="quarter" idx="12"/>
          </p:nvPr>
        </p:nvSpPr>
        <p:spPr>
          <a:xfrm>
            <a:off x="9365513" y="6398855"/>
            <a:ext cx="2743200" cy="365125"/>
          </a:xfrm>
        </p:spPr>
        <p:txBody>
          <a:bodyPr/>
          <a:lstStyle/>
          <a:p>
            <a:fld id="{48ECD659-E04B-4C58-A509-92B8302CE327}" type="slidenum">
              <a:rPr lang="en-US" smtClean="0"/>
              <a:pPr/>
              <a:t>25</a:t>
            </a:fld>
            <a:endParaRPr lang="en-US"/>
          </a:p>
        </p:txBody>
      </p:sp>
    </p:spTree>
    <p:extLst>
      <p:ext uri="{BB962C8B-B14F-4D97-AF65-F5344CB8AC3E}">
        <p14:creationId xmlns:p14="http://schemas.microsoft.com/office/powerpoint/2010/main" val="4254449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16060-C64D-5A5F-3689-B43FD61A03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F9E4A3-43F0-D414-C60D-888B5000AC64}"/>
              </a:ext>
            </a:extLst>
          </p:cNvPr>
          <p:cNvSpPr>
            <a:spLocks noGrp="1"/>
          </p:cNvSpPr>
          <p:nvPr>
            <p:ph type="ctrTitle"/>
          </p:nvPr>
        </p:nvSpPr>
        <p:spPr/>
        <p:txBody>
          <a:bodyPr/>
          <a:lstStyle/>
          <a:p>
            <a:r>
              <a:rPr lang="en-GB" b="0" dirty="0"/>
              <a:t>Same task. Different output cost.</a:t>
            </a:r>
            <a:endParaRPr lang="en-US" dirty="0"/>
          </a:p>
        </p:txBody>
      </p:sp>
      <p:sp>
        <p:nvSpPr>
          <p:cNvPr id="9" name="Text Placeholder 8">
            <a:extLst>
              <a:ext uri="{FF2B5EF4-FFF2-40B4-BE49-F238E27FC236}">
                <a16:creationId xmlns:a16="http://schemas.microsoft.com/office/drawing/2014/main" id="{9E6F3305-F65E-FEE1-7745-0BB29E2C1F18}"/>
              </a:ext>
            </a:extLst>
          </p:cNvPr>
          <p:cNvSpPr>
            <a:spLocks noGrp="1"/>
          </p:cNvSpPr>
          <p:nvPr>
            <p:ph type="body" sz="quarter" idx="13"/>
          </p:nvPr>
        </p:nvSpPr>
        <p:spPr>
          <a:xfrm>
            <a:off x="443921" y="1589889"/>
            <a:ext cx="5744228" cy="448232"/>
          </a:xfrm>
        </p:spPr>
        <p:txBody>
          <a:bodyPr/>
          <a:lstStyle/>
          <a:p>
            <a:r>
              <a:rPr lang="en-US" dirty="0"/>
              <a:t>Lean copilot instructions</a:t>
            </a:r>
          </a:p>
        </p:txBody>
      </p:sp>
      <p:sp>
        <p:nvSpPr>
          <p:cNvPr id="8" name="Slide Number Placeholder 7">
            <a:extLst>
              <a:ext uri="{FF2B5EF4-FFF2-40B4-BE49-F238E27FC236}">
                <a16:creationId xmlns:a16="http://schemas.microsoft.com/office/drawing/2014/main" id="{BD3E3030-68A3-BCDC-C39D-24F1B50F9C5F}"/>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26</a:t>
            </a:fld>
            <a:endParaRPr lang="en-US"/>
          </a:p>
        </p:txBody>
      </p:sp>
      <p:pic>
        <p:nvPicPr>
          <p:cNvPr id="5" name="Picture 4">
            <a:extLst>
              <a:ext uri="{FF2B5EF4-FFF2-40B4-BE49-F238E27FC236}">
                <a16:creationId xmlns:a16="http://schemas.microsoft.com/office/drawing/2014/main" id="{F0A2D865-08B2-3325-13D0-A24A12BAF5B4}"/>
              </a:ext>
            </a:extLst>
          </p:cNvPr>
          <p:cNvPicPr>
            <a:picLocks noChangeAspect="1"/>
          </p:cNvPicPr>
          <p:nvPr/>
        </p:nvPicPr>
        <p:blipFill>
          <a:blip r:embed="rId2"/>
          <a:stretch>
            <a:fillRect/>
          </a:stretch>
        </p:blipFill>
        <p:spPr>
          <a:xfrm>
            <a:off x="4442122" y="1359179"/>
            <a:ext cx="6801799" cy="1724266"/>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E30E8413-CCF7-DDCC-54A0-6E16C7C52016}"/>
              </a:ext>
            </a:extLst>
          </p:cNvPr>
          <p:cNvSpPr txBox="1"/>
          <p:nvPr/>
        </p:nvSpPr>
        <p:spPr>
          <a:xfrm>
            <a:off x="443921" y="4104992"/>
            <a:ext cx="6097836" cy="369332"/>
          </a:xfrm>
          <a:prstGeom prst="rect">
            <a:avLst/>
          </a:prstGeom>
          <a:noFill/>
        </p:spPr>
        <p:txBody>
          <a:bodyPr wrap="square">
            <a:spAutoFit/>
          </a:bodyPr>
          <a:lstStyle/>
          <a:p>
            <a:pPr>
              <a:buNone/>
            </a:pPr>
            <a:r>
              <a:rPr lang="en-GB" dirty="0">
                <a:latin typeface="+mn-lt"/>
              </a:rPr>
              <a:t> /limits set max-ai-credits 30</a:t>
            </a:r>
            <a:endParaRPr lang="en-GB" dirty="0">
              <a:latin typeface="Courier New" panose="02070309020205020404" pitchFamily="49" charset="0"/>
            </a:endParaRPr>
          </a:p>
        </p:txBody>
      </p:sp>
    </p:spTree>
    <p:extLst>
      <p:ext uri="{BB962C8B-B14F-4D97-AF65-F5344CB8AC3E}">
        <p14:creationId xmlns:p14="http://schemas.microsoft.com/office/powerpoint/2010/main" val="2406972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781C-57BB-58B5-0220-CC935D3DC3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2ECAD68-CA10-0EBC-E59F-9D4934FF0BC5}"/>
              </a:ext>
            </a:extLst>
          </p:cNvPr>
          <p:cNvSpPr>
            <a:spLocks noGrp="1"/>
          </p:cNvSpPr>
          <p:nvPr>
            <p:ph type="ctrTitle"/>
          </p:nvPr>
        </p:nvSpPr>
        <p:spPr/>
        <p:txBody>
          <a:bodyPr/>
          <a:lstStyle/>
          <a:p>
            <a:r>
              <a:rPr lang="en-GB" b="0" dirty="0"/>
              <a:t>Same task. Different output cost.</a:t>
            </a:r>
            <a:endParaRPr lang="en-US" dirty="0"/>
          </a:p>
        </p:txBody>
      </p:sp>
      <p:sp>
        <p:nvSpPr>
          <p:cNvPr id="8" name="Slide Number Placeholder 7">
            <a:extLst>
              <a:ext uri="{FF2B5EF4-FFF2-40B4-BE49-F238E27FC236}">
                <a16:creationId xmlns:a16="http://schemas.microsoft.com/office/drawing/2014/main" id="{49ABC653-B080-0879-20B2-1FD81769DFAC}"/>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27</a:t>
            </a:fld>
            <a:endParaRPr lang="en-US"/>
          </a:p>
        </p:txBody>
      </p:sp>
      <p:sp>
        <p:nvSpPr>
          <p:cNvPr id="7" name="TextBox 6">
            <a:extLst>
              <a:ext uri="{FF2B5EF4-FFF2-40B4-BE49-F238E27FC236}">
                <a16:creationId xmlns:a16="http://schemas.microsoft.com/office/drawing/2014/main" id="{3A419CA6-9F55-B00E-434F-BADCD631A5FE}"/>
              </a:ext>
            </a:extLst>
          </p:cNvPr>
          <p:cNvSpPr txBox="1"/>
          <p:nvPr/>
        </p:nvSpPr>
        <p:spPr>
          <a:xfrm>
            <a:off x="300702" y="1359179"/>
            <a:ext cx="9895901" cy="369332"/>
          </a:xfrm>
          <a:prstGeom prst="rect">
            <a:avLst/>
          </a:prstGeom>
          <a:noFill/>
        </p:spPr>
        <p:txBody>
          <a:bodyPr wrap="square">
            <a:spAutoFit/>
          </a:bodyPr>
          <a:lstStyle/>
          <a:p>
            <a:r>
              <a:rPr lang="en-GB" dirty="0"/>
              <a:t> How does </a:t>
            </a:r>
            <a:r>
              <a:rPr lang="en-GB" dirty="0" err="1"/>
              <a:t>calculateOrderTotal</a:t>
            </a:r>
            <a:r>
              <a:rPr lang="en-GB" dirty="0"/>
              <a:t> work? Four bullet points maximum. No example code. No alternatives.</a:t>
            </a:r>
          </a:p>
        </p:txBody>
      </p:sp>
      <p:pic>
        <p:nvPicPr>
          <p:cNvPr id="10" name="Picture 9">
            <a:extLst>
              <a:ext uri="{FF2B5EF4-FFF2-40B4-BE49-F238E27FC236}">
                <a16:creationId xmlns:a16="http://schemas.microsoft.com/office/drawing/2014/main" id="{BD2630D1-46A6-9372-22BD-2A8295DC7B09}"/>
              </a:ext>
            </a:extLst>
          </p:cNvPr>
          <p:cNvPicPr>
            <a:picLocks noChangeAspect="1"/>
          </p:cNvPicPr>
          <p:nvPr/>
        </p:nvPicPr>
        <p:blipFill>
          <a:blip r:embed="rId2"/>
          <a:stretch>
            <a:fillRect/>
          </a:stretch>
        </p:blipFill>
        <p:spPr>
          <a:xfrm>
            <a:off x="604071" y="2136499"/>
            <a:ext cx="10983858" cy="3686689"/>
          </a:xfrm>
          <a:prstGeom prst="rect">
            <a:avLst/>
          </a:prstGeom>
        </p:spPr>
      </p:pic>
      <p:sp>
        <p:nvSpPr>
          <p:cNvPr id="13" name="Oval 12">
            <a:extLst>
              <a:ext uri="{FF2B5EF4-FFF2-40B4-BE49-F238E27FC236}">
                <a16:creationId xmlns:a16="http://schemas.microsoft.com/office/drawing/2014/main" id="{70193CBC-8ACE-0858-7C6B-59ACD2D1DF53}"/>
              </a:ext>
            </a:extLst>
          </p:cNvPr>
          <p:cNvSpPr/>
          <p:nvPr/>
        </p:nvSpPr>
        <p:spPr>
          <a:xfrm>
            <a:off x="9365513" y="5236785"/>
            <a:ext cx="2423711" cy="7160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0778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CB2D5-B5EE-3765-8D9E-0ACEB1F66E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00811E-C6D0-020A-C26E-E915B73FCE22}"/>
              </a:ext>
            </a:extLst>
          </p:cNvPr>
          <p:cNvSpPr>
            <a:spLocks noGrp="1"/>
          </p:cNvSpPr>
          <p:nvPr>
            <p:ph type="ctrTitle"/>
          </p:nvPr>
        </p:nvSpPr>
        <p:spPr/>
        <p:txBody>
          <a:bodyPr/>
          <a:lstStyle/>
          <a:p>
            <a:r>
              <a:rPr lang="en-GB" b="0" dirty="0"/>
              <a:t>Same task. Different output cost.</a:t>
            </a:r>
            <a:endParaRPr lang="en-US" dirty="0"/>
          </a:p>
        </p:txBody>
      </p:sp>
      <p:sp>
        <p:nvSpPr>
          <p:cNvPr id="8" name="Slide Number Placeholder 7">
            <a:extLst>
              <a:ext uri="{FF2B5EF4-FFF2-40B4-BE49-F238E27FC236}">
                <a16:creationId xmlns:a16="http://schemas.microsoft.com/office/drawing/2014/main" id="{8FB47727-4F93-01BD-F0BE-48BDD21F6A71}"/>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28</a:t>
            </a:fld>
            <a:endParaRPr lang="en-US"/>
          </a:p>
        </p:txBody>
      </p:sp>
      <p:sp>
        <p:nvSpPr>
          <p:cNvPr id="7" name="TextBox 6">
            <a:extLst>
              <a:ext uri="{FF2B5EF4-FFF2-40B4-BE49-F238E27FC236}">
                <a16:creationId xmlns:a16="http://schemas.microsoft.com/office/drawing/2014/main" id="{F9491C06-29ED-6D0D-60F4-0EE983D48AA9}"/>
              </a:ext>
            </a:extLst>
          </p:cNvPr>
          <p:cNvSpPr txBox="1"/>
          <p:nvPr/>
        </p:nvSpPr>
        <p:spPr>
          <a:xfrm>
            <a:off x="300702" y="1359179"/>
            <a:ext cx="9895901" cy="923330"/>
          </a:xfrm>
          <a:prstGeom prst="rect">
            <a:avLst/>
          </a:prstGeom>
          <a:noFill/>
        </p:spPr>
        <p:txBody>
          <a:bodyPr wrap="square">
            <a:spAutoFit/>
          </a:bodyPr>
          <a:lstStyle/>
          <a:p>
            <a:r>
              <a:rPr lang="en-GB" dirty="0"/>
              <a:t>/new</a:t>
            </a:r>
          </a:p>
          <a:p>
            <a:r>
              <a:rPr lang="en-GB" dirty="0"/>
              <a:t>/limits set max-ai-credits 30</a:t>
            </a:r>
          </a:p>
          <a:p>
            <a:endParaRPr lang="en-GB" dirty="0"/>
          </a:p>
        </p:txBody>
      </p:sp>
      <p:sp>
        <p:nvSpPr>
          <p:cNvPr id="4" name="TextBox 3">
            <a:extLst>
              <a:ext uri="{FF2B5EF4-FFF2-40B4-BE49-F238E27FC236}">
                <a16:creationId xmlns:a16="http://schemas.microsoft.com/office/drawing/2014/main" id="{C0AD4B9C-6714-F22B-EA91-98FD6C849A8C}"/>
              </a:ext>
            </a:extLst>
          </p:cNvPr>
          <p:cNvSpPr txBox="1"/>
          <p:nvPr/>
        </p:nvSpPr>
        <p:spPr>
          <a:xfrm>
            <a:off x="246043" y="2282509"/>
            <a:ext cx="11699914" cy="1754326"/>
          </a:xfrm>
          <a:prstGeom prst="rect">
            <a:avLst/>
          </a:prstGeom>
          <a:noFill/>
        </p:spPr>
        <p:txBody>
          <a:bodyPr wrap="square">
            <a:spAutoFit/>
          </a:bodyPr>
          <a:lstStyle/>
          <a:p>
            <a:pPr>
              <a:buNone/>
            </a:pPr>
            <a:r>
              <a:rPr lang="en-GB" dirty="0">
                <a:latin typeface="+mn-lt"/>
              </a:rPr>
              <a:t>Explain in detail how </a:t>
            </a:r>
            <a:r>
              <a:rPr lang="en-GB" dirty="0" err="1">
                <a:latin typeface="+mn-lt"/>
              </a:rPr>
              <a:t>calculateOrderTotal</a:t>
            </a:r>
            <a:r>
              <a:rPr lang="en-GB" dirty="0">
                <a:latin typeface="+mn-lt"/>
              </a:rPr>
              <a:t> works. Include background, a worked example, alternative designs, and a short blog-style summary. Be thorough.</a:t>
            </a:r>
          </a:p>
          <a:p>
            <a:pPr>
              <a:buNone/>
            </a:pPr>
            <a:endParaRPr lang="en-GB" dirty="0"/>
          </a:p>
          <a:p>
            <a:pPr>
              <a:buNone/>
            </a:pPr>
            <a:endParaRPr lang="en-GB" dirty="0">
              <a:latin typeface="Courier New" panose="02070309020205020404" pitchFamily="49" charset="0"/>
            </a:endParaRPr>
          </a:p>
          <a:p>
            <a:pPr>
              <a:buNone/>
            </a:pPr>
            <a:endParaRPr lang="en-GB" dirty="0">
              <a:latin typeface="Courier New" panose="02070309020205020404" pitchFamily="49" charset="0"/>
            </a:endParaRPr>
          </a:p>
          <a:p>
            <a:r>
              <a:rPr lang="en-GB" dirty="0"/>
              <a:t>……… Lots and lots </a:t>
            </a:r>
          </a:p>
        </p:txBody>
      </p:sp>
      <p:pic>
        <p:nvPicPr>
          <p:cNvPr id="6" name="Picture 5">
            <a:extLst>
              <a:ext uri="{FF2B5EF4-FFF2-40B4-BE49-F238E27FC236}">
                <a16:creationId xmlns:a16="http://schemas.microsoft.com/office/drawing/2014/main" id="{5269728E-0A43-FF45-9565-FFBC4A44D90C}"/>
              </a:ext>
            </a:extLst>
          </p:cNvPr>
          <p:cNvPicPr>
            <a:picLocks noChangeAspect="1"/>
          </p:cNvPicPr>
          <p:nvPr/>
        </p:nvPicPr>
        <p:blipFill>
          <a:blip r:embed="rId2"/>
          <a:stretch>
            <a:fillRect/>
          </a:stretch>
        </p:blipFill>
        <p:spPr>
          <a:xfrm>
            <a:off x="2582935" y="3537181"/>
            <a:ext cx="6782578" cy="2861674"/>
          </a:xfrm>
          <a:prstGeom prst="rect">
            <a:avLst/>
          </a:prstGeom>
        </p:spPr>
      </p:pic>
      <p:sp>
        <p:nvSpPr>
          <p:cNvPr id="11" name="Oval 10">
            <a:extLst>
              <a:ext uri="{FF2B5EF4-FFF2-40B4-BE49-F238E27FC236}">
                <a16:creationId xmlns:a16="http://schemas.microsoft.com/office/drawing/2014/main" id="{CECD8937-0A37-181C-0447-C15768E37445}"/>
              </a:ext>
            </a:extLst>
          </p:cNvPr>
          <p:cNvSpPr/>
          <p:nvPr/>
        </p:nvSpPr>
        <p:spPr>
          <a:xfrm>
            <a:off x="7316375" y="5865322"/>
            <a:ext cx="2423711" cy="7160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87350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0029-93AC-2136-3E36-36C9CCD3862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9FB028E-17DC-840D-A189-02589FE3CF92}"/>
              </a:ext>
            </a:extLst>
          </p:cNvPr>
          <p:cNvSpPr>
            <a:spLocks noGrp="1"/>
          </p:cNvSpPr>
          <p:nvPr>
            <p:ph type="title"/>
          </p:nvPr>
        </p:nvSpPr>
        <p:spPr>
          <a:xfrm>
            <a:off x="208006" y="2103437"/>
            <a:ext cx="5887993" cy="1325563"/>
          </a:xfrm>
        </p:spPr>
        <p:txBody>
          <a:bodyPr/>
          <a:lstStyle/>
          <a:p>
            <a:r>
              <a:rPr lang="en-US" dirty="0"/>
              <a:t>Appendix – Demo Recaps</a:t>
            </a:r>
          </a:p>
        </p:txBody>
      </p:sp>
      <p:sp>
        <p:nvSpPr>
          <p:cNvPr id="4" name="Slide Number Placeholder 3">
            <a:extLst>
              <a:ext uri="{FF2B5EF4-FFF2-40B4-BE49-F238E27FC236}">
                <a16:creationId xmlns:a16="http://schemas.microsoft.com/office/drawing/2014/main" id="{D07B8F4E-08E6-0E4C-9F87-27E1F6D3563E}"/>
              </a:ext>
            </a:extLst>
          </p:cNvPr>
          <p:cNvSpPr>
            <a:spLocks noGrp="1"/>
          </p:cNvSpPr>
          <p:nvPr>
            <p:ph type="sldNum" sz="quarter" idx="12"/>
          </p:nvPr>
        </p:nvSpPr>
        <p:spPr>
          <a:xfrm>
            <a:off x="9365513" y="6398855"/>
            <a:ext cx="2743200" cy="365125"/>
          </a:xfrm>
        </p:spPr>
        <p:txBody>
          <a:bodyPr/>
          <a:lstStyle/>
          <a:p>
            <a:fld id="{48ECD659-E04B-4C58-A509-92B8302CE327}" type="slidenum">
              <a:rPr lang="en-US" smtClean="0"/>
              <a:pPr/>
              <a:t>29</a:t>
            </a:fld>
            <a:endParaRPr lang="en-US"/>
          </a:p>
        </p:txBody>
      </p:sp>
      <p:sp>
        <p:nvSpPr>
          <p:cNvPr id="5" name="Online Image Placeholder 4">
            <a:extLst>
              <a:ext uri="{FF2B5EF4-FFF2-40B4-BE49-F238E27FC236}">
                <a16:creationId xmlns:a16="http://schemas.microsoft.com/office/drawing/2014/main" id="{10CE25D0-9F16-DCD6-0B45-CEA7246E20AE}"/>
              </a:ext>
            </a:extLst>
          </p:cNvPr>
          <p:cNvSpPr>
            <a:spLocks noGrp="1"/>
          </p:cNvSpPr>
          <p:nvPr>
            <p:ph type="clipArt" sz="quarter" idx="10"/>
          </p:nvPr>
        </p:nvSpPr>
        <p:spPr/>
        <p:txBody>
          <a:bodyPr/>
          <a:lstStyle/>
          <a:p>
            <a:endParaRPr lang="en-GB"/>
          </a:p>
        </p:txBody>
      </p:sp>
      <p:sp>
        <p:nvSpPr>
          <p:cNvPr id="9" name="Content Placeholder 8">
            <a:extLst>
              <a:ext uri="{FF2B5EF4-FFF2-40B4-BE49-F238E27FC236}">
                <a16:creationId xmlns:a16="http://schemas.microsoft.com/office/drawing/2014/main" id="{5F60F12F-6793-1BC1-FB64-4E41C7E4238B}"/>
              </a:ext>
            </a:extLst>
          </p:cNvPr>
          <p:cNvSpPr>
            <a:spLocks noGrp="1"/>
          </p:cNvSpPr>
          <p:nvPr>
            <p:ph idx="1"/>
          </p:nvPr>
        </p:nvSpPr>
        <p:spPr/>
        <p:txBody>
          <a:bodyPr/>
          <a:lstStyle/>
          <a:p>
            <a:r>
              <a:rPr lang="en-GB" dirty="0"/>
              <a:t>Demo 2</a:t>
            </a:r>
          </a:p>
        </p:txBody>
      </p:sp>
    </p:spTree>
    <p:extLst>
      <p:ext uri="{BB962C8B-B14F-4D97-AF65-F5344CB8AC3E}">
        <p14:creationId xmlns:p14="http://schemas.microsoft.com/office/powerpoint/2010/main" val="1853007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DD75-353E-6F2B-BAD0-CE4C3C5B04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800632-BF42-D842-D5D8-2583F167A68D}"/>
              </a:ext>
            </a:extLst>
          </p:cNvPr>
          <p:cNvSpPr>
            <a:spLocks noGrp="1"/>
          </p:cNvSpPr>
          <p:nvPr>
            <p:ph type="ctrTitle"/>
          </p:nvPr>
        </p:nvSpPr>
        <p:spPr/>
        <p:txBody>
          <a:bodyPr/>
          <a:lstStyle/>
          <a:p>
            <a:r>
              <a:rPr lang="en-GB" dirty="0"/>
              <a:t>Part A — Swap the instructions without sending a prompt</a:t>
            </a:r>
          </a:p>
        </p:txBody>
      </p:sp>
      <p:sp>
        <p:nvSpPr>
          <p:cNvPr id="8" name="Slide Number Placeholder 7">
            <a:extLst>
              <a:ext uri="{FF2B5EF4-FFF2-40B4-BE49-F238E27FC236}">
                <a16:creationId xmlns:a16="http://schemas.microsoft.com/office/drawing/2014/main" id="{EF9ADC65-1475-4435-C512-6B5BD9D7F1C1}"/>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30</a:t>
            </a:fld>
            <a:endParaRPr lang="en-US"/>
          </a:p>
        </p:txBody>
      </p:sp>
      <p:sp>
        <p:nvSpPr>
          <p:cNvPr id="7" name="TextBox 6">
            <a:extLst>
              <a:ext uri="{FF2B5EF4-FFF2-40B4-BE49-F238E27FC236}">
                <a16:creationId xmlns:a16="http://schemas.microsoft.com/office/drawing/2014/main" id="{3EEB21BF-3228-0268-62A6-F85F3A941C44}"/>
              </a:ext>
            </a:extLst>
          </p:cNvPr>
          <p:cNvSpPr txBox="1"/>
          <p:nvPr/>
        </p:nvSpPr>
        <p:spPr>
          <a:xfrm>
            <a:off x="300702" y="1628507"/>
            <a:ext cx="9895901" cy="646331"/>
          </a:xfrm>
          <a:prstGeom prst="rect">
            <a:avLst/>
          </a:prstGeom>
          <a:noFill/>
        </p:spPr>
        <p:txBody>
          <a:bodyPr wrap="square">
            <a:spAutoFit/>
          </a:bodyPr>
          <a:lstStyle/>
          <a:p>
            <a:r>
              <a:rPr lang="en-GB" dirty="0"/>
              <a:t>exit</a:t>
            </a:r>
          </a:p>
          <a:p>
            <a:endParaRPr lang="en-GB" dirty="0"/>
          </a:p>
        </p:txBody>
      </p:sp>
      <p:sp>
        <p:nvSpPr>
          <p:cNvPr id="4" name="TextBox 3">
            <a:extLst>
              <a:ext uri="{FF2B5EF4-FFF2-40B4-BE49-F238E27FC236}">
                <a16:creationId xmlns:a16="http://schemas.microsoft.com/office/drawing/2014/main" id="{42BCC3D1-3E45-DA9D-45C3-173C9AA123ED}"/>
              </a:ext>
            </a:extLst>
          </p:cNvPr>
          <p:cNvSpPr txBox="1"/>
          <p:nvPr/>
        </p:nvSpPr>
        <p:spPr>
          <a:xfrm>
            <a:off x="246043" y="3407622"/>
            <a:ext cx="11699914" cy="1200329"/>
          </a:xfrm>
          <a:prstGeom prst="rect">
            <a:avLst/>
          </a:prstGeom>
          <a:noFill/>
        </p:spPr>
        <p:txBody>
          <a:bodyPr wrap="square">
            <a:spAutoFit/>
          </a:bodyPr>
          <a:lstStyle/>
          <a:p>
            <a:pPr>
              <a:buNone/>
            </a:pPr>
            <a:r>
              <a:rPr lang="en-GB" dirty="0">
                <a:latin typeface="+mn-lt"/>
              </a:rPr>
              <a:t>In </a:t>
            </a:r>
            <a:r>
              <a:rPr lang="en-GB" dirty="0" err="1">
                <a:latin typeface="+mn-lt"/>
              </a:rPr>
              <a:t>powershell</a:t>
            </a:r>
            <a:r>
              <a:rPr lang="en-GB" dirty="0">
                <a:latin typeface="+mn-lt"/>
              </a:rPr>
              <a:t> (lab/app)</a:t>
            </a:r>
          </a:p>
          <a:p>
            <a:r>
              <a:rPr lang="en-GB" dirty="0"/>
              <a:t>Copy-Item ..\fixtures\copilot-instructions.bloated.md .</a:t>
            </a:r>
            <a:r>
              <a:rPr lang="en-GB" dirty="0" err="1"/>
              <a:t>github</a:t>
            </a:r>
            <a:r>
              <a:rPr lang="en-GB" dirty="0"/>
              <a:t>\copilot-instructions.md -Force</a:t>
            </a:r>
          </a:p>
          <a:p>
            <a:r>
              <a:rPr lang="en-GB" dirty="0"/>
              <a:t>copilot</a:t>
            </a:r>
          </a:p>
          <a:p>
            <a:pPr>
              <a:buNone/>
            </a:pPr>
            <a:endParaRPr lang="en-GB" dirty="0"/>
          </a:p>
        </p:txBody>
      </p:sp>
      <p:pic>
        <p:nvPicPr>
          <p:cNvPr id="5" name="Picture 4">
            <a:extLst>
              <a:ext uri="{FF2B5EF4-FFF2-40B4-BE49-F238E27FC236}">
                <a16:creationId xmlns:a16="http://schemas.microsoft.com/office/drawing/2014/main" id="{016AA6B0-EC65-4206-2C92-25AC19C8E56A}"/>
              </a:ext>
            </a:extLst>
          </p:cNvPr>
          <p:cNvPicPr>
            <a:picLocks noChangeAspect="1"/>
          </p:cNvPicPr>
          <p:nvPr/>
        </p:nvPicPr>
        <p:blipFill>
          <a:blip r:embed="rId2"/>
          <a:stretch>
            <a:fillRect/>
          </a:stretch>
        </p:blipFill>
        <p:spPr>
          <a:xfrm>
            <a:off x="2580657" y="1415512"/>
            <a:ext cx="8859486" cy="1428949"/>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3A76FB36-DAB1-A784-012E-6657147B922A}"/>
              </a:ext>
            </a:extLst>
          </p:cNvPr>
          <p:cNvPicPr>
            <a:picLocks noChangeAspect="1"/>
          </p:cNvPicPr>
          <p:nvPr/>
        </p:nvPicPr>
        <p:blipFill>
          <a:blip r:embed="rId3"/>
          <a:stretch>
            <a:fillRect/>
          </a:stretch>
        </p:blipFill>
        <p:spPr>
          <a:xfrm>
            <a:off x="2755264" y="4281814"/>
            <a:ext cx="8488657" cy="128941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29312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895C7-337A-0B93-DE13-A678E098D7A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183AE9-7461-979F-5504-9741FF32E730}"/>
              </a:ext>
            </a:extLst>
          </p:cNvPr>
          <p:cNvSpPr>
            <a:spLocks noGrp="1"/>
          </p:cNvSpPr>
          <p:nvPr>
            <p:ph type="ctrTitle"/>
          </p:nvPr>
        </p:nvSpPr>
        <p:spPr/>
        <p:txBody>
          <a:bodyPr/>
          <a:lstStyle/>
          <a:p>
            <a:r>
              <a:rPr lang="en-GB" dirty="0"/>
              <a:t>Part A — Swap the instructions without sending a prompt</a:t>
            </a:r>
          </a:p>
        </p:txBody>
      </p:sp>
      <p:sp>
        <p:nvSpPr>
          <p:cNvPr id="8" name="Slide Number Placeholder 7">
            <a:extLst>
              <a:ext uri="{FF2B5EF4-FFF2-40B4-BE49-F238E27FC236}">
                <a16:creationId xmlns:a16="http://schemas.microsoft.com/office/drawing/2014/main" id="{5B9DF85B-1035-FF34-D051-DB0F232CCB57}"/>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31</a:t>
            </a:fld>
            <a:endParaRPr lang="en-US"/>
          </a:p>
        </p:txBody>
      </p:sp>
      <p:sp>
        <p:nvSpPr>
          <p:cNvPr id="7" name="TextBox 6">
            <a:extLst>
              <a:ext uri="{FF2B5EF4-FFF2-40B4-BE49-F238E27FC236}">
                <a16:creationId xmlns:a16="http://schemas.microsoft.com/office/drawing/2014/main" id="{88353687-2A69-6D66-59D8-08BA0FA60D63}"/>
              </a:ext>
            </a:extLst>
          </p:cNvPr>
          <p:cNvSpPr txBox="1"/>
          <p:nvPr/>
        </p:nvSpPr>
        <p:spPr>
          <a:xfrm>
            <a:off x="300702" y="1628507"/>
            <a:ext cx="9895901" cy="646331"/>
          </a:xfrm>
          <a:prstGeom prst="rect">
            <a:avLst/>
          </a:prstGeom>
          <a:noFill/>
        </p:spPr>
        <p:txBody>
          <a:bodyPr wrap="square">
            <a:spAutoFit/>
          </a:bodyPr>
          <a:lstStyle/>
          <a:p>
            <a:r>
              <a:rPr lang="en-GB" dirty="0"/>
              <a:t>/context</a:t>
            </a:r>
          </a:p>
          <a:p>
            <a:endParaRPr lang="en-GB" dirty="0"/>
          </a:p>
        </p:txBody>
      </p:sp>
      <p:pic>
        <p:nvPicPr>
          <p:cNvPr id="6" name="Picture 5">
            <a:extLst>
              <a:ext uri="{FF2B5EF4-FFF2-40B4-BE49-F238E27FC236}">
                <a16:creationId xmlns:a16="http://schemas.microsoft.com/office/drawing/2014/main" id="{463E3CD7-0BBE-B8BC-717B-CDB7A9B07498}"/>
              </a:ext>
            </a:extLst>
          </p:cNvPr>
          <p:cNvPicPr>
            <a:picLocks noChangeAspect="1"/>
          </p:cNvPicPr>
          <p:nvPr/>
        </p:nvPicPr>
        <p:blipFill>
          <a:blip r:embed="rId3"/>
          <a:stretch>
            <a:fillRect/>
          </a:stretch>
        </p:blipFill>
        <p:spPr>
          <a:xfrm>
            <a:off x="1794276" y="1260027"/>
            <a:ext cx="5496692" cy="1857634"/>
          </a:xfrm>
          <a:prstGeom prst="rect">
            <a:avLst/>
          </a:prstGeom>
        </p:spPr>
      </p:pic>
      <p:sp>
        <p:nvSpPr>
          <p:cNvPr id="11" name="Oval 10">
            <a:extLst>
              <a:ext uri="{FF2B5EF4-FFF2-40B4-BE49-F238E27FC236}">
                <a16:creationId xmlns:a16="http://schemas.microsoft.com/office/drawing/2014/main" id="{8E92F663-EFB5-8394-5C6F-1D7A7956ED70}"/>
              </a:ext>
            </a:extLst>
          </p:cNvPr>
          <p:cNvSpPr/>
          <p:nvPr/>
        </p:nvSpPr>
        <p:spPr>
          <a:xfrm>
            <a:off x="5449144" y="1628507"/>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C68390E5-D1EA-C015-3892-4803CC203AAA}"/>
              </a:ext>
            </a:extLst>
          </p:cNvPr>
          <p:cNvSpPr txBox="1"/>
          <p:nvPr/>
        </p:nvSpPr>
        <p:spPr>
          <a:xfrm>
            <a:off x="300702" y="3663917"/>
            <a:ext cx="9895900" cy="646331"/>
          </a:xfrm>
          <a:prstGeom prst="rect">
            <a:avLst/>
          </a:prstGeom>
          <a:noFill/>
        </p:spPr>
        <p:txBody>
          <a:bodyPr wrap="square">
            <a:spAutoFit/>
          </a:bodyPr>
          <a:lstStyle/>
          <a:p>
            <a:pPr>
              <a:buNone/>
            </a:pPr>
            <a:r>
              <a:rPr lang="en-GB" dirty="0">
                <a:latin typeface="+mn-lt"/>
              </a:rPr>
              <a:t>Copy-Item ..\fixtures\copilot-instructions.lean.md .</a:t>
            </a:r>
            <a:r>
              <a:rPr lang="en-GB" dirty="0" err="1">
                <a:latin typeface="+mn-lt"/>
              </a:rPr>
              <a:t>github</a:t>
            </a:r>
            <a:r>
              <a:rPr lang="en-GB" dirty="0">
                <a:latin typeface="+mn-lt"/>
              </a:rPr>
              <a:t>\copilot-instructions.md -Force</a:t>
            </a:r>
          </a:p>
          <a:p>
            <a:pPr>
              <a:buNone/>
            </a:pPr>
            <a:r>
              <a:rPr lang="en-GB" dirty="0">
                <a:latin typeface="+mn-lt"/>
              </a:rPr>
              <a:t>copilot</a:t>
            </a:r>
            <a:endParaRPr lang="en-GB" dirty="0">
              <a:latin typeface="Courier New" panose="02070309020205020404" pitchFamily="49" charset="0"/>
            </a:endParaRPr>
          </a:p>
        </p:txBody>
      </p:sp>
      <p:sp>
        <p:nvSpPr>
          <p:cNvPr id="14" name="TextBox 13">
            <a:extLst>
              <a:ext uri="{FF2B5EF4-FFF2-40B4-BE49-F238E27FC236}">
                <a16:creationId xmlns:a16="http://schemas.microsoft.com/office/drawing/2014/main" id="{4D215C9C-24FE-56E1-9EDC-9A27DDBDDDC0}"/>
              </a:ext>
            </a:extLst>
          </p:cNvPr>
          <p:cNvSpPr txBox="1"/>
          <p:nvPr/>
        </p:nvSpPr>
        <p:spPr>
          <a:xfrm>
            <a:off x="300702" y="3090356"/>
            <a:ext cx="9895901" cy="646331"/>
          </a:xfrm>
          <a:prstGeom prst="rect">
            <a:avLst/>
          </a:prstGeom>
          <a:noFill/>
        </p:spPr>
        <p:txBody>
          <a:bodyPr wrap="square">
            <a:spAutoFit/>
          </a:bodyPr>
          <a:lstStyle/>
          <a:p>
            <a:r>
              <a:rPr lang="en-GB" dirty="0"/>
              <a:t>exit</a:t>
            </a:r>
          </a:p>
          <a:p>
            <a:endParaRPr lang="en-GB" dirty="0"/>
          </a:p>
        </p:txBody>
      </p:sp>
      <p:pic>
        <p:nvPicPr>
          <p:cNvPr id="16" name="Picture 15">
            <a:extLst>
              <a:ext uri="{FF2B5EF4-FFF2-40B4-BE49-F238E27FC236}">
                <a16:creationId xmlns:a16="http://schemas.microsoft.com/office/drawing/2014/main" id="{1D9901F6-C901-20A7-272C-37672A8255C1}"/>
              </a:ext>
            </a:extLst>
          </p:cNvPr>
          <p:cNvPicPr>
            <a:picLocks noChangeAspect="1"/>
          </p:cNvPicPr>
          <p:nvPr/>
        </p:nvPicPr>
        <p:blipFill>
          <a:blip r:embed="rId4"/>
          <a:stretch>
            <a:fillRect/>
          </a:stretch>
        </p:blipFill>
        <p:spPr>
          <a:xfrm>
            <a:off x="1517531" y="4063365"/>
            <a:ext cx="10478962" cy="600159"/>
          </a:xfrm>
          <a:prstGeom prst="rect">
            <a:avLst/>
          </a:prstGeom>
        </p:spPr>
      </p:pic>
      <p:pic>
        <p:nvPicPr>
          <p:cNvPr id="18" name="Picture 17">
            <a:extLst>
              <a:ext uri="{FF2B5EF4-FFF2-40B4-BE49-F238E27FC236}">
                <a16:creationId xmlns:a16="http://schemas.microsoft.com/office/drawing/2014/main" id="{EE23AF3D-DCFD-E54B-51CC-A8143BBD3F63}"/>
              </a:ext>
            </a:extLst>
          </p:cNvPr>
          <p:cNvPicPr>
            <a:picLocks noChangeAspect="1"/>
          </p:cNvPicPr>
          <p:nvPr/>
        </p:nvPicPr>
        <p:blipFill>
          <a:blip r:embed="rId5"/>
          <a:stretch>
            <a:fillRect/>
          </a:stretch>
        </p:blipFill>
        <p:spPr>
          <a:xfrm>
            <a:off x="4542622" y="4906188"/>
            <a:ext cx="5401429" cy="1724266"/>
          </a:xfrm>
          <a:prstGeom prst="rect">
            <a:avLst/>
          </a:prstGeom>
        </p:spPr>
      </p:pic>
      <p:sp>
        <p:nvSpPr>
          <p:cNvPr id="19" name="Oval 18">
            <a:extLst>
              <a:ext uri="{FF2B5EF4-FFF2-40B4-BE49-F238E27FC236}">
                <a16:creationId xmlns:a16="http://schemas.microsoft.com/office/drawing/2014/main" id="{34B68F28-DCA1-E7B2-14D9-3C24F3D1C609}"/>
              </a:ext>
            </a:extLst>
          </p:cNvPr>
          <p:cNvSpPr/>
          <p:nvPr/>
        </p:nvSpPr>
        <p:spPr>
          <a:xfrm>
            <a:off x="8172000" y="5229354"/>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a:extLst>
              <a:ext uri="{FF2B5EF4-FFF2-40B4-BE49-F238E27FC236}">
                <a16:creationId xmlns:a16="http://schemas.microsoft.com/office/drawing/2014/main" id="{E68F44AD-AAB9-D34D-F50A-90BB69348A41}"/>
              </a:ext>
            </a:extLst>
          </p:cNvPr>
          <p:cNvCxnSpPr/>
          <p:nvPr/>
        </p:nvCxnSpPr>
        <p:spPr>
          <a:xfrm>
            <a:off x="7290968" y="4663524"/>
            <a:ext cx="332704" cy="24266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95240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CBB52-2007-951C-3458-B804240D5B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F1B4B4-E23E-BE94-EBDD-F741C7A0866D}"/>
              </a:ext>
            </a:extLst>
          </p:cNvPr>
          <p:cNvSpPr>
            <a:spLocks noGrp="1"/>
          </p:cNvSpPr>
          <p:nvPr>
            <p:ph type="ctrTitle"/>
          </p:nvPr>
        </p:nvSpPr>
        <p:spPr/>
        <p:txBody>
          <a:bodyPr/>
          <a:lstStyle/>
          <a:p>
            <a:r>
              <a:rPr lang="en-GB" dirty="0"/>
              <a:t>Part B — Conversation history and /new</a:t>
            </a:r>
          </a:p>
        </p:txBody>
      </p:sp>
      <p:sp>
        <p:nvSpPr>
          <p:cNvPr id="8" name="Slide Number Placeholder 7">
            <a:extLst>
              <a:ext uri="{FF2B5EF4-FFF2-40B4-BE49-F238E27FC236}">
                <a16:creationId xmlns:a16="http://schemas.microsoft.com/office/drawing/2014/main" id="{286AD9FE-E92C-2ECE-1E05-B08BE06EB5D7}"/>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32</a:t>
            </a:fld>
            <a:endParaRPr lang="en-US"/>
          </a:p>
        </p:txBody>
      </p:sp>
      <p:pic>
        <p:nvPicPr>
          <p:cNvPr id="4" name="Picture 3">
            <a:extLst>
              <a:ext uri="{FF2B5EF4-FFF2-40B4-BE49-F238E27FC236}">
                <a16:creationId xmlns:a16="http://schemas.microsoft.com/office/drawing/2014/main" id="{B0002C7D-E9A0-64CC-8CF1-F09D53FDEC7E}"/>
              </a:ext>
            </a:extLst>
          </p:cNvPr>
          <p:cNvPicPr>
            <a:picLocks noChangeAspect="1"/>
          </p:cNvPicPr>
          <p:nvPr/>
        </p:nvPicPr>
        <p:blipFill>
          <a:blip r:embed="rId3"/>
          <a:stretch>
            <a:fillRect/>
          </a:stretch>
        </p:blipFill>
        <p:spPr>
          <a:xfrm>
            <a:off x="531716" y="1429640"/>
            <a:ext cx="8436014" cy="761584"/>
          </a:xfrm>
          <a:prstGeom prst="rect">
            <a:avLst/>
          </a:prstGeom>
        </p:spPr>
      </p:pic>
      <p:pic>
        <p:nvPicPr>
          <p:cNvPr id="9" name="Picture 8">
            <a:extLst>
              <a:ext uri="{FF2B5EF4-FFF2-40B4-BE49-F238E27FC236}">
                <a16:creationId xmlns:a16="http://schemas.microsoft.com/office/drawing/2014/main" id="{9A0C334A-8480-5785-8B52-5625CE70B8C4}"/>
              </a:ext>
            </a:extLst>
          </p:cNvPr>
          <p:cNvPicPr>
            <a:picLocks noChangeAspect="1"/>
          </p:cNvPicPr>
          <p:nvPr/>
        </p:nvPicPr>
        <p:blipFill>
          <a:blip r:embed="rId4"/>
          <a:stretch>
            <a:fillRect/>
          </a:stretch>
        </p:blipFill>
        <p:spPr>
          <a:xfrm>
            <a:off x="531716" y="2425851"/>
            <a:ext cx="8436014" cy="1337057"/>
          </a:xfrm>
          <a:prstGeom prst="rect">
            <a:avLst/>
          </a:prstGeom>
        </p:spPr>
      </p:pic>
      <p:pic>
        <p:nvPicPr>
          <p:cNvPr id="12" name="Picture 11">
            <a:extLst>
              <a:ext uri="{FF2B5EF4-FFF2-40B4-BE49-F238E27FC236}">
                <a16:creationId xmlns:a16="http://schemas.microsoft.com/office/drawing/2014/main" id="{7E5C45B0-1747-9E54-1038-5E1843608715}"/>
              </a:ext>
            </a:extLst>
          </p:cNvPr>
          <p:cNvPicPr>
            <a:picLocks noChangeAspect="1"/>
          </p:cNvPicPr>
          <p:nvPr/>
        </p:nvPicPr>
        <p:blipFill>
          <a:blip r:embed="rId5"/>
          <a:stretch>
            <a:fillRect/>
          </a:stretch>
        </p:blipFill>
        <p:spPr>
          <a:xfrm>
            <a:off x="3589541" y="4190308"/>
            <a:ext cx="6687483" cy="2391109"/>
          </a:xfrm>
          <a:prstGeom prst="rect">
            <a:avLst/>
          </a:prstGeom>
        </p:spPr>
      </p:pic>
      <p:cxnSp>
        <p:nvCxnSpPr>
          <p:cNvPr id="17" name="Straight Arrow Connector 16">
            <a:extLst>
              <a:ext uri="{FF2B5EF4-FFF2-40B4-BE49-F238E27FC236}">
                <a16:creationId xmlns:a16="http://schemas.microsoft.com/office/drawing/2014/main" id="{C69F8C53-AA51-75E3-E6E7-43C469F0E30E}"/>
              </a:ext>
            </a:extLst>
          </p:cNvPr>
          <p:cNvCxnSpPr/>
          <p:nvPr/>
        </p:nvCxnSpPr>
        <p:spPr>
          <a:xfrm>
            <a:off x="5233012" y="3762908"/>
            <a:ext cx="209321" cy="39045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2" name="Oval 21">
            <a:extLst>
              <a:ext uri="{FF2B5EF4-FFF2-40B4-BE49-F238E27FC236}">
                <a16:creationId xmlns:a16="http://schemas.microsoft.com/office/drawing/2014/main" id="{DA239EAC-8D71-1AB2-C47D-BC4D64C7C438}"/>
              </a:ext>
            </a:extLst>
          </p:cNvPr>
          <p:cNvSpPr/>
          <p:nvPr/>
        </p:nvSpPr>
        <p:spPr>
          <a:xfrm>
            <a:off x="8282168" y="5489904"/>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92551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41CB-2B75-A432-2234-5FCD57AE097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9FBDD30-544A-4F9D-6B3E-EE8C9416FF7E}"/>
              </a:ext>
            </a:extLst>
          </p:cNvPr>
          <p:cNvPicPr>
            <a:picLocks noChangeAspect="1"/>
          </p:cNvPicPr>
          <p:nvPr/>
        </p:nvPicPr>
        <p:blipFill>
          <a:blip r:embed="rId3"/>
          <a:stretch>
            <a:fillRect/>
          </a:stretch>
        </p:blipFill>
        <p:spPr>
          <a:xfrm>
            <a:off x="4078209" y="3890582"/>
            <a:ext cx="6658904" cy="2362530"/>
          </a:xfrm>
          <a:prstGeom prst="rect">
            <a:avLst/>
          </a:prstGeom>
        </p:spPr>
      </p:pic>
      <p:sp>
        <p:nvSpPr>
          <p:cNvPr id="3" name="Title 2">
            <a:extLst>
              <a:ext uri="{FF2B5EF4-FFF2-40B4-BE49-F238E27FC236}">
                <a16:creationId xmlns:a16="http://schemas.microsoft.com/office/drawing/2014/main" id="{C4C48CDD-9032-1212-54D3-4F01ABEB5F2D}"/>
              </a:ext>
            </a:extLst>
          </p:cNvPr>
          <p:cNvSpPr>
            <a:spLocks noGrp="1"/>
          </p:cNvSpPr>
          <p:nvPr>
            <p:ph type="ctrTitle"/>
          </p:nvPr>
        </p:nvSpPr>
        <p:spPr/>
        <p:txBody>
          <a:bodyPr/>
          <a:lstStyle/>
          <a:p>
            <a:r>
              <a:rPr lang="en-GB" dirty="0"/>
              <a:t>Part B — Conversation history and /new</a:t>
            </a:r>
          </a:p>
        </p:txBody>
      </p:sp>
      <p:sp>
        <p:nvSpPr>
          <p:cNvPr id="8" name="Slide Number Placeholder 7">
            <a:extLst>
              <a:ext uri="{FF2B5EF4-FFF2-40B4-BE49-F238E27FC236}">
                <a16:creationId xmlns:a16="http://schemas.microsoft.com/office/drawing/2014/main" id="{93F0A48F-19A1-A206-A7FA-47EE9FD42F4E}"/>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33</a:t>
            </a:fld>
            <a:endParaRPr lang="en-US"/>
          </a:p>
        </p:txBody>
      </p:sp>
      <p:cxnSp>
        <p:nvCxnSpPr>
          <p:cNvPr id="17" name="Straight Arrow Connector 16">
            <a:extLst>
              <a:ext uri="{FF2B5EF4-FFF2-40B4-BE49-F238E27FC236}">
                <a16:creationId xmlns:a16="http://schemas.microsoft.com/office/drawing/2014/main" id="{6D2C401A-4381-B414-1B92-055AC52619AA}"/>
              </a:ext>
            </a:extLst>
          </p:cNvPr>
          <p:cNvCxnSpPr>
            <a:cxnSpLocks/>
          </p:cNvCxnSpPr>
          <p:nvPr/>
        </p:nvCxnSpPr>
        <p:spPr>
          <a:xfrm>
            <a:off x="7777907" y="2692408"/>
            <a:ext cx="1587606" cy="237943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2" name="Oval 21">
            <a:extLst>
              <a:ext uri="{FF2B5EF4-FFF2-40B4-BE49-F238E27FC236}">
                <a16:creationId xmlns:a16="http://schemas.microsoft.com/office/drawing/2014/main" id="{02A0FE60-0338-11D0-B070-0E8F845D69D4}"/>
              </a:ext>
            </a:extLst>
          </p:cNvPr>
          <p:cNvSpPr/>
          <p:nvPr/>
        </p:nvSpPr>
        <p:spPr>
          <a:xfrm>
            <a:off x="8645724" y="5226877"/>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22B018CF-EBEF-A523-323B-352EBB5E0A57}"/>
              </a:ext>
            </a:extLst>
          </p:cNvPr>
          <p:cNvPicPr>
            <a:picLocks noChangeAspect="1"/>
          </p:cNvPicPr>
          <p:nvPr/>
        </p:nvPicPr>
        <p:blipFill>
          <a:blip r:embed="rId4"/>
          <a:stretch>
            <a:fillRect/>
          </a:stretch>
        </p:blipFill>
        <p:spPr>
          <a:xfrm>
            <a:off x="290071" y="1455989"/>
            <a:ext cx="11107700" cy="1105054"/>
          </a:xfrm>
          <a:prstGeom prst="rect">
            <a:avLst/>
          </a:prstGeom>
        </p:spPr>
      </p:pic>
      <p:pic>
        <p:nvPicPr>
          <p:cNvPr id="7" name="Picture 6">
            <a:extLst>
              <a:ext uri="{FF2B5EF4-FFF2-40B4-BE49-F238E27FC236}">
                <a16:creationId xmlns:a16="http://schemas.microsoft.com/office/drawing/2014/main" id="{EAB49E55-19B1-81FF-CE5A-DD385830C706}"/>
              </a:ext>
            </a:extLst>
          </p:cNvPr>
          <p:cNvPicPr>
            <a:picLocks noChangeAspect="1"/>
          </p:cNvPicPr>
          <p:nvPr/>
        </p:nvPicPr>
        <p:blipFill>
          <a:blip r:embed="rId5"/>
          <a:stretch>
            <a:fillRect/>
          </a:stretch>
        </p:blipFill>
        <p:spPr>
          <a:xfrm>
            <a:off x="290071" y="2868575"/>
            <a:ext cx="6982799" cy="714475"/>
          </a:xfrm>
          <a:prstGeom prst="rect">
            <a:avLst/>
          </a:prstGeom>
        </p:spPr>
      </p:pic>
    </p:spTree>
    <p:extLst>
      <p:ext uri="{BB962C8B-B14F-4D97-AF65-F5344CB8AC3E}">
        <p14:creationId xmlns:p14="http://schemas.microsoft.com/office/powerpoint/2010/main" val="1303577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0472C-32B5-0B3A-BA33-AFA1F565ECF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42F89E9-5672-F1F2-C4D4-93CDC249D3DD}"/>
              </a:ext>
            </a:extLst>
          </p:cNvPr>
          <p:cNvPicPr>
            <a:picLocks noChangeAspect="1"/>
          </p:cNvPicPr>
          <p:nvPr/>
        </p:nvPicPr>
        <p:blipFill>
          <a:blip r:embed="rId3"/>
          <a:stretch>
            <a:fillRect/>
          </a:stretch>
        </p:blipFill>
        <p:spPr>
          <a:xfrm>
            <a:off x="3373059" y="4522168"/>
            <a:ext cx="6525536" cy="1876687"/>
          </a:xfrm>
          <a:prstGeom prst="rect">
            <a:avLst/>
          </a:prstGeom>
        </p:spPr>
      </p:pic>
      <p:sp>
        <p:nvSpPr>
          <p:cNvPr id="3" name="Title 2">
            <a:extLst>
              <a:ext uri="{FF2B5EF4-FFF2-40B4-BE49-F238E27FC236}">
                <a16:creationId xmlns:a16="http://schemas.microsoft.com/office/drawing/2014/main" id="{58B5E224-E722-B2FE-C623-665A474EDCA4}"/>
              </a:ext>
            </a:extLst>
          </p:cNvPr>
          <p:cNvSpPr>
            <a:spLocks noGrp="1"/>
          </p:cNvSpPr>
          <p:nvPr>
            <p:ph type="ctrTitle"/>
          </p:nvPr>
        </p:nvSpPr>
        <p:spPr/>
        <p:txBody>
          <a:bodyPr/>
          <a:lstStyle/>
          <a:p>
            <a:r>
              <a:rPr lang="en-GB" dirty="0"/>
              <a:t>Part B — Conversation history and /new</a:t>
            </a:r>
          </a:p>
        </p:txBody>
      </p:sp>
      <p:sp>
        <p:nvSpPr>
          <p:cNvPr id="8" name="Slide Number Placeholder 7">
            <a:extLst>
              <a:ext uri="{FF2B5EF4-FFF2-40B4-BE49-F238E27FC236}">
                <a16:creationId xmlns:a16="http://schemas.microsoft.com/office/drawing/2014/main" id="{6FD94E07-7092-18E3-870E-A78C9F6D90D4}"/>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34</a:t>
            </a:fld>
            <a:endParaRPr lang="en-US"/>
          </a:p>
        </p:txBody>
      </p:sp>
      <p:sp>
        <p:nvSpPr>
          <p:cNvPr id="22" name="Oval 21">
            <a:extLst>
              <a:ext uri="{FF2B5EF4-FFF2-40B4-BE49-F238E27FC236}">
                <a16:creationId xmlns:a16="http://schemas.microsoft.com/office/drawing/2014/main" id="{CE8A5D1C-D86F-B70F-14EC-A993B52A9E85}"/>
              </a:ext>
            </a:extLst>
          </p:cNvPr>
          <p:cNvSpPr/>
          <p:nvPr/>
        </p:nvSpPr>
        <p:spPr>
          <a:xfrm>
            <a:off x="8056771" y="5332875"/>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B9EA9272-BC77-3F11-7DA4-07DCB8594986}"/>
              </a:ext>
            </a:extLst>
          </p:cNvPr>
          <p:cNvSpPr txBox="1"/>
          <p:nvPr/>
        </p:nvSpPr>
        <p:spPr>
          <a:xfrm>
            <a:off x="443921" y="1471795"/>
            <a:ext cx="6097836" cy="923330"/>
          </a:xfrm>
          <a:prstGeom prst="rect">
            <a:avLst/>
          </a:prstGeom>
          <a:noFill/>
        </p:spPr>
        <p:txBody>
          <a:bodyPr wrap="square">
            <a:spAutoFit/>
          </a:bodyPr>
          <a:lstStyle/>
          <a:p>
            <a:pPr>
              <a:buNone/>
            </a:pPr>
            <a:r>
              <a:rPr lang="en-GB" dirty="0"/>
              <a:t>Start a new conversation with only the second task:</a:t>
            </a:r>
          </a:p>
          <a:p>
            <a:pPr>
              <a:buNone/>
            </a:pPr>
            <a:endParaRPr lang="en-GB" dirty="0"/>
          </a:p>
          <a:p>
            <a:pPr>
              <a:buNone/>
            </a:pPr>
            <a:r>
              <a:rPr lang="en-GB" dirty="0"/>
              <a:t>/new</a:t>
            </a:r>
          </a:p>
        </p:txBody>
      </p:sp>
      <p:pic>
        <p:nvPicPr>
          <p:cNvPr id="9" name="Picture 8">
            <a:extLst>
              <a:ext uri="{FF2B5EF4-FFF2-40B4-BE49-F238E27FC236}">
                <a16:creationId xmlns:a16="http://schemas.microsoft.com/office/drawing/2014/main" id="{5CAE4E9B-A3A2-8B31-90C9-CC416F29D5E5}"/>
              </a:ext>
            </a:extLst>
          </p:cNvPr>
          <p:cNvPicPr>
            <a:picLocks noChangeAspect="1"/>
          </p:cNvPicPr>
          <p:nvPr/>
        </p:nvPicPr>
        <p:blipFill>
          <a:blip r:embed="rId4"/>
          <a:stretch>
            <a:fillRect/>
          </a:stretch>
        </p:blipFill>
        <p:spPr>
          <a:xfrm>
            <a:off x="379693" y="2364211"/>
            <a:ext cx="8068801" cy="1857634"/>
          </a:xfrm>
          <a:prstGeom prst="rect">
            <a:avLst/>
          </a:prstGeom>
        </p:spPr>
      </p:pic>
      <p:cxnSp>
        <p:nvCxnSpPr>
          <p:cNvPr id="17" name="Straight Arrow Connector 16">
            <a:extLst>
              <a:ext uri="{FF2B5EF4-FFF2-40B4-BE49-F238E27FC236}">
                <a16:creationId xmlns:a16="http://schemas.microsoft.com/office/drawing/2014/main" id="{714EB303-AAE6-A74C-4A7D-892657EFE643}"/>
              </a:ext>
            </a:extLst>
          </p:cNvPr>
          <p:cNvCxnSpPr>
            <a:cxnSpLocks/>
          </p:cNvCxnSpPr>
          <p:nvPr/>
        </p:nvCxnSpPr>
        <p:spPr>
          <a:xfrm>
            <a:off x="7403922" y="3457202"/>
            <a:ext cx="405973" cy="103467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TextBox 14">
            <a:extLst>
              <a:ext uri="{FF2B5EF4-FFF2-40B4-BE49-F238E27FC236}">
                <a16:creationId xmlns:a16="http://schemas.microsoft.com/office/drawing/2014/main" id="{43099086-7AE3-351B-D340-16807635FC6A}"/>
              </a:ext>
            </a:extLst>
          </p:cNvPr>
          <p:cNvSpPr txBox="1"/>
          <p:nvPr/>
        </p:nvSpPr>
        <p:spPr>
          <a:xfrm>
            <a:off x="433713" y="5162433"/>
            <a:ext cx="6097836" cy="646331"/>
          </a:xfrm>
          <a:prstGeom prst="rect">
            <a:avLst/>
          </a:prstGeom>
          <a:noFill/>
        </p:spPr>
        <p:txBody>
          <a:bodyPr wrap="square">
            <a:spAutoFit/>
          </a:bodyPr>
          <a:lstStyle/>
          <a:p>
            <a:pPr>
              <a:buNone/>
            </a:pPr>
            <a:r>
              <a:rPr lang="en-GB" dirty="0"/>
              <a:t>New problem, new chat. Same problem but a long useful thread, compact it.</a:t>
            </a:r>
          </a:p>
        </p:txBody>
      </p:sp>
    </p:spTree>
    <p:extLst>
      <p:ext uri="{BB962C8B-B14F-4D97-AF65-F5344CB8AC3E}">
        <p14:creationId xmlns:p14="http://schemas.microsoft.com/office/powerpoint/2010/main" val="144229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C2B5-D419-ADF5-4246-2A7C72F583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084B5C-7A6A-EAAC-CF1F-8D38A801856B}"/>
              </a:ext>
            </a:extLst>
          </p:cNvPr>
          <p:cNvSpPr>
            <a:spLocks noGrp="1"/>
          </p:cNvSpPr>
          <p:nvPr>
            <p:ph type="ctrTitle"/>
          </p:nvPr>
        </p:nvSpPr>
        <p:spPr/>
        <p:txBody>
          <a:bodyPr/>
          <a:lstStyle/>
          <a:p>
            <a:r>
              <a:rPr lang="en-GB" dirty="0"/>
              <a:t>Part B — Conversation history and /new</a:t>
            </a:r>
          </a:p>
        </p:txBody>
      </p:sp>
      <p:sp>
        <p:nvSpPr>
          <p:cNvPr id="8" name="Slide Number Placeholder 7">
            <a:extLst>
              <a:ext uri="{FF2B5EF4-FFF2-40B4-BE49-F238E27FC236}">
                <a16:creationId xmlns:a16="http://schemas.microsoft.com/office/drawing/2014/main" id="{D1CD11D0-00A3-7D1A-3BA3-7ED7E3B6567D}"/>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35</a:t>
            </a:fld>
            <a:endParaRPr lang="en-US"/>
          </a:p>
        </p:txBody>
      </p:sp>
      <p:sp>
        <p:nvSpPr>
          <p:cNvPr id="15" name="TextBox 14">
            <a:extLst>
              <a:ext uri="{FF2B5EF4-FFF2-40B4-BE49-F238E27FC236}">
                <a16:creationId xmlns:a16="http://schemas.microsoft.com/office/drawing/2014/main" id="{D6C20A1C-D99A-C5DF-A36F-F9C2FBB3E337}"/>
              </a:ext>
            </a:extLst>
          </p:cNvPr>
          <p:cNvSpPr txBox="1"/>
          <p:nvPr/>
        </p:nvSpPr>
        <p:spPr>
          <a:xfrm>
            <a:off x="537991" y="1689501"/>
            <a:ext cx="8033132" cy="369332"/>
          </a:xfrm>
          <a:prstGeom prst="rect">
            <a:avLst/>
          </a:prstGeom>
          <a:noFill/>
        </p:spPr>
        <p:txBody>
          <a:bodyPr wrap="square">
            <a:spAutoFit/>
          </a:bodyPr>
          <a:lstStyle/>
          <a:p>
            <a:pPr>
              <a:buNone/>
            </a:pPr>
            <a:r>
              <a:rPr lang="en-GB" dirty="0"/>
              <a:t>New problem, new chat. Same problem but a long useful thread, compact it.</a:t>
            </a:r>
          </a:p>
        </p:txBody>
      </p:sp>
      <p:pic>
        <p:nvPicPr>
          <p:cNvPr id="11" name="Picture 10">
            <a:extLst>
              <a:ext uri="{FF2B5EF4-FFF2-40B4-BE49-F238E27FC236}">
                <a16:creationId xmlns:a16="http://schemas.microsoft.com/office/drawing/2014/main" id="{797053C9-1775-4679-57B1-65F082C1D544}"/>
              </a:ext>
            </a:extLst>
          </p:cNvPr>
          <p:cNvPicPr>
            <a:picLocks noChangeAspect="1"/>
          </p:cNvPicPr>
          <p:nvPr/>
        </p:nvPicPr>
        <p:blipFill>
          <a:blip r:embed="rId3"/>
          <a:stretch>
            <a:fillRect/>
          </a:stretch>
        </p:blipFill>
        <p:spPr>
          <a:xfrm>
            <a:off x="622064" y="2389155"/>
            <a:ext cx="10621857" cy="1333686"/>
          </a:xfrm>
          <a:prstGeom prst="rect">
            <a:avLst/>
          </a:prstGeom>
        </p:spPr>
      </p:pic>
      <p:pic>
        <p:nvPicPr>
          <p:cNvPr id="14" name="Picture 13">
            <a:extLst>
              <a:ext uri="{FF2B5EF4-FFF2-40B4-BE49-F238E27FC236}">
                <a16:creationId xmlns:a16="http://schemas.microsoft.com/office/drawing/2014/main" id="{909B5A03-FDC0-13D3-776D-A59AB3FAB465}"/>
              </a:ext>
            </a:extLst>
          </p:cNvPr>
          <p:cNvPicPr>
            <a:picLocks noChangeAspect="1"/>
          </p:cNvPicPr>
          <p:nvPr/>
        </p:nvPicPr>
        <p:blipFill>
          <a:blip r:embed="rId4"/>
          <a:stretch>
            <a:fillRect/>
          </a:stretch>
        </p:blipFill>
        <p:spPr>
          <a:xfrm>
            <a:off x="2844023" y="4247652"/>
            <a:ext cx="7297168" cy="1381318"/>
          </a:xfrm>
          <a:prstGeom prst="rect">
            <a:avLst/>
          </a:prstGeom>
        </p:spPr>
      </p:pic>
    </p:spTree>
    <p:extLst>
      <p:ext uri="{BB962C8B-B14F-4D97-AF65-F5344CB8AC3E}">
        <p14:creationId xmlns:p14="http://schemas.microsoft.com/office/powerpoint/2010/main" val="2955534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6EC0F-474E-65C0-92AC-C8EB073839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CC5774-B6CB-EE93-1774-00B42198E496}"/>
              </a:ext>
            </a:extLst>
          </p:cNvPr>
          <p:cNvSpPr>
            <a:spLocks noGrp="1"/>
          </p:cNvSpPr>
          <p:nvPr>
            <p:ph type="ctrTitle"/>
          </p:nvPr>
        </p:nvSpPr>
        <p:spPr/>
        <p:txBody>
          <a:bodyPr/>
          <a:lstStyle/>
          <a:p>
            <a:r>
              <a:rPr lang="en-GB" dirty="0"/>
              <a:t>Part C — /ask versus a normal turn</a:t>
            </a:r>
          </a:p>
        </p:txBody>
      </p:sp>
      <p:sp>
        <p:nvSpPr>
          <p:cNvPr id="8" name="Slide Number Placeholder 7">
            <a:extLst>
              <a:ext uri="{FF2B5EF4-FFF2-40B4-BE49-F238E27FC236}">
                <a16:creationId xmlns:a16="http://schemas.microsoft.com/office/drawing/2014/main" id="{83869AE3-20FF-2584-635D-1A550CD0DDBF}"/>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36</a:t>
            </a:fld>
            <a:endParaRPr lang="en-US"/>
          </a:p>
        </p:txBody>
      </p:sp>
      <p:sp>
        <p:nvSpPr>
          <p:cNvPr id="15" name="TextBox 14">
            <a:extLst>
              <a:ext uri="{FF2B5EF4-FFF2-40B4-BE49-F238E27FC236}">
                <a16:creationId xmlns:a16="http://schemas.microsoft.com/office/drawing/2014/main" id="{7A329454-5E3E-F8B4-6DF0-DA99B883F89D}"/>
              </a:ext>
            </a:extLst>
          </p:cNvPr>
          <p:cNvSpPr txBox="1"/>
          <p:nvPr/>
        </p:nvSpPr>
        <p:spPr>
          <a:xfrm>
            <a:off x="537991" y="1689501"/>
            <a:ext cx="8033132" cy="923330"/>
          </a:xfrm>
          <a:prstGeom prst="rect">
            <a:avLst/>
          </a:prstGeom>
          <a:noFill/>
        </p:spPr>
        <p:txBody>
          <a:bodyPr wrap="square">
            <a:spAutoFit/>
          </a:bodyPr>
          <a:lstStyle/>
          <a:p>
            <a:pPr>
              <a:buNone/>
            </a:pPr>
            <a:r>
              <a:rPr lang="en-GB" dirty="0"/>
              <a:t>/context</a:t>
            </a:r>
          </a:p>
          <a:p>
            <a:pPr>
              <a:buNone/>
            </a:pPr>
            <a:r>
              <a:rPr lang="en-GB" dirty="0"/>
              <a:t>Record messages</a:t>
            </a:r>
          </a:p>
          <a:p>
            <a:pPr>
              <a:buNone/>
            </a:pPr>
            <a:endParaRPr lang="en-GB" dirty="0"/>
          </a:p>
        </p:txBody>
      </p:sp>
      <p:pic>
        <p:nvPicPr>
          <p:cNvPr id="4" name="Picture 3">
            <a:extLst>
              <a:ext uri="{FF2B5EF4-FFF2-40B4-BE49-F238E27FC236}">
                <a16:creationId xmlns:a16="http://schemas.microsoft.com/office/drawing/2014/main" id="{32A7F409-ECCD-3F1E-F66B-F9CDED482F39}"/>
              </a:ext>
            </a:extLst>
          </p:cNvPr>
          <p:cNvPicPr>
            <a:picLocks noChangeAspect="1"/>
          </p:cNvPicPr>
          <p:nvPr/>
        </p:nvPicPr>
        <p:blipFill>
          <a:blip r:embed="rId3"/>
          <a:stretch>
            <a:fillRect/>
          </a:stretch>
        </p:blipFill>
        <p:spPr>
          <a:xfrm>
            <a:off x="3195007" y="1359179"/>
            <a:ext cx="6573167" cy="1895740"/>
          </a:xfrm>
          <a:prstGeom prst="rect">
            <a:avLst/>
          </a:prstGeom>
        </p:spPr>
      </p:pic>
      <p:sp>
        <p:nvSpPr>
          <p:cNvPr id="6" name="Oval 5">
            <a:extLst>
              <a:ext uri="{FF2B5EF4-FFF2-40B4-BE49-F238E27FC236}">
                <a16:creationId xmlns:a16="http://schemas.microsoft.com/office/drawing/2014/main" id="{5EA89663-B7AF-BC83-410E-7D5B36052320}"/>
              </a:ext>
            </a:extLst>
          </p:cNvPr>
          <p:cNvSpPr/>
          <p:nvPr/>
        </p:nvSpPr>
        <p:spPr>
          <a:xfrm>
            <a:off x="7743312" y="2218164"/>
            <a:ext cx="1841824" cy="5441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C140582D-6FAC-181A-1A31-CF3BFF56AB5E}"/>
              </a:ext>
            </a:extLst>
          </p:cNvPr>
          <p:cNvSpPr txBox="1"/>
          <p:nvPr/>
        </p:nvSpPr>
        <p:spPr>
          <a:xfrm>
            <a:off x="443921" y="3790738"/>
            <a:ext cx="6097836" cy="646331"/>
          </a:xfrm>
          <a:prstGeom prst="rect">
            <a:avLst/>
          </a:prstGeom>
          <a:noFill/>
        </p:spPr>
        <p:txBody>
          <a:bodyPr wrap="square">
            <a:spAutoFit/>
          </a:bodyPr>
          <a:lstStyle/>
          <a:p>
            <a:pPr>
              <a:buNone/>
            </a:pPr>
            <a:r>
              <a:rPr lang="en-GB" dirty="0">
                <a:latin typeface="+mn-lt"/>
              </a:rPr>
              <a:t> /ask In </a:t>
            </a:r>
            <a:r>
              <a:rPr lang="en-GB" dirty="0" err="1">
                <a:latin typeface="+mn-lt"/>
              </a:rPr>
              <a:t>src</a:t>
            </a:r>
            <a:r>
              <a:rPr lang="en-GB" dirty="0">
                <a:latin typeface="+mn-lt"/>
              </a:rPr>
              <a:t>/pricing.js, what is TAX_RATE? Number only.</a:t>
            </a:r>
            <a:endParaRPr lang="en-GB" dirty="0">
              <a:latin typeface="Courier New" panose="02070309020205020404" pitchFamily="49" charset="0"/>
            </a:endParaRPr>
          </a:p>
        </p:txBody>
      </p:sp>
      <p:pic>
        <p:nvPicPr>
          <p:cNvPr id="12" name="Picture 11">
            <a:extLst>
              <a:ext uri="{FF2B5EF4-FFF2-40B4-BE49-F238E27FC236}">
                <a16:creationId xmlns:a16="http://schemas.microsoft.com/office/drawing/2014/main" id="{2DE0D039-A96B-165F-4872-DB576C52E106}"/>
              </a:ext>
            </a:extLst>
          </p:cNvPr>
          <p:cNvPicPr>
            <a:picLocks noChangeAspect="1"/>
          </p:cNvPicPr>
          <p:nvPr/>
        </p:nvPicPr>
        <p:blipFill>
          <a:blip r:embed="rId4"/>
          <a:stretch>
            <a:fillRect/>
          </a:stretch>
        </p:blipFill>
        <p:spPr>
          <a:xfrm>
            <a:off x="6337638" y="3585241"/>
            <a:ext cx="3025613" cy="1483497"/>
          </a:xfrm>
          <a:prstGeom prst="rect">
            <a:avLst/>
          </a:prstGeom>
        </p:spPr>
      </p:pic>
      <p:pic>
        <p:nvPicPr>
          <p:cNvPr id="13" name="Picture 12">
            <a:extLst>
              <a:ext uri="{FF2B5EF4-FFF2-40B4-BE49-F238E27FC236}">
                <a16:creationId xmlns:a16="http://schemas.microsoft.com/office/drawing/2014/main" id="{6B1C9725-910D-D7CE-199D-E415671849A9}"/>
              </a:ext>
            </a:extLst>
          </p:cNvPr>
          <p:cNvPicPr>
            <a:picLocks noChangeAspect="1"/>
          </p:cNvPicPr>
          <p:nvPr/>
        </p:nvPicPr>
        <p:blipFill>
          <a:blip r:embed="rId3"/>
          <a:stretch>
            <a:fillRect/>
          </a:stretch>
        </p:blipFill>
        <p:spPr>
          <a:xfrm>
            <a:off x="1269298" y="4815074"/>
            <a:ext cx="4684218" cy="1350956"/>
          </a:xfrm>
          <a:prstGeom prst="rect">
            <a:avLst/>
          </a:prstGeom>
        </p:spPr>
      </p:pic>
      <p:sp>
        <p:nvSpPr>
          <p:cNvPr id="16" name="Oval 15">
            <a:extLst>
              <a:ext uri="{FF2B5EF4-FFF2-40B4-BE49-F238E27FC236}">
                <a16:creationId xmlns:a16="http://schemas.microsoft.com/office/drawing/2014/main" id="{0B4D12F1-10F5-950D-B7E5-EFA4FA52FEAF}"/>
              </a:ext>
            </a:extLst>
          </p:cNvPr>
          <p:cNvSpPr/>
          <p:nvPr/>
        </p:nvSpPr>
        <p:spPr>
          <a:xfrm>
            <a:off x="4687506" y="5457112"/>
            <a:ext cx="975164" cy="315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CB7E62B-0663-73C1-21C4-BB6CA22F96D7}"/>
              </a:ext>
            </a:extLst>
          </p:cNvPr>
          <p:cNvSpPr txBox="1"/>
          <p:nvPr/>
        </p:nvSpPr>
        <p:spPr>
          <a:xfrm>
            <a:off x="6096000" y="5363312"/>
            <a:ext cx="6097836" cy="369332"/>
          </a:xfrm>
          <a:prstGeom prst="rect">
            <a:avLst/>
          </a:prstGeom>
          <a:noFill/>
        </p:spPr>
        <p:txBody>
          <a:bodyPr wrap="square">
            <a:spAutoFit/>
          </a:bodyPr>
          <a:lstStyle/>
          <a:p>
            <a:pPr>
              <a:buNone/>
            </a:pPr>
            <a:r>
              <a:rPr lang="en-GB" dirty="0">
                <a:latin typeface="+mn-lt"/>
              </a:rPr>
              <a:t>No new messages</a:t>
            </a:r>
            <a:endParaRPr lang="en-GB" dirty="0">
              <a:latin typeface="Courier New" panose="02070309020205020404" pitchFamily="49" charset="0"/>
            </a:endParaRPr>
          </a:p>
        </p:txBody>
      </p:sp>
    </p:spTree>
    <p:extLst>
      <p:ext uri="{BB962C8B-B14F-4D97-AF65-F5344CB8AC3E}">
        <p14:creationId xmlns:p14="http://schemas.microsoft.com/office/powerpoint/2010/main" val="2104188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3F482-9A13-3F29-07A7-5A3D696C27E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CC4AB449-16A7-0D7D-32A4-C367CB5676E6}"/>
              </a:ext>
            </a:extLst>
          </p:cNvPr>
          <p:cNvPicPr>
            <a:picLocks noChangeAspect="1"/>
          </p:cNvPicPr>
          <p:nvPr/>
        </p:nvPicPr>
        <p:blipFill>
          <a:blip r:embed="rId3"/>
          <a:stretch>
            <a:fillRect/>
          </a:stretch>
        </p:blipFill>
        <p:spPr>
          <a:xfrm>
            <a:off x="5175088" y="3519812"/>
            <a:ext cx="6487430" cy="1876687"/>
          </a:xfrm>
          <a:prstGeom prst="rect">
            <a:avLst/>
          </a:prstGeom>
        </p:spPr>
      </p:pic>
      <p:sp>
        <p:nvSpPr>
          <p:cNvPr id="3" name="Title 2">
            <a:extLst>
              <a:ext uri="{FF2B5EF4-FFF2-40B4-BE49-F238E27FC236}">
                <a16:creationId xmlns:a16="http://schemas.microsoft.com/office/drawing/2014/main" id="{ED768DD8-8A5B-1BBB-6CBB-D09A520CD059}"/>
              </a:ext>
            </a:extLst>
          </p:cNvPr>
          <p:cNvSpPr>
            <a:spLocks noGrp="1"/>
          </p:cNvSpPr>
          <p:nvPr>
            <p:ph type="ctrTitle"/>
          </p:nvPr>
        </p:nvSpPr>
        <p:spPr/>
        <p:txBody>
          <a:bodyPr/>
          <a:lstStyle/>
          <a:p>
            <a:r>
              <a:rPr lang="en-GB" dirty="0"/>
              <a:t>Part C — /ask versus a normal turn</a:t>
            </a:r>
          </a:p>
        </p:txBody>
      </p:sp>
      <p:sp>
        <p:nvSpPr>
          <p:cNvPr id="8" name="Slide Number Placeholder 7">
            <a:extLst>
              <a:ext uri="{FF2B5EF4-FFF2-40B4-BE49-F238E27FC236}">
                <a16:creationId xmlns:a16="http://schemas.microsoft.com/office/drawing/2014/main" id="{E00CE1C9-F44D-E454-BDA0-37157238AA6E}"/>
              </a:ext>
            </a:extLst>
          </p:cNvPr>
          <p:cNvSpPr>
            <a:spLocks noGrp="1"/>
          </p:cNvSpPr>
          <p:nvPr>
            <p:ph type="sldNum" sz="quarter" idx="12"/>
          </p:nvPr>
        </p:nvSpPr>
        <p:spPr>
          <a:xfrm>
            <a:off x="9365513" y="6398855"/>
            <a:ext cx="2743200" cy="365125"/>
          </a:xfrm>
        </p:spPr>
        <p:txBody>
          <a:bodyPr/>
          <a:lstStyle/>
          <a:p>
            <a:fld id="{D89E7AD8-2718-4F48-98DA-E79521DD42D0}" type="slidenum">
              <a:rPr lang="en-US" smtClean="0"/>
              <a:pPr/>
              <a:t>37</a:t>
            </a:fld>
            <a:endParaRPr lang="en-US"/>
          </a:p>
        </p:txBody>
      </p:sp>
      <p:sp>
        <p:nvSpPr>
          <p:cNvPr id="16" name="Oval 15">
            <a:extLst>
              <a:ext uri="{FF2B5EF4-FFF2-40B4-BE49-F238E27FC236}">
                <a16:creationId xmlns:a16="http://schemas.microsoft.com/office/drawing/2014/main" id="{C242CC2B-D379-9208-7498-5ED7D0DF6BC2}"/>
              </a:ext>
            </a:extLst>
          </p:cNvPr>
          <p:cNvSpPr/>
          <p:nvPr/>
        </p:nvSpPr>
        <p:spPr>
          <a:xfrm>
            <a:off x="10125538" y="4458155"/>
            <a:ext cx="975164" cy="3157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A3452A95-E105-7301-9DCD-DC37B6AAE61A}"/>
              </a:ext>
            </a:extLst>
          </p:cNvPr>
          <p:cNvSpPr txBox="1"/>
          <p:nvPr/>
        </p:nvSpPr>
        <p:spPr>
          <a:xfrm>
            <a:off x="625207" y="1753514"/>
            <a:ext cx="6097836" cy="646331"/>
          </a:xfrm>
          <a:prstGeom prst="rect">
            <a:avLst/>
          </a:prstGeom>
          <a:noFill/>
        </p:spPr>
        <p:txBody>
          <a:bodyPr wrap="square">
            <a:spAutoFit/>
          </a:bodyPr>
          <a:lstStyle/>
          <a:p>
            <a:pPr>
              <a:buNone/>
            </a:pPr>
            <a:r>
              <a:rPr lang="en-GB" dirty="0">
                <a:latin typeface="+mn-lt"/>
              </a:rPr>
              <a:t>In </a:t>
            </a:r>
            <a:r>
              <a:rPr lang="en-GB" dirty="0" err="1">
                <a:latin typeface="+mn-lt"/>
              </a:rPr>
              <a:t>src</a:t>
            </a:r>
            <a:r>
              <a:rPr lang="en-GB" dirty="0">
                <a:latin typeface="+mn-lt"/>
              </a:rPr>
              <a:t>/pricing.js, what is TAX_RATE? Number only.</a:t>
            </a:r>
            <a:endParaRPr lang="en-GB" dirty="0">
              <a:latin typeface="Courier New" panose="02070309020205020404" pitchFamily="49" charset="0"/>
            </a:endParaRPr>
          </a:p>
        </p:txBody>
      </p:sp>
      <p:pic>
        <p:nvPicPr>
          <p:cNvPr id="10" name="Picture 9">
            <a:extLst>
              <a:ext uri="{FF2B5EF4-FFF2-40B4-BE49-F238E27FC236}">
                <a16:creationId xmlns:a16="http://schemas.microsoft.com/office/drawing/2014/main" id="{96A6419C-C0A4-F684-4667-754073C4E42B}"/>
              </a:ext>
            </a:extLst>
          </p:cNvPr>
          <p:cNvPicPr>
            <a:picLocks noChangeAspect="1"/>
          </p:cNvPicPr>
          <p:nvPr/>
        </p:nvPicPr>
        <p:blipFill>
          <a:blip r:embed="rId4"/>
          <a:stretch>
            <a:fillRect/>
          </a:stretch>
        </p:blipFill>
        <p:spPr>
          <a:xfrm>
            <a:off x="625207" y="2313792"/>
            <a:ext cx="5887272" cy="838317"/>
          </a:xfrm>
          <a:prstGeom prst="rect">
            <a:avLst/>
          </a:prstGeom>
        </p:spPr>
      </p:pic>
      <p:sp>
        <p:nvSpPr>
          <p:cNvPr id="19" name="TextBox 18">
            <a:extLst>
              <a:ext uri="{FF2B5EF4-FFF2-40B4-BE49-F238E27FC236}">
                <a16:creationId xmlns:a16="http://schemas.microsoft.com/office/drawing/2014/main" id="{292F3D14-6A68-4885-3BAE-0EB577BF63F9}"/>
              </a:ext>
            </a:extLst>
          </p:cNvPr>
          <p:cNvSpPr txBox="1"/>
          <p:nvPr/>
        </p:nvSpPr>
        <p:spPr>
          <a:xfrm>
            <a:off x="1209101" y="5563651"/>
            <a:ext cx="9807765" cy="646331"/>
          </a:xfrm>
          <a:prstGeom prst="rect">
            <a:avLst/>
          </a:prstGeom>
          <a:noFill/>
        </p:spPr>
        <p:txBody>
          <a:bodyPr wrap="square">
            <a:spAutoFit/>
          </a:bodyPr>
          <a:lstStyle/>
          <a:p>
            <a:pPr>
              <a:buNone/>
            </a:pPr>
            <a:r>
              <a:rPr lang="en-GB" dirty="0"/>
              <a:t>The </a:t>
            </a:r>
            <a:r>
              <a:rPr lang="en-GB" dirty="0">
                <a:latin typeface="+mn-lt"/>
              </a:rPr>
              <a:t>/ask</a:t>
            </a:r>
            <a:r>
              <a:rPr lang="en-GB" dirty="0"/>
              <a:t> exchange is </a:t>
            </a:r>
            <a:r>
              <a:rPr lang="en-GB" b="1" dirty="0"/>
              <a:t>ephemeral</a:t>
            </a:r>
            <a:r>
              <a:rPr lang="en-GB" dirty="0"/>
              <a:t>. It doesn't pollute the working context.</a:t>
            </a:r>
          </a:p>
          <a:p>
            <a:pPr>
              <a:buNone/>
            </a:pPr>
            <a:r>
              <a:rPr lang="en-GB" dirty="0"/>
              <a:t>That's particularly useful for the token-optimisation material you're developing.</a:t>
            </a:r>
          </a:p>
        </p:txBody>
      </p:sp>
    </p:spTree>
    <p:extLst>
      <p:ext uri="{BB962C8B-B14F-4D97-AF65-F5344CB8AC3E}">
        <p14:creationId xmlns:p14="http://schemas.microsoft.com/office/powerpoint/2010/main" val="1219957524"/>
      </p:ext>
    </p:extLst>
  </p:cSld>
  <p:clrMapOvr>
    <a:masterClrMapping/>
  </p:clrMapOvr>
</p:sld>
</file>

<file path=ppt/theme/theme1.xml><?xml version="1.0" encoding="utf-8"?>
<a:theme xmlns:a="http://schemas.openxmlformats.org/drawingml/2006/main" name="Intro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ivider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Activity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Content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8C59B65C-4A6F-42BC-851A-A18C1CD547F7}"/>
    </a:ext>
  </a:extLst>
</a:theme>
</file>

<file path=ppt/theme/theme5.xml><?xml version="1.0" encoding="utf-8"?>
<a:theme xmlns:a="http://schemas.openxmlformats.org/drawingml/2006/main" name="Conclusion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bcbb172-ff2b-4212-adfc-93a0ca49496e" xsi:nil="true"/>
    <lcf76f155ced4ddcb4097134ff3c332f xmlns="e0bcfdc3-1749-4abb-94b9-b1cf96b3515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CE44CF2268164FA56963FB794714EC" ma:contentTypeVersion="9" ma:contentTypeDescription="Create a new document." ma:contentTypeScope="" ma:versionID="8db2f2761ced40a44a97a82c1d2ea2a6">
  <xsd:schema xmlns:xsd="http://www.w3.org/2001/XMLSchema" xmlns:xs="http://www.w3.org/2001/XMLSchema" xmlns:p="http://schemas.microsoft.com/office/2006/metadata/properties" xmlns:ns2="e0bcfdc3-1749-4abb-94b9-b1cf96b35151" xmlns:ns3="5bcbb172-ff2b-4212-adfc-93a0ca49496e" targetNamespace="http://schemas.microsoft.com/office/2006/metadata/properties" ma:root="true" ma:fieldsID="39f49508533834fc87ab7d013fdd36c1" ns2:_="" ns3:_="">
    <xsd:import namespace="e0bcfdc3-1749-4abb-94b9-b1cf96b35151"/>
    <xsd:import namespace="5bcbb172-ff2b-4212-adfc-93a0ca4949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bcfdc3-1749-4abb-94b9-b1cf96b351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cbb172-ff2b-4212-adfc-93a0ca49496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179c8a-9f35-4e30-afee-7d4f9a125a21}" ma:internalName="TaxCatchAll" ma:showField="CatchAllData" ma:web="5bcbb172-ff2b-4212-adfc-93a0ca4949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10C5C8-5A12-4F2D-9AD0-5DED85F9AA48}">
  <ds:schemaRefs>
    <ds:schemaRef ds:uri="http://schemas.microsoft.com/sharepoint/v3/contenttype/forms"/>
  </ds:schemaRefs>
</ds:datastoreItem>
</file>

<file path=customXml/itemProps2.xml><?xml version="1.0" encoding="utf-8"?>
<ds:datastoreItem xmlns:ds="http://schemas.openxmlformats.org/officeDocument/2006/customXml" ds:itemID="{66DD0EDA-F37E-4D5A-8AB3-5E15CAE76CDC}">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http://purl.org/dc/elements/1.1/"/>
    <ds:schemaRef ds:uri="http://www.w3.org/XML/1998/namespace"/>
    <ds:schemaRef ds:uri="5bcbb172-ff2b-4212-adfc-93a0ca49496e"/>
    <ds:schemaRef ds:uri="http://schemas.openxmlformats.org/package/2006/metadata/core-properties"/>
    <ds:schemaRef ds:uri="e0bcfdc3-1749-4abb-94b9-b1cf96b35151"/>
    <ds:schemaRef ds:uri="http://purl.org/dc/terms/"/>
  </ds:schemaRefs>
</ds:datastoreItem>
</file>

<file path=customXml/itemProps3.xml><?xml version="1.0" encoding="utf-8"?>
<ds:datastoreItem xmlns:ds="http://schemas.openxmlformats.org/officeDocument/2006/customXml" ds:itemID="{582FEF7E-7BFF-40AD-9237-7EA34F90E0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bcfdc3-1749-4abb-94b9-b1cf96b35151"/>
    <ds:schemaRef ds:uri="5bcbb172-ff2b-4212-adfc-93a0ca4949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c220797-c337-49f8-b086-a9a24979f728}" enabled="0" method="" siteId="{9c220797-c337-49f8-b086-a9a24979f728}" removed="1"/>
</clbl:labelList>
</file>

<file path=docProps/app.xml><?xml version="1.0" encoding="utf-8"?>
<Properties xmlns="http://schemas.openxmlformats.org/officeDocument/2006/extended-properties" xmlns:vt="http://schemas.openxmlformats.org/officeDocument/2006/docPropsVTypes">
  <TotalTime>241</TotalTime>
  <Words>2484</Words>
  <Application>Microsoft Office PowerPoint</Application>
  <PresentationFormat>Widescreen</PresentationFormat>
  <Paragraphs>287</Paragraphs>
  <Slides>37</Slides>
  <Notes>24</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37</vt:i4>
      </vt:variant>
    </vt:vector>
  </HeadingPairs>
  <TitlesOfParts>
    <vt:vector size="47" baseType="lpstr">
      <vt:lpstr>Aptos</vt:lpstr>
      <vt:lpstr>Arial</vt:lpstr>
      <vt:lpstr>Courier New</vt:lpstr>
      <vt:lpstr>Figtree</vt:lpstr>
      <vt:lpstr>Figtree SemiBold</vt:lpstr>
      <vt:lpstr>Intro Slides</vt:lpstr>
      <vt:lpstr>Divider Slides</vt:lpstr>
      <vt:lpstr>Activity Slides</vt:lpstr>
      <vt:lpstr>Content Slides</vt:lpstr>
      <vt:lpstr>Conclusion Slides</vt:lpstr>
      <vt:lpstr>PowerPoint Presentation</vt:lpstr>
      <vt:lpstr>PowerPoint Presentation</vt:lpstr>
      <vt:lpstr>PowerPoint Presentation</vt:lpstr>
      <vt:lpstr>The Problem</vt:lpstr>
      <vt:lpstr>Copilot can consume more than the task requires</vt:lpstr>
      <vt:lpstr>Six decisions influence the spend</vt:lpstr>
      <vt:lpstr>Why use Copilot CLI</vt:lpstr>
      <vt:lpstr>How we’ll use Copilot CLI</vt:lpstr>
      <vt:lpstr>Commands we will explore</vt:lpstr>
      <vt:lpstr>PowerPoint Presentation</vt:lpstr>
      <vt:lpstr>Always on Context</vt:lpstr>
      <vt:lpstr>Not an ‘official’ term</vt:lpstr>
      <vt:lpstr>Not an ‘official’ term</vt:lpstr>
      <vt:lpstr>PowerPoint Presentation</vt:lpstr>
      <vt:lpstr>PowerPoint Presentation</vt:lpstr>
      <vt:lpstr>PowerPoint Presentation</vt:lpstr>
      <vt:lpstr>PowerPoint Presentation</vt:lpstr>
      <vt:lpstr>PowerPoint Presentation</vt:lpstr>
      <vt:lpstr>Appendix – Demo Recaps</vt:lpstr>
      <vt:lpstr>Demo recap</vt:lpstr>
      <vt:lpstr>Demo recap</vt:lpstr>
      <vt:lpstr>Demo recap</vt:lpstr>
      <vt:lpstr>Demo recap</vt:lpstr>
      <vt:lpstr>Demo recap</vt:lpstr>
      <vt:lpstr>Constrained outputs</vt:lpstr>
      <vt:lpstr>Same task. Different output cost.</vt:lpstr>
      <vt:lpstr>Same task. Different output cost.</vt:lpstr>
      <vt:lpstr>Same task. Different output cost.</vt:lpstr>
      <vt:lpstr>Appendix – Demo Recaps</vt:lpstr>
      <vt:lpstr>Part A — Swap the instructions without sending a prompt</vt:lpstr>
      <vt:lpstr>Part A — Swap the instructions without sending a prompt</vt:lpstr>
      <vt:lpstr>Part B — Conversation history and /new</vt:lpstr>
      <vt:lpstr>Part B — Conversation history and /new</vt:lpstr>
      <vt:lpstr>Part B — Conversation history and /new</vt:lpstr>
      <vt:lpstr>Part B — Conversation history and /new</vt:lpstr>
      <vt:lpstr>Part C — /ask versus a normal turn</vt:lpstr>
      <vt:lpstr>Part C — /ask versus a normal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Godfrey, Chris</dc:creator>
  <cp:lastModifiedBy>Smith, Andy</cp:lastModifiedBy>
  <cp:revision>7</cp:revision>
  <dcterms:created xsi:type="dcterms:W3CDTF">2026-06-29T10:27:24Z</dcterms:created>
  <dcterms:modified xsi:type="dcterms:W3CDTF">2026-10-06T08:54:34Z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0x01010064CE44CF2268164FA56963FB794714EC</vt:lpwstr>
  </property>
</Properties>
</file>